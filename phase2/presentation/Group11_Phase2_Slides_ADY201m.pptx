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D8E70CB-6C22-48F3-857E-4DB29880E99C}">
  <a:tblStyle styleId="{9D8E70CB-6C22-48F3-857E-4DB29880E99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 name="Shape 18"/>
        <p:cNvGrpSpPr/>
        <p:nvPr/>
      </p:nvGrpSpPr>
      <p:grpSpPr>
        <a:xfrm>
          <a:off x="0" y="0"/>
          <a:ext cx="0" cy="0"/>
          <a:chOff x="0" y="0"/>
          <a:chExt cx="0" cy="0"/>
        </a:xfrm>
      </p:grpSpPr>
      <p:sp>
        <p:nvSpPr>
          <p:cNvPr id="19" name="Google Shape;19;p1:notes"/>
          <p:cNvSpPr txBox="1"/>
          <p:nvPr>
            <p:ph idx="1" type="body"/>
          </p:nvPr>
        </p:nvSpPr>
        <p:spPr>
          <a:xfrm>
            <a:off x="514350" y="4343400"/>
            <a:ext cx="41148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Kính chào thầy/cô.</a:t>
            </a:r>
            <a:br>
              <a:rPr lang="vi-VN">
                <a:solidFill>
                  <a:schemeClr val="dk1"/>
                </a:solidFill>
              </a:rPr>
            </a:br>
            <a:r>
              <a:rPr lang="vi-VN">
                <a:solidFill>
                  <a:schemeClr val="dk1"/>
                </a:solidFill>
              </a:rPr>
              <a:t>Em là Nguyễn Vũ Minh Ánh, mã số sinh viên SE203412.</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Hôm nay em xin trình bày project về dự đoán </a:t>
            </a:r>
            <a:r>
              <a:rPr b="1" lang="vi-VN">
                <a:solidFill>
                  <a:schemeClr val="dk1"/>
                </a:solidFill>
              </a:rPr>
              <a:t>Customer Lifetime Value</a:t>
            </a:r>
            <a:r>
              <a:rPr lang="vi-VN">
                <a:solidFill>
                  <a:schemeClr val="dk1"/>
                </a:solidFill>
              </a:rPr>
              <a:t>, có thể hiểu đơn giản là: trong tương lai, mỗi khách hàng có thể mang lại bao nhiêu giá trị cho doanh nghiệp.</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Nhưng điểm chính của bài này không phải chỉ là dự đoán một con số doanh thu. Vấn đề thực tế hơn là: nếu một cửa hàng online chỉ có ngân sách giới hạn để chăm sóc khách hàng, thì họ nên ưu tiên khách hàng nào trước?</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Vì vậy, project của em tập trung vào việc </a:t>
            </a:r>
            <a:r>
              <a:rPr b="1" lang="vi-VN">
                <a:solidFill>
                  <a:schemeClr val="dk1"/>
                </a:solidFill>
              </a:rPr>
              <a:t>xếp hạng khách hàng để chọn nhóm VIP</a:t>
            </a:r>
            <a:r>
              <a:rPr lang="vi-VN">
                <a:solidFill>
                  <a:schemeClr val="dk1"/>
                </a:solidFill>
              </a:rPr>
              <a:t>, đồng thời làm cho kết quả dễ giải thích và đáng tin cậy hơn.</a:t>
            </a:r>
            <a:endParaRPr>
              <a:solidFill>
                <a:schemeClr val="dk1"/>
              </a:solidFill>
            </a:endParaRPr>
          </a:p>
          <a:p>
            <a:pPr indent="0" lvl="0" marL="0" rtl="0" algn="l">
              <a:spcBef>
                <a:spcPts val="1200"/>
              </a:spcBef>
              <a:spcAft>
                <a:spcPts val="0"/>
              </a:spcAft>
              <a:buNone/>
            </a:pPr>
            <a:r>
              <a:t/>
            </a:r>
            <a:endParaRPr>
              <a:solidFill>
                <a:schemeClr val="dk1"/>
              </a:solidFill>
            </a:endParaRPr>
          </a:p>
        </p:txBody>
      </p:sp>
      <p:sp>
        <p:nvSpPr>
          <p:cNvPr id="20" name="Google Shape;20;p1:notes"/>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 name="Google Shape;29;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vi-VN" sz="1100">
                <a:solidFill>
                  <a:schemeClr val="dk1"/>
                </a:solidFill>
              </a:rPr>
              <a:t>Bài thuyết trình của em gồm 3 phần.</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sz="1100">
                <a:solidFill>
                  <a:schemeClr val="dk1"/>
                </a:solidFill>
              </a:rPr>
              <a:t>Phần đầu tiên là </a:t>
            </a:r>
            <a:r>
              <a:rPr b="1" lang="vi-VN" sz="1100">
                <a:solidFill>
                  <a:schemeClr val="dk1"/>
                </a:solidFill>
              </a:rPr>
              <a:t>hiểu bài toán và dữ liệu</a:t>
            </a:r>
            <a:r>
              <a:rPr lang="vi-VN" sz="1100">
                <a:solidFill>
                  <a:schemeClr val="dk1"/>
                </a:solidFill>
              </a:rPr>
              <a:t>. Em sẽ giải thích tại sao dự đoán CLV lại quan trọng, dữ liệu có đặc điểm gì, và SQL được dùng để phân tích dữ liệu như thế nào.</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sz="1100">
                <a:solidFill>
                  <a:schemeClr val="dk1"/>
                </a:solidFill>
              </a:rPr>
              <a:t>Phần thứ hai là </a:t>
            </a:r>
            <a:r>
              <a:rPr b="1" lang="vi-VN" sz="1100">
                <a:solidFill>
                  <a:schemeClr val="dk1"/>
                </a:solidFill>
              </a:rPr>
              <a:t>phân tích bằng Python và trực quan hóa</a:t>
            </a:r>
            <a:r>
              <a:rPr lang="vi-VN" sz="1100">
                <a:solidFill>
                  <a:schemeClr val="dk1"/>
                </a:solidFill>
              </a:rPr>
              <a:t>. Ở phần này, em trình bày cách tạo đặc trưng khách hàng, chia dữ liệu theo thời gian, so sánh các mô hình và rút ra insight kinh doanh.</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sz="1100">
                <a:solidFill>
                  <a:schemeClr val="dk1"/>
                </a:solidFill>
              </a:rPr>
              <a:t>Phần cuối cùng là </a:t>
            </a:r>
            <a:r>
              <a:rPr b="1" lang="vi-VN" sz="1100">
                <a:solidFill>
                  <a:schemeClr val="dk1"/>
                </a:solidFill>
              </a:rPr>
              <a:t>mô hình, dashboard và AI reflection</a:t>
            </a:r>
            <a:r>
              <a:rPr lang="vi-VN" sz="1100">
                <a:solidFill>
                  <a:schemeClr val="dk1"/>
                </a:solidFill>
              </a:rPr>
              <a:t>. Em sẽ nói về kết quả mô hình, dashboard demo, AI Audit Log, Human Delta và cách em phát hiện lỗi từ AI.</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endParaRPr>
          </a:p>
          <a:p>
            <a:pPr indent="0" lvl="0" marL="0" marR="0" rtl="0" algn="l">
              <a:spcBef>
                <a:spcPts val="0"/>
              </a:spcBef>
              <a:spcAft>
                <a:spcPts val="0"/>
              </a:spcAft>
              <a:buNone/>
            </a:pPr>
            <a:r>
              <a:t/>
            </a:r>
            <a:endParaRPr sz="1100">
              <a:solidFill>
                <a:schemeClr val="dk1"/>
              </a:solidFill>
            </a:endParaRPr>
          </a:p>
        </p:txBody>
      </p:sp>
      <p:sp>
        <p:nvSpPr>
          <p:cNvPr id="30" name="Google Shape;30;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vi-VN" sz="1800" u="none" cap="none" strike="noStrike">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 name="Google Shape;37;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Vấn đề chính của project là: một doanh nghiệp online không thể chăm sóc tất cả khách hàng như nhau.</a:t>
            </a:r>
          </a:p>
          <a:p>
            <a:r>
              <a:t>Ví dụ, nếu công ty có ngân sách để gửi ưu đãi cho 10% khách hàng, thì câu hỏi là: 10% đó nên là ai? Nếu chọn sai, ngân sách sẽ bị lãng phí vào những khách hàng không quay lại mua hoặc không tạo nhiều doanh thu.</a:t>
            </a:r>
          </a:p>
          <a:p>
            <a:r>
              <a:t>Vì vậy, mục tiêu của em là dự đoán giá trị tương lai của từng khách hàng, sau đó xếp hạng họ để tìm ra nhóm VIP.</a:t>
            </a:r>
          </a:p>
          <a:p>
            <a:r>
              <a:t>Dữ liệu CLV có một đặc điểm khó: rất nhiều khách hàng tương lai không mua gì, nhưng một nhóm nhỏ lại chi rất nhiều. Vì thế em dùng mô hình hai bước: bước một hỏi “khách hàng có quay lại không?”, bước hai hỏi “nếu quay lại thì họ có thể chi bao nhiêu?”. Cách này tự nhiên hơn so với ép một mô hình dự đoán tất cả trong một bước.</a:t>
            </a:r>
          </a:p>
          <a:p/>
          <a:p>
            <a:r>
              <a:t>Speaker note: Project logic: RFM describes past behaviour → CLV predicts future value → VIP targeting supports marketing action.</a:t>
            </a:r>
          </a:p>
        </p:txBody>
      </p:sp>
      <p:sp>
        <p:nvSpPr>
          <p:cNvPr id="38" name="Google Shape;38;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vi-V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 name="Google Shape;44;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vi-VN" sz="1100">
                <a:solidFill>
                  <a:schemeClr val="dk1"/>
                </a:solidFill>
              </a:rPr>
              <a:t>Project của em có 4 câu hỏi nghiên cứu.</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sz="1100">
                <a:solidFill>
                  <a:schemeClr val="dk1"/>
                </a:solidFill>
              </a:rPr>
              <a:t>Câu hỏi đầu tiên là câu hỏi kinh doanh nhất: </a:t>
            </a:r>
            <a:r>
              <a:rPr b="1" lang="vi-VN" sz="1100">
                <a:solidFill>
                  <a:schemeClr val="dk1"/>
                </a:solidFill>
              </a:rPr>
              <a:t>top 10% khách hàng nào tạo ra nhiều doanh thu tương lai nhất?</a:t>
            </a:r>
            <a:endParaRPr b="1"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sz="1100">
                <a:solidFill>
                  <a:schemeClr val="dk1"/>
                </a:solidFill>
              </a:rPr>
              <a:t>Câu hỏi thứ hai là về mô hình: mô hình hai bước của em có thể đạt kết quả xếp hạng tốt, đồng thời vẫn dễ giải thích hơn các mô hình phức tạp hay không?</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sz="1100">
                <a:solidFill>
                  <a:schemeClr val="dk1"/>
                </a:solidFill>
              </a:rPr>
              <a:t>Câu hỏi thứ ba là về hiểu khách hàng: ngoài RFM truyền thống, tức là mua gần đây không, mua thường xuyên không và chi bao nhiêu, liệu việc xem khách hàng mua loại sản phẩm gì có giúp hiểu họ sâu hơn không?</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sz="1100">
                <a:solidFill>
                  <a:schemeClr val="dk1"/>
                </a:solidFill>
              </a:rPr>
              <a:t>Câu hỏi cuối cùng là về rủi ro: khi dự đoán CLV, có thể tạo ra khoảng tin cậy để biết dự đoán nào chắc hơn, dự đoán nào rủi ro hơn không?</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endParaRPr>
          </a:p>
          <a:p>
            <a:pPr indent="0" lvl="0" marL="0" marR="0" rtl="0" algn="l">
              <a:spcBef>
                <a:spcPts val="0"/>
              </a:spcBef>
              <a:spcAft>
                <a:spcPts val="0"/>
              </a:spcAft>
              <a:buNone/>
            </a:pPr>
            <a:r>
              <a:t/>
            </a:r>
            <a:endParaRPr b="1" sz="1100">
              <a:solidFill>
                <a:schemeClr val="dk1"/>
              </a:solidFill>
            </a:endParaRPr>
          </a:p>
        </p:txBody>
      </p:sp>
      <p:sp>
        <p:nvSpPr>
          <p:cNvPr id="45" name="Google Shape;45;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vi-V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 name="Google Shape;52;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vi-VN" sz="1100">
                <a:solidFill>
                  <a:schemeClr val="dk1"/>
                </a:solidFill>
              </a:rPr>
              <a:t>Dữ liệu em dùng là </a:t>
            </a:r>
            <a:r>
              <a:rPr b="1" lang="vi-VN" sz="1100">
                <a:solidFill>
                  <a:schemeClr val="dk1"/>
                </a:solidFill>
              </a:rPr>
              <a:t>Online Retail II</a:t>
            </a:r>
            <a:r>
              <a:rPr lang="vi-VN" sz="1100">
                <a:solidFill>
                  <a:schemeClr val="dk1"/>
                </a:solidFill>
              </a:rPr>
              <a:t>, một bộ dữ liệu giao dịch của một nhà bán lẻ online tại Anh.</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sz="1100">
                <a:solidFill>
                  <a:schemeClr val="dk1"/>
                </a:solidFill>
              </a:rPr>
              <a:t>Sau khi làm sạch, dữ liệu còn hơn </a:t>
            </a:r>
            <a:r>
              <a:rPr b="1" lang="vi-VN" sz="1100">
                <a:solidFill>
                  <a:schemeClr val="dk1"/>
                </a:solidFill>
              </a:rPr>
              <a:t>805 nghìn giao dịch</a:t>
            </a:r>
            <a:r>
              <a:rPr lang="vi-VN" sz="1100">
                <a:solidFill>
                  <a:schemeClr val="dk1"/>
                </a:solidFill>
              </a:rPr>
              <a:t>, hơn </a:t>
            </a:r>
            <a:r>
              <a:rPr b="1" lang="vi-VN" sz="1100">
                <a:solidFill>
                  <a:schemeClr val="dk1"/>
                </a:solidFill>
              </a:rPr>
              <a:t>5 nghìn khách hàng</a:t>
            </a:r>
            <a:r>
              <a:rPr lang="vi-VN" sz="1100">
                <a:solidFill>
                  <a:schemeClr val="dk1"/>
                </a:solidFill>
              </a:rPr>
              <a:t>, từ </a:t>
            </a:r>
            <a:r>
              <a:rPr b="1" lang="vi-VN" sz="1100">
                <a:solidFill>
                  <a:schemeClr val="dk1"/>
                </a:solidFill>
              </a:rPr>
              <a:t>41 quốc gia</a:t>
            </a:r>
            <a:r>
              <a:rPr lang="vi-VN" sz="1100">
                <a:solidFill>
                  <a:schemeClr val="dk1"/>
                </a:solidFill>
              </a:rPr>
              <a:t>, với tổng doanh thu khoảng </a:t>
            </a:r>
            <a:r>
              <a:rPr b="1" lang="vi-VN" sz="1100">
                <a:solidFill>
                  <a:schemeClr val="dk1"/>
                </a:solidFill>
              </a:rPr>
              <a:t>17.7 triệu đô</a:t>
            </a:r>
            <a:r>
              <a:rPr lang="vi-VN" sz="1100">
                <a:solidFill>
                  <a:schemeClr val="dk1"/>
                </a:solidFill>
              </a:rPr>
              <a:t>.</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sz="1100">
                <a:solidFill>
                  <a:schemeClr val="dk1"/>
                </a:solidFill>
              </a:rPr>
              <a:t>Mục tiêu dự đoán là </a:t>
            </a:r>
            <a:r>
              <a:rPr b="1" lang="vi-VN" sz="1100">
                <a:solidFill>
                  <a:schemeClr val="dk1"/>
                </a:solidFill>
              </a:rPr>
              <a:t>ActualCLV</a:t>
            </a:r>
            <a:r>
              <a:rPr lang="vi-VN" sz="1100">
                <a:solidFill>
                  <a:schemeClr val="dk1"/>
                </a:solidFill>
              </a:rPr>
              <a:t>, tức là doanh thu thật của khách hàng trong giai đoạn tương lai.</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sz="1100">
                <a:solidFill>
                  <a:schemeClr val="dk1"/>
                </a:solidFill>
              </a:rPr>
              <a:t>Các thông tin đầu vào gồm RFM, giá trị đơn hàng trung bình, số tháng khách hàng hoạt động, số loại sản phẩm đã mua, thông tin quốc gia, chuỗi hành vi theo tháng và nhóm sản phẩm khách hàng thường mua.</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sz="1100">
                <a:solidFill>
                  <a:schemeClr val="dk1"/>
                </a:solidFill>
              </a:rPr>
              <a:t>Phần làm sạch dữ liệu rất quan trọng. Em loại các dòng thiếu CustomerID, hóa đơn hủy, refund, quantity hoặc price không hợp lệ. Nếu không làm sạch kỹ, mô hình sẽ học từ dữ liệu sai và kết quả CLV sẽ bị lệch.</a:t>
            </a:r>
            <a:endParaRPr sz="1100">
              <a:solidFill>
                <a:schemeClr val="dk1"/>
              </a:solidFill>
            </a:endParaRPr>
          </a:p>
          <a:p>
            <a:pPr indent="0" lvl="0" marL="0" marR="0" rtl="0" algn="l">
              <a:spcBef>
                <a:spcPts val="1200"/>
              </a:spcBef>
              <a:spcAft>
                <a:spcPts val="0"/>
              </a:spcAft>
              <a:buNone/>
            </a:pPr>
            <a:r>
              <a:t/>
            </a:r>
            <a:endParaRPr sz="1100">
              <a:solidFill>
                <a:schemeClr val="dk1"/>
              </a:solidFill>
            </a:endParaRPr>
          </a:p>
        </p:txBody>
      </p:sp>
      <p:sp>
        <p:nvSpPr>
          <p:cNvPr id="53" name="Google Shape;53;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vi-V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e8e00d7cb4_0_3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 name="Google Shape;60;g3e8e00d7cb4_0_3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Ở slide này, em kiểm tra dữ liệu bằng các biểu đồ EDA.</a:t>
            </a:r>
          </a:p>
          <a:p>
            <a:r>
              <a:t>Biểu đồ đầu tiên cho thấy doanh thu và số lượng khách hoạt động thay đổi theo thời gian. Điều này nghĩa là dữ liệu có yếu tố thời gian rất rõ, khách hàng mua theo từng giai đoạn chứ không ngẫu nhiên hoàn toàn. Vì vậy, nếu mình chia train-test ngẫu nhiên thì có thể làm rò rỉ thông tin tương lai vào quá khứ. Do đó nhóm dùng temporal split: dữ liệu quá khứ để tạo feature, dữ liệu tương lai để tạo label CLV.” </a:t>
            </a:r>
          </a:p>
          <a:p>
            <a:r>
              <a:t>Biểu đồ thứ hai cho thấy doanh thu tập trung chủ yếu ở UK. Điều này hợp lý vì dataset đến từ một nhà bán lẻ tại Anh. Điểm này quan trọng vì mô hình có thể bị ảnh hưởng bởi thị trường chính là UK, nên nhóm thêm biến như IsUK hoặc kiểm tra theo quốc gia để mô hình không hiểu sai hành vi khách hàng ở các nước khác </a:t>
            </a:r>
          </a:p>
          <a:p>
            <a:r>
              <a:t>Biểu đồ cuối cùng là quan trọng nhất cho phần modeling. Phân phối CLV có rất nhiều giá trị bằng 0, nghĩa là nhiều khách hàng không mua lại trong giai đoạn dự đoán. Đồng thời, phân phối có đuôi phải dài, tức là một số ít khách hàng VIP tạo ra doanh thu rất lớn. Đây là lý do nhóm không chỉ dùng mô hình hồi quy thông thường, mà chọn Hurdle model để tách bài toán thành hai phần: khách có mua lại không, và nếu mua thì họ chi bao nhiêu </a:t>
            </a:r>
          </a:p>
          <a:p/>
          <a:p>
            <a:r>
              <a:t>Speaker note: Key data gap: many customers generate zero future spend, while a small VIP group creates very high revenue.</a:t>
            </a:r>
          </a:p>
        </p:txBody>
      </p:sp>
      <p:sp>
        <p:nvSpPr>
          <p:cNvPr id="61" name="Google Shape;61;g3e8e00d7cb4_0_3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vi-V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 name="Google Shape;73;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vi-VN" sz="1200">
                <a:solidFill>
                  <a:schemeClr val="dk1"/>
                </a:solidFill>
              </a:rPr>
              <a:t>SQL trong project này không chỉ để “cho đủ yêu cầu môn học”, mà được dùng để tạo các bảng phân tích thực sự.</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sz="1200">
                <a:solidFill>
                  <a:schemeClr val="dk1"/>
                </a:solidFill>
              </a:rPr>
              <a:t>Em dùng</a:t>
            </a:r>
            <a:r>
              <a:rPr b="1" lang="vi-VN" sz="1200">
                <a:solidFill>
                  <a:schemeClr val="dk1"/>
                </a:solidFill>
              </a:rPr>
              <a:t> </a:t>
            </a:r>
            <a:r>
              <a:rPr b="1" lang="vi-VN" sz="1200">
                <a:solidFill>
                  <a:schemeClr val="dk1"/>
                </a:solidFill>
                <a:highlight>
                  <a:srgbClr val="FFFF00"/>
                </a:highlight>
              </a:rPr>
              <a:t>DuckDB(là cái g</a:t>
            </a:r>
            <a:r>
              <a:rPr b="1" lang="vi-VN" sz="1200">
                <a:solidFill>
                  <a:schemeClr val="dk1"/>
                </a:solidFill>
              </a:rPr>
              <a:t>ì) </a:t>
            </a:r>
            <a:r>
              <a:rPr lang="vi-VN" sz="1200">
                <a:solidFill>
                  <a:schemeClr val="dk1"/>
                </a:solidFill>
              </a:rPr>
              <a:t>vì nó nhẹ, chạy trực tiếp trên file dữ liệu và dễ kết nối với Python.</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sz="1200">
                <a:solidFill>
                  <a:schemeClr val="dk1"/>
                </a:solidFill>
              </a:rPr>
              <a:t>SQL được dùng để làm sạch và kiểm tra dữ liệu, tính RFM cho từng khách hàng, tạo nhóm khách hàng như Champion, Loyal, At-Risk, Lost, New, tính cohort retention, tìm top khách hàng theo doanh thu, phân tích doanh thu theo quốc gia và tìm nhóm khách có nguy cơ rời bỏ.</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sz="1200">
                <a:solidFill>
                  <a:schemeClr val="dk1"/>
                </a:solidFill>
              </a:rPr>
              <a:t>Nói đơn giản, SQL giúp em trả lời các câu hỏi kinh doanh cơ bản trước: khách hàng nào mua nhiều, nhóm nào có rủi ro, doanh thu tập trung ở đâu. Sau đó Python mới dùng các bảng này để đi vào mô hình.</a:t>
            </a:r>
            <a:endParaRPr sz="1200">
              <a:solidFill>
                <a:schemeClr val="dk1"/>
              </a:solidFill>
            </a:endParaRPr>
          </a:p>
          <a:p>
            <a:pPr indent="0" lvl="0" marL="0" marR="0" rtl="0" algn="l">
              <a:spcBef>
                <a:spcPts val="1200"/>
              </a:spcBef>
              <a:spcAft>
                <a:spcPts val="0"/>
              </a:spcAft>
              <a:buNone/>
            </a:pPr>
            <a:r>
              <a:t/>
            </a:r>
            <a:endParaRPr sz="1200">
              <a:solidFill>
                <a:schemeClr val="dk1"/>
              </a:solidFill>
            </a:endParaRPr>
          </a:p>
        </p:txBody>
      </p:sp>
      <p:sp>
        <p:nvSpPr>
          <p:cNvPr id="74" name="Google Shape;74;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vi-V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8:notes"/>
          <p:cNvSpPr txBox="1"/>
          <p:nvPr>
            <p:ph idx="1" type="body"/>
          </p:nvPr>
        </p:nvSpPr>
        <p:spPr>
          <a:xfrm>
            <a:off x="514350" y="4343400"/>
            <a:ext cx="41148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Slide này minh họa 3 câu SQL tiêu biểu.</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Query đầu tiên dùng để tính RFM cho từng khách hàng. RFM gồm ba thông tin: khách mua gần đây không, mua thường xuyên không, và đã chi bao nhiêu tiền. Ba thông tin này giúp nhóm hiểu giá trị và hành vi của từng khách hàng. Trong bài toán CLV, RFM rất quan trọng vì nó là bộ đặc trưng cơ bản để mô hình dự đoán khách hàng nào có khả năng tiếp tục mua và tạo doanh thu trong tương lai. Ví dụ, một khách vừa mua gần đây, mua nhiều lần và chi tiêu cao thường có khả năng thuộc nhóm khách hàng giá trị cao hơn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Query thứ hai là cohort retention, dùng để xem nhóm khách hàng bắt đầu mua ở cùng một thời điểm thì sau đó có quay lại mua ở các tháng tiếp theo không. Nói đơn giản, nó giúp nhóm nhìn được hành vi giữ chân khách hàng theo thời gian. Query này quan trọng vì bài toán CLV là dự đoán giá trị tương lai, nên mình phải hiểu khách hàng có mua lại hay không và mua lại sau bao lâu. Nó cũng giúp nhóm xác nhận rằng dữ liệu có yếu tố thời gian rõ ràng, nên khi train-test phải chia theo thời gian. Tức là chỉ dùng dữ liệu quá khứ để dự đoán tương lai, không được dùng thông tin tương lai để dự đoán quá khứ.</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Query thứ ba là top-VIP by monetary. Query này xếp hạng khách hàng theo tổng doanh thu họ đã tạo ra, rồi tính xem nhóm khách hàng top đầu chiếm bao nhiêu phần trăm tổng doanh thu. Query này giúp bài toán CLV ở chỗ nó tạo ra một benchmark kinh doanh rất dễ hiểu. Nếu một nhóm nhỏ khách hàng tạo ra phần lớn doanh thu, thì mục tiêu của mô hình không chỉ là dự đoán chính xác từng khách hàng, mà là xếp hạng đúng nhóm khách hàng giá trị cao. Đây cũng là lý do nhóm dùng các chỉ số như Revenue Capture@10%, tức là xem top 10% khách hàng do mô hình chọn có bắt được nhiều doanh thu thật hay không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solidFill>
                <a:schemeClr val="dk1"/>
              </a:solidFill>
            </a:endParaRPr>
          </a:p>
        </p:txBody>
      </p:sp>
      <p:sp>
        <p:nvSpPr>
          <p:cNvPr id="81" name="Google Shape;81;p8:notes"/>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 name="Google Shape;88;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Sau khi có dữ liệu sạch và các bảng SQL, em dùng Python để xây toàn bộ pipeline phân tích.</a:t>
            </a:r>
          </a:p>
          <a:p>
            <a:r>
              <a:t>Pipeline gồm 5 bước. Đầu tiên là làm sạch và kiểm tra dữ liệu. Sau đó là tạo đặc trưng cho từng khách hàng, như RFM, hành vi theo tháng và sở thích sản phẩm.</a:t>
            </a:r>
          </a:p>
          <a:p>
            <a:r>
              <a:t>Tiếp theo là xây dựng các cửa sổ dự báo theo thời gian. Nghĩa là mô hình chỉ được nhìn dữ liệu quá khứ, rồi dự đoán doanh thu tương lai.</a:t>
            </a:r>
          </a:p>
          <a:p>
            <a:r>
              <a:t>Sau đó em chạy nhiều mô hình khác nhau, tổng cộng 17 cấu hình. Cuối cùng là đánh giá mô hình bằng các metric xếp hạng, tạo khoảng tin cậy và dùng SHAP để giải thích.</a:t>
            </a:r>
          </a:p>
          <a:p>
            <a:r>
              <a:t>Điểm quan trọng là pipeline này có thể chạy lại được, không phải làm thủ công từng bước.</a:t>
            </a:r>
          </a:p>
          <a:p/>
          <a:p>
            <a:r>
              <a:t>Speaker note: W1–W5 = multiple time windows using past transactions to predict future CLV. W3 = main 18-month history → 6-month CLV window.</a:t>
            </a:r>
          </a:p>
        </p:txBody>
      </p:sp>
      <p:sp>
        <p:nvSpPr>
          <p:cNvPr id="89" name="Google Shape;89;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vi-V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5" name="Google Shape;105;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Ở phần Python, em không chỉ chạy một mô hình duy nhất mà xây toàn bộ quy trình từ dữ liệu đến kết quả.</a:t>
            </a:r>
          </a:p>
          <a:p>
            <a:r>
              <a:t>Các feature được tạo gồm thông tin mua hàng truyền thống như RFM, thông tin hành vi như số tháng hoạt động, giá trị đơn hàng trung bình, độ đa dạng sản phẩm, và các đặc trưng theo chuỗi thời gian.</a:t>
            </a:r>
          </a:p>
          <a:p>
            <a:r>
              <a:t>Phân tích chính là mô hình CLV hai bước. Bước một dự đoán khả năng khách hàng có quay lại mua không. Bước hai dự đoán nếu quay lại thì khách hàng có thể chi bao nhiêu.</a:t>
            </a:r>
          </a:p>
          <a:p>
            <a:r>
              <a:t>Kết quả cho thấy mô hình của em nằm trong nhóm mô hình xếp hạng tốt nhất. Tuy nhiên, thông điệp quan trọng không phải là “mô hình thắng áp đảo”, mà là mô hình cho kết quả tốt, dễ giải thích hơn và phù hợp hơn với bài toán chọn khách hàng VIP.</a:t>
            </a:r>
          </a:p>
          <a:p/>
          <a:p>
            <a:r>
              <a:t>Speaker note: NG and RC@10% are prioritised because the business goal is VIP ranking, not only average dollar error.</a:t>
            </a:r>
          </a:p>
        </p:txBody>
      </p:sp>
      <p:sp>
        <p:nvSpPr>
          <p:cNvPr id="106" name="Google Shape;106;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vi-V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3" name="Google Shape;113;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vi-VN" sz="1100">
                <a:solidFill>
                  <a:schemeClr val="dk1"/>
                </a:solidFill>
              </a:rPr>
              <a:t>Slide này chuyển kết quả mô hình thành các insight dễ hiểu hơn.</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sz="1100">
                <a:solidFill>
                  <a:schemeClr val="dk1"/>
                </a:solidFill>
              </a:rPr>
              <a:t>Insight đầu tiên là mô hình Hurdle nằm trong nhóm mô hình có kết quả xếp hạng tốt nhất trong benchmark 17 mô hình.</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sz="1100">
                <a:solidFill>
                  <a:schemeClr val="dk1"/>
                </a:solidFill>
              </a:rPr>
              <a:t>Insight thứ hai là về giá trị kinh doanh. Trong mô phỏng trên Window 3, nếu chọn top 10% khách hàng theo mô hình, nhóm này capture khoảng </a:t>
            </a:r>
            <a:r>
              <a:rPr b="1" lang="vi-VN" sz="1100">
                <a:solidFill>
                  <a:schemeClr val="dk1"/>
                </a:solidFill>
              </a:rPr>
              <a:t>60.8% doanh thu tương lai</a:t>
            </a:r>
            <a:r>
              <a:rPr lang="vi-VN" sz="1100">
                <a:solidFill>
                  <a:schemeClr val="dk1"/>
                </a:solidFill>
              </a:rPr>
              <a:t>. Nếu chọn ngẫu nhiên, chỉ capture khoảng </a:t>
            </a:r>
            <a:r>
              <a:rPr b="1" lang="vi-VN" sz="1100">
                <a:solidFill>
                  <a:schemeClr val="dk1"/>
                </a:solidFill>
              </a:rPr>
              <a:t>11.8%</a:t>
            </a:r>
            <a:r>
              <a:rPr lang="vi-VN" sz="1100">
                <a:solidFill>
                  <a:schemeClr val="dk1"/>
                </a:solidFill>
              </a:rPr>
              <a:t>. Điều này cho thấy xếp hạng đúng khách hàng có ý nghĩa rất lớn.</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sz="1100">
                <a:solidFill>
                  <a:schemeClr val="dk1"/>
                </a:solidFill>
              </a:rPr>
              <a:t>Insight thứ ba là biểu đồ decile calibration. Nói đơn giản, nhóm khách hàng được mô hình dự đoán cao thì thực tế cũng tạo doanh thu cao hơn.</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sz="1100">
                <a:solidFill>
                  <a:schemeClr val="dk1"/>
                </a:solidFill>
              </a:rPr>
              <a:t>Cuối cùng, phần profit simulation cho thấy targeting theo mô hình tạo ra lợi nhuận cao hơn nhiều so với random targeting.</a:t>
            </a:r>
            <a:endParaRPr sz="1100">
              <a:solidFill>
                <a:schemeClr val="dk1"/>
              </a:solidFill>
            </a:endParaRPr>
          </a:p>
          <a:p>
            <a:pPr indent="0" lvl="0" marL="0" marR="0" rtl="0" algn="l">
              <a:spcBef>
                <a:spcPts val="1200"/>
              </a:spcBef>
              <a:spcAft>
                <a:spcPts val="0"/>
              </a:spcAft>
              <a:buNone/>
            </a:pPr>
            <a:r>
              <a:t/>
            </a:r>
            <a:endParaRPr sz="1100">
              <a:solidFill>
                <a:schemeClr val="dk1"/>
              </a:solidFill>
            </a:endParaRPr>
          </a:p>
        </p:txBody>
      </p:sp>
      <p:sp>
        <p:nvSpPr>
          <p:cNvPr id="114" name="Google Shape;114;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vi-V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e8e00d7cb4_0_5:notes"/>
          <p:cNvSpPr/>
          <p:nvPr>
            <p:ph idx="2" type="sldImg"/>
          </p:nvPr>
        </p:nvSpPr>
        <p:spPr>
          <a:xfrm>
            <a:off x="857400"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e8e00d7cb4_0_5:notes"/>
          <p:cNvSpPr txBox="1"/>
          <p:nvPr>
            <p:ph idx="1" type="body"/>
          </p:nvPr>
        </p:nvSpPr>
        <p:spPr>
          <a:xfrm>
            <a:off x="514350" y="4343400"/>
            <a:ext cx="41148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vi-VN"/>
              <a:t>Từ slide này, em đi sâu hơn vào phần mô hình.</a:t>
            </a:r>
            <a:endParaRPr/>
          </a:p>
          <a:p>
            <a:pPr indent="0" lvl="0" marL="0" rtl="0" algn="l">
              <a:lnSpc>
                <a:spcPct val="115000"/>
              </a:lnSpc>
              <a:spcBef>
                <a:spcPts val="1200"/>
              </a:spcBef>
              <a:spcAft>
                <a:spcPts val="0"/>
              </a:spcAft>
              <a:buClr>
                <a:schemeClr val="dk1"/>
              </a:buClr>
              <a:buSzPts val="1100"/>
              <a:buFont typeface="Arial"/>
              <a:buNone/>
            </a:pPr>
            <a:r>
              <a:rPr lang="vi-VN"/>
              <a:t>Lý do em dùng mô hình hai bước là vì dữ liệu CLV có hai câu hỏi khác nhau. Câu hỏi thứ nhất: khách hàng có quay lại mua không? Câu hỏi thứ hai: nếu quay lại, họ sẽ chi bao nhiêu?</a:t>
            </a:r>
            <a:endParaRPr/>
          </a:p>
          <a:p>
            <a:pPr indent="0" lvl="0" marL="0" rtl="0" algn="l">
              <a:lnSpc>
                <a:spcPct val="115000"/>
              </a:lnSpc>
              <a:spcBef>
                <a:spcPts val="1200"/>
              </a:spcBef>
              <a:spcAft>
                <a:spcPts val="0"/>
              </a:spcAft>
              <a:buClr>
                <a:schemeClr val="dk1"/>
              </a:buClr>
              <a:buSzPts val="1100"/>
              <a:buFont typeface="Arial"/>
              <a:buNone/>
            </a:pPr>
            <a:r>
              <a:rPr lang="vi-VN"/>
              <a:t>Nếu dùng một mô hình hồi quy thông thường, mô hình phải học cả hai việc cùng lúc. Điều này khó vì rất nhiều khách hàng có CLV bằng 0, trong khi một số ít khách hàng có CLV rất cao.</a:t>
            </a:r>
            <a:endParaRPr/>
          </a:p>
          <a:p>
            <a:pPr indent="0" lvl="0" marL="0" rtl="0" algn="l">
              <a:lnSpc>
                <a:spcPct val="115000"/>
              </a:lnSpc>
              <a:spcBef>
                <a:spcPts val="1200"/>
              </a:spcBef>
              <a:spcAft>
                <a:spcPts val="0"/>
              </a:spcAft>
              <a:buClr>
                <a:schemeClr val="dk1"/>
              </a:buClr>
              <a:buSzPts val="1100"/>
              <a:buFont typeface="Arial"/>
              <a:buNone/>
            </a:pPr>
            <a:r>
              <a:rPr lang="vi-VN"/>
              <a:t>Vì vậy, mô hình Hurdle tách bài toán thành hai phần: Stage 1 dự đoán xác suất quay lại, Stage 2 dự đoán mức chi tiêu nếu có quay lại. Cách này giống cách một người làm marketing suy nghĩ hơn: trước hết phải biết khách có quay lại không, rồi mới tính nên đầu tư bao nhiêu.</a:t>
            </a:r>
            <a:endParaRPr/>
          </a:p>
          <a:p>
            <a:pPr indent="0" lvl="0" marL="0" rtl="0" algn="l">
              <a:spcBef>
                <a:spcPts val="120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6:notes"/>
          <p:cNvSpPr txBox="1"/>
          <p:nvPr>
            <p:ph idx="1" type="body"/>
          </p:nvPr>
        </p:nvSpPr>
        <p:spPr>
          <a:xfrm>
            <a:off x="514350" y="4343400"/>
            <a:ext cx="41148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Yêu cầu của môn học là so sánh ít nhất 5 mô hình. Trong project này, em mở rộng lên 17 cấu hình mô hình để việc đánh giá công bằng hơn.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Các mô hình được chia thành nhiều nhóm. Có nhóm baseline đơn giản như Mean, Monetary và RFM Score. Có nhóm mô hình CLV cổ điển như BG/NBD và Gamma-Gamma. Có nhóm machine learning như Ridge, XGBoost, LightGBM. Và có nhóm deep learning như ZILN, MCD-ZILN, OptDist và dRNN.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Việc so sánh rộng như vậy giúp tránh tình huống chỉ so mô hình đề xuất với baseline yếu. Kết quả vì thế đáng tin cậy hơn.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Điều em muốn nhấn mạnh là: với bài toán này, metric xếp hạng như NG và RC@10% quan trọng hơn việc chỉ nhìn sai số trung bình, vì mục tiêu thật là chọn đúng nhóm khách hàng VIP.</a:t>
            </a:r>
            <a:endParaRPr>
              <a:solidFill>
                <a:schemeClr val="dk1"/>
              </a:solidFill>
            </a:endParaRPr>
          </a:p>
          <a:p>
            <a:pPr indent="0" lvl="0" marL="0" rtl="0" algn="l">
              <a:spcBef>
                <a:spcPts val="1200"/>
              </a:spcBef>
              <a:spcAft>
                <a:spcPts val="0"/>
              </a:spcAft>
              <a:buNone/>
            </a:pPr>
            <a:r>
              <a:t/>
            </a:r>
            <a:endParaRPr>
              <a:solidFill>
                <a:schemeClr val="dk1"/>
              </a:solidFill>
            </a:endParaRPr>
          </a:p>
        </p:txBody>
      </p:sp>
      <p:sp>
        <p:nvSpPr>
          <p:cNvPr id="131" name="Google Shape;131;p16:notes"/>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e8e00d7cb4_0_10:notes"/>
          <p:cNvSpPr/>
          <p:nvPr>
            <p:ph idx="2" type="sldImg"/>
          </p:nvPr>
        </p:nvSpPr>
        <p:spPr>
          <a:xfrm>
            <a:off x="857400"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e8e00d7cb4_0_10:notes"/>
          <p:cNvSpPr txBox="1"/>
          <p:nvPr>
            <p:ph idx="1" type="body"/>
          </p:nvPr>
        </p:nvSpPr>
        <p:spPr>
          <a:xfrm>
            <a:off x="514350" y="4343400"/>
            <a:ext cx="41148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Slide này là kết quả chính của phần mô hình.</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Mô hình Hurdle đạt kết quả rất tốt về ranking và nằm trong nhóm top mô hình. Nhưng em không trình bày theo hướng “mô hình của em thắng tuyệt đối”. Thực tế, các mô hình top đầu khá gần nhau.</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Điểm khác biệt của Hurdle nằm ở khả năng giải thích. Vì mô hình có hai stage, em có thể giải thích riêng: yếu tố nào làm khách hàng có khả năng quay lại, và yếu tố nào làm khách hàng chi nhiều nếu họ quay lại.</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Kết quả SHAP cho thấy Monetary là yếu tố quan trọng nhất. Điều này rất hợp lý: khách hàng từng chi nhiều trong quá khứ thường có khả năng tiếp tục là nhóm có giá trị cao.</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Một điểm quan trọng nữa là các metric như MAE hay R² có thể gây hiểu nhầm trong dữ liệu nhiều số 0. Với marketing, câu hỏi chính là “ai nên được ưu tiên”, nên ranking metrics phù hợp hơn.</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7:notes"/>
          <p:cNvSpPr txBox="1"/>
          <p:nvPr>
            <p:ph idx="1" type="body"/>
          </p:nvPr>
        </p:nvSpPr>
        <p:spPr>
          <a:xfrm>
            <a:off x="514350" y="4343400"/>
            <a:ext cx="41148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Sau khi có kết quả mô hình, em xây dashboard bằng Plotly Dash.</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Mục tiêu của dashboard là giúp người dùng không cần đọc toàn bộ code hay bảng metric vẫn có thể hiểu kết quả. Dashboard có các phần như VIP targeting funnel, Revenue Capture@K curve, SHAP feature drivers và calibrated CLV interval view.</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Các KPI chính gồm tổng doanh thu, số lượng khách hàng, RC@10%, Precision@Top10% và so sánh lợi nhuận giữa targeting theo mô hình với targeting ngẫu nhiên.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Điểm quan trọng là mỗi phần dashboard đều gắn với một research question. Ví dụ, VIP funnel trả lời câu hỏi chọn khách VIP, benchmark trả lời câu hỏi mô hình nào tốt, semantic cluster giúp hiểu nhóm khách hàng, và CQR interval giúp đánh giá độ rủi ro của dự đoán.</a:t>
            </a:r>
            <a:endParaRPr>
              <a:solidFill>
                <a:schemeClr val="dk1"/>
              </a:solidFill>
            </a:endParaRPr>
          </a:p>
          <a:p>
            <a:pPr indent="0" lvl="0" marL="0" rtl="0" algn="l">
              <a:spcBef>
                <a:spcPts val="1200"/>
              </a:spcBef>
              <a:spcAft>
                <a:spcPts val="0"/>
              </a:spcAft>
              <a:buNone/>
            </a:pPr>
            <a:r>
              <a:t/>
            </a:r>
            <a:endParaRPr>
              <a:solidFill>
                <a:schemeClr val="dk1"/>
              </a:solidFill>
            </a:endParaRPr>
          </a:p>
        </p:txBody>
      </p:sp>
      <p:sp>
        <p:nvSpPr>
          <p:cNvPr id="146" name="Google Shape;146;p17:notes"/>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e8e00d7cb4_0_14:notes"/>
          <p:cNvSpPr/>
          <p:nvPr>
            <p:ph idx="2" type="sldImg"/>
          </p:nvPr>
        </p:nvSpPr>
        <p:spPr>
          <a:xfrm>
            <a:off x="857400"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e8e00d7cb4_0_14:notes"/>
          <p:cNvSpPr txBox="1"/>
          <p:nvPr>
            <p:ph idx="1" type="body"/>
          </p:nvPr>
        </p:nvSpPr>
        <p:spPr>
          <a:xfrm>
            <a:off x="514350" y="4343400"/>
            <a:ext cx="41148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vi-VN"/>
              <a:t>Slide này là hình minh họa dashboard.</a:t>
            </a:r>
            <a:endParaRPr/>
          </a:p>
          <a:p>
            <a:pPr indent="0" lvl="0" marL="0" rtl="0" algn="l">
              <a:lnSpc>
                <a:spcPct val="115000"/>
              </a:lnSpc>
              <a:spcBef>
                <a:spcPts val="1200"/>
              </a:spcBef>
              <a:spcAft>
                <a:spcPts val="0"/>
              </a:spcAft>
              <a:buClr>
                <a:schemeClr val="dk1"/>
              </a:buClr>
              <a:buSzPts val="1100"/>
              <a:buFont typeface="Arial"/>
              <a:buNone/>
            </a:pPr>
            <a:r>
              <a:rPr lang="vi-VN"/>
              <a:t>Trang đầu tiên là Overview, cho biết KPI tổng quan và xu hướng hoạt động. Trang thứ hai là RFM Matrix, giúp xem từng nhóm khách hàng như Champion, Loyal hay At-Risk.</a:t>
            </a:r>
            <a:endParaRPr/>
          </a:p>
          <a:p>
            <a:pPr indent="0" lvl="0" marL="0" rtl="0" algn="l">
              <a:lnSpc>
                <a:spcPct val="115000"/>
              </a:lnSpc>
              <a:spcBef>
                <a:spcPts val="1200"/>
              </a:spcBef>
              <a:spcAft>
                <a:spcPts val="0"/>
              </a:spcAft>
              <a:buClr>
                <a:schemeClr val="dk1"/>
              </a:buClr>
              <a:buSzPts val="1100"/>
              <a:buFont typeface="Arial"/>
              <a:buNone/>
            </a:pPr>
            <a:r>
              <a:rPr lang="vi-VN"/>
              <a:t>Trang thứ ba là CLV Forecast, nơi có danh sách khách hàng VIP dự đoán và khoảng tin cậy CQR. Khoảng tin cậy này quan trọng vì hai khách hàng có cùng predicted CLV nhưng mức độ chắc chắn có thể khác nhau.</a:t>
            </a:r>
            <a:endParaRPr/>
          </a:p>
          <a:p>
            <a:pPr indent="0" lvl="0" marL="0" rtl="0" algn="l">
              <a:lnSpc>
                <a:spcPct val="115000"/>
              </a:lnSpc>
              <a:spcBef>
                <a:spcPts val="1200"/>
              </a:spcBef>
              <a:spcAft>
                <a:spcPts val="0"/>
              </a:spcAft>
              <a:buClr>
                <a:schemeClr val="dk1"/>
              </a:buClr>
              <a:buSzPts val="1100"/>
              <a:buFont typeface="Arial"/>
              <a:buNone/>
            </a:pPr>
            <a:r>
              <a:rPr lang="vi-VN"/>
              <a:t>Trang thứ tư là Campaign Targeting, dùng để mô phỏng nếu doanh nghiệp chỉ target một tỷ lệ khách hàng nhất định thì doanh thu hoặc lợi nhuận kỳ vọng thay đổi thế nào.</a:t>
            </a:r>
            <a:endParaRPr/>
          </a:p>
          <a:p>
            <a:pPr indent="0" lvl="0" marL="0" rtl="0" algn="l">
              <a:lnSpc>
                <a:spcPct val="115000"/>
              </a:lnSpc>
              <a:spcBef>
                <a:spcPts val="1200"/>
              </a:spcBef>
              <a:spcAft>
                <a:spcPts val="0"/>
              </a:spcAft>
              <a:buClr>
                <a:schemeClr val="dk1"/>
              </a:buClr>
              <a:buSzPts val="1100"/>
              <a:buFont typeface="Arial"/>
              <a:buNone/>
            </a:pPr>
            <a:r>
              <a:rPr lang="vi-VN"/>
              <a:t>Nói đơn giản, dashboard biến kết quả mô hình thành công cụ hỗ trợ quyết định kinh doanh.</a:t>
            </a:r>
            <a:endParaRPr/>
          </a:p>
          <a:p>
            <a:pPr indent="0" lvl="0" marL="0" rtl="0" algn="l">
              <a:spcBef>
                <a:spcPts val="120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e8e00d7cb4_0_18:notes"/>
          <p:cNvSpPr/>
          <p:nvPr>
            <p:ph idx="2" type="sldImg"/>
          </p:nvPr>
        </p:nvSpPr>
        <p:spPr>
          <a:xfrm>
            <a:off x="857400"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e8e00d7cb4_0_18:notes"/>
          <p:cNvSpPr txBox="1"/>
          <p:nvPr>
            <p:ph idx="1" type="body"/>
          </p:nvPr>
        </p:nvSpPr>
        <p:spPr>
          <a:xfrm>
            <a:off x="514350" y="4343400"/>
            <a:ext cx="41148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Phần AI Audit Log ghi lại cách em sử dụng AI trong project.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Em có 19 logged sessions. Mỗi entry ghi rõ prompt em hỏi AI, AI trả lời gì, câu trả lời đó đúng hay sai, em kiểm tra lại như thế nào và cuối cùng em quyết định sửa ra sao.</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Các chủ đề được log gồm lựa chọn metric, thiết kế walk-forward, kiểm tra BG/NBD, viết SQL RFM, preprocessing, stratified split, Hurdle model, benchmark 17 mô hình, so sánh CQR với MCD và kiểm tra citation.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Điểm chính là AI không được xem là nguồn đúng tuyệt đối. AI chỉ hỗ trợ gợi ý, còn kết quả cuối cùng phải được kiểm chứng bằng file, code, metric hoặc nguồn học thuật.</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e8e00d7cb4_0_22:notes"/>
          <p:cNvSpPr/>
          <p:nvPr>
            <p:ph idx="2" type="sldImg"/>
          </p:nvPr>
        </p:nvSpPr>
        <p:spPr>
          <a:xfrm>
            <a:off x="857400"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e8e00d7cb4_0_22:notes"/>
          <p:cNvSpPr txBox="1"/>
          <p:nvPr>
            <p:ph idx="1" type="body"/>
          </p:nvPr>
        </p:nvSpPr>
        <p:spPr>
          <a:xfrm>
            <a:off x="514350" y="4343400"/>
            <a:ext cx="41148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vi-VN"/>
              <a:t>Human Delta là phần thể hiện đóng góp thật của con người, tức là những gì em tự quyết định, tự kiểm tra và tự sửa sau khi dùng AI.</a:t>
            </a:r>
            <a:endParaRPr/>
          </a:p>
          <a:p>
            <a:pPr indent="0" lvl="0" marL="0" rtl="0" algn="l">
              <a:lnSpc>
                <a:spcPct val="115000"/>
              </a:lnSpc>
              <a:spcBef>
                <a:spcPts val="1200"/>
              </a:spcBef>
              <a:spcAft>
                <a:spcPts val="0"/>
              </a:spcAft>
              <a:buClr>
                <a:schemeClr val="dk1"/>
              </a:buClr>
              <a:buSzPts val="1100"/>
              <a:buFont typeface="Arial"/>
              <a:buNone/>
            </a:pPr>
            <a:r>
              <a:rPr lang="vi-VN"/>
              <a:t>Ví dụ, em tự sửa snapshot date thành 2011-12-10 để Recency không bị âm. Em cũng quyết định dùng NG và RC@10% làm metric chính, thay vì chỉ dùng R², vì bài toán là chọn khách VIP.</a:t>
            </a:r>
            <a:endParaRPr/>
          </a:p>
          <a:p>
            <a:pPr indent="0" lvl="0" marL="0" rtl="0" algn="l">
              <a:lnSpc>
                <a:spcPct val="115000"/>
              </a:lnSpc>
              <a:spcBef>
                <a:spcPts val="1200"/>
              </a:spcBef>
              <a:spcAft>
                <a:spcPts val="0"/>
              </a:spcAft>
              <a:buClr>
                <a:schemeClr val="dk1"/>
              </a:buClr>
              <a:buSzPts val="1100"/>
              <a:buFont typeface="Arial"/>
              <a:buNone/>
            </a:pPr>
            <a:r>
              <a:rPr lang="vi-VN"/>
              <a:t>Một điểm quan trọng khác là em không overclaim semantic features. Ban đầu có thể nghĩ semantic graph sẽ làm tăng mạnh ranking, nhưng kết quả test không chứng minh điều đó. Vì vậy em sửa claim thành: semantic giúp hiểu khách hàng và phân nhóm theo sở thích sản phẩm, chứ không phải làm ranking tăng đáng kể.</a:t>
            </a:r>
            <a:endParaRPr/>
          </a:p>
          <a:p>
            <a:pPr indent="0" lvl="0" marL="0" rtl="0" algn="l">
              <a:lnSpc>
                <a:spcPct val="115000"/>
              </a:lnSpc>
              <a:spcBef>
                <a:spcPts val="1200"/>
              </a:spcBef>
              <a:spcAft>
                <a:spcPts val="0"/>
              </a:spcAft>
              <a:buClr>
                <a:schemeClr val="dk1"/>
              </a:buClr>
              <a:buSzPts val="1100"/>
              <a:buFont typeface="Arial"/>
              <a:buNone/>
            </a:pPr>
            <a:r>
              <a:rPr lang="vi-VN"/>
              <a:t>Điều này cho thấy em không chỉ nghe theo AI, mà có kiểm tra và phản biện bằng kết quả thực nghiệm.</a:t>
            </a:r>
            <a:endParaRPr/>
          </a:p>
          <a:p>
            <a:pPr indent="0" lvl="0" marL="0" rtl="0" algn="l">
              <a:spcBef>
                <a:spcPts val="120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8e00d7cb4_0_26:notes"/>
          <p:cNvSpPr/>
          <p:nvPr>
            <p:ph idx="2" type="sldImg"/>
          </p:nvPr>
        </p:nvSpPr>
        <p:spPr>
          <a:xfrm>
            <a:off x="857400"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e8e00d7cb4_0_26:notes"/>
          <p:cNvSpPr txBox="1"/>
          <p:nvPr>
            <p:ph idx="1" type="body"/>
          </p:nvPr>
        </p:nvSpPr>
        <p:spPr>
          <a:xfrm>
            <a:off x="514350" y="4343400"/>
            <a:ext cx="41148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vi-VN"/>
              <a:t>Slide này nói về các lỗi hoặc gợi ý chưa chính xác từ AI và cách em phát hiện.</a:t>
            </a:r>
            <a:endParaRPr/>
          </a:p>
          <a:p>
            <a:pPr indent="0" lvl="0" marL="0" rtl="0" algn="l">
              <a:lnSpc>
                <a:spcPct val="115000"/>
              </a:lnSpc>
              <a:spcBef>
                <a:spcPts val="1200"/>
              </a:spcBef>
              <a:spcAft>
                <a:spcPts val="0"/>
              </a:spcAft>
              <a:buClr>
                <a:schemeClr val="dk1"/>
              </a:buClr>
              <a:buSzPts val="1100"/>
              <a:buFont typeface="Arial"/>
              <a:buNone/>
            </a:pPr>
            <a:r>
              <a:rPr lang="vi-VN"/>
              <a:t>Ví dụ đầu tiên là AUC bị tính trên wrong subset. Em phát hiện bằng cách chạy lại diagnostic trên test fold và sửa lại số liệu.</a:t>
            </a:r>
            <a:endParaRPr/>
          </a:p>
          <a:p>
            <a:pPr indent="0" lvl="0" marL="0" rtl="0" algn="l">
              <a:lnSpc>
                <a:spcPct val="115000"/>
              </a:lnSpc>
              <a:spcBef>
                <a:spcPts val="1200"/>
              </a:spcBef>
              <a:spcAft>
                <a:spcPts val="0"/>
              </a:spcAft>
              <a:buClr>
                <a:schemeClr val="dk1"/>
              </a:buClr>
              <a:buSzPts val="1100"/>
              <a:buFont typeface="Arial"/>
              <a:buNone/>
            </a:pPr>
            <a:r>
              <a:rPr lang="vi-VN"/>
              <a:t>Ví dụ thứ hai là AI gợi ý rằng semantic features cải thiện NG đáng kể. Nhưng khi em chạy paired test, kết quả cho thấy không có cải thiện có ý nghĩa thống kê, nên em sửa lại thành “semantic giúp interpretability”.</a:t>
            </a:r>
            <a:endParaRPr/>
          </a:p>
          <a:p>
            <a:pPr indent="0" lvl="0" marL="0" rtl="0" algn="l">
              <a:lnSpc>
                <a:spcPct val="115000"/>
              </a:lnSpc>
              <a:spcBef>
                <a:spcPts val="1200"/>
              </a:spcBef>
              <a:spcAft>
                <a:spcPts val="0"/>
              </a:spcAft>
              <a:buClr>
                <a:schemeClr val="dk1"/>
              </a:buClr>
              <a:buSzPts val="1100"/>
              <a:buFont typeface="Arial"/>
              <a:buNone/>
            </a:pPr>
            <a:r>
              <a:rPr lang="vi-VN"/>
              <a:t>Ví dụ thứ ba là BG/NBD output inconsistency, em cross-check bằng thư viện lifetimes.</a:t>
            </a:r>
            <a:endParaRPr/>
          </a:p>
          <a:p>
            <a:pPr indent="0" lvl="0" marL="0" rtl="0" algn="l">
              <a:lnSpc>
                <a:spcPct val="115000"/>
              </a:lnSpc>
              <a:spcBef>
                <a:spcPts val="1200"/>
              </a:spcBef>
              <a:spcAft>
                <a:spcPts val="0"/>
              </a:spcAft>
              <a:buClr>
                <a:schemeClr val="dk1"/>
              </a:buClr>
              <a:buSzPts val="1100"/>
              <a:buFont typeface="Arial"/>
              <a:buNone/>
            </a:pPr>
            <a:r>
              <a:rPr lang="vi-VN"/>
              <a:t>Ví dụ thứ tư là CQR-vs-MCD. Ban đầu AI có xu hướng kết luận CQR vượt trội vì MCD raw coverage thấp. Nhưng em nhận ra so sánh vậy không công bằng, nên đã calibrate MCD rồi so lại theo coverage và interval width.</a:t>
            </a:r>
            <a:endParaRPr/>
          </a:p>
          <a:p>
            <a:pPr indent="0" lvl="0" marL="0" rtl="0" algn="l">
              <a:lnSpc>
                <a:spcPct val="115000"/>
              </a:lnSpc>
              <a:spcBef>
                <a:spcPts val="1200"/>
              </a:spcBef>
              <a:spcAft>
                <a:spcPts val="0"/>
              </a:spcAft>
              <a:buClr>
                <a:schemeClr val="dk1"/>
              </a:buClr>
              <a:buSzPts val="1100"/>
              <a:buFont typeface="Arial"/>
              <a:buNone/>
            </a:pPr>
            <a:r>
              <a:rPr lang="vi-VN"/>
              <a:t>Ví dụ cuối là reference chưa xác minh. Em kiểm tra Google Scholar và manuscript grep để xóa các nguồn không đáng tin hoặc không được cite thật trong bài.</a:t>
            </a:r>
            <a:endParaRPr/>
          </a:p>
          <a:p>
            <a:pPr indent="0" lvl="0" marL="0" rtl="0" algn="l">
              <a:spcBef>
                <a:spcPts val="120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e8e00d7cb4_0_30:notes"/>
          <p:cNvSpPr/>
          <p:nvPr>
            <p:ph idx="2" type="sldImg"/>
          </p:nvPr>
        </p:nvSpPr>
        <p:spPr>
          <a:xfrm>
            <a:off x="857400"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e8e00d7cb4_0_30:notes"/>
          <p:cNvSpPr txBox="1"/>
          <p:nvPr>
            <p:ph idx="1" type="body"/>
          </p:nvPr>
        </p:nvSpPr>
        <p:spPr>
          <a:xfrm>
            <a:off x="514350" y="4343400"/>
            <a:ext cx="41148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vi-VN"/>
              <a:t>Tổng kết lại, AI hỗ trợ em trong việc draft code, SQL, figure và phần diễn giải. Tuy nhiên, mọi output đều được review và validate trước khi đưa vào report.</a:t>
            </a:r>
            <a:endParaRPr/>
          </a:p>
          <a:p>
            <a:pPr indent="0" lvl="0" marL="0" rtl="0" algn="l">
              <a:lnSpc>
                <a:spcPct val="115000"/>
              </a:lnSpc>
              <a:spcBef>
                <a:spcPts val="1200"/>
              </a:spcBef>
              <a:spcAft>
                <a:spcPts val="0"/>
              </a:spcAft>
              <a:buClr>
                <a:schemeClr val="dk1"/>
              </a:buClr>
              <a:buSzPts val="1100"/>
              <a:buFont typeface="Arial"/>
              <a:buNone/>
            </a:pPr>
            <a:r>
              <a:rPr lang="vi-VN"/>
              <a:t>Human Delta đã được document rõ, các hallucination được phát hiện và sửa bằng evidence cụ thể. Vì project chỉ có một thành viên, em phải hiểu toàn bộ pipeline: từ SQL, preprocessing, feature engineering, modelling, dashboard, đến AI Audit Log.</a:t>
            </a:r>
            <a:endParaRPr/>
          </a:p>
          <a:p>
            <a:pPr indent="0" lvl="0" marL="0" rtl="0" algn="l">
              <a:lnSpc>
                <a:spcPct val="115000"/>
              </a:lnSpc>
              <a:spcBef>
                <a:spcPts val="1200"/>
              </a:spcBef>
              <a:spcAft>
                <a:spcPts val="0"/>
              </a:spcAft>
              <a:buClr>
                <a:schemeClr val="dk1"/>
              </a:buClr>
              <a:buSzPts val="1100"/>
              <a:buFont typeface="Arial"/>
              <a:buNone/>
            </a:pPr>
            <a:r>
              <a:rPr lang="vi-VN"/>
              <a:t>Trong phần Q&amp;A, em sẵn sàng giải thích vì sao chọn Hurdle model, vì sao dùng NG/RC@10%, cách tránh temporal leakage, cách dashboard hoạt động, và AI đã được kiểm chứng như thế nào.</a:t>
            </a:r>
            <a:endParaRPr/>
          </a:p>
          <a:p>
            <a:pPr indent="0" lvl="0" marL="0" rtl="0" algn="l">
              <a:lnSpc>
                <a:spcPct val="115000"/>
              </a:lnSpc>
              <a:spcBef>
                <a:spcPts val="1200"/>
              </a:spcBef>
              <a:spcAft>
                <a:spcPts val="0"/>
              </a:spcAft>
              <a:buClr>
                <a:schemeClr val="dk1"/>
              </a:buClr>
              <a:buSzPts val="1100"/>
              <a:buFont typeface="Arial"/>
              <a:buNone/>
            </a:pPr>
            <a:r>
              <a:rPr lang="vi-VN"/>
              <a:t>Điểm kết luận của project là: đây là một CLV framework có pipeline đầy đủ, benchmark rộng, giải thích được, có uncertainty calibration và có dashboard phục vụ VIP targeting.</a:t>
            </a:r>
            <a:endParaRPr/>
          </a:p>
          <a:p>
            <a:pPr indent="0" lvl="0" marL="0" rtl="0" algn="l">
              <a:spcBef>
                <a:spcPts val="120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6" name="Shape 6"/>
        <p:cNvGrpSpPr/>
        <p:nvPr/>
      </p:nvGrpSpPr>
      <p:grpSpPr>
        <a:xfrm>
          <a:off x="0" y="0"/>
          <a:ext cx="0" cy="0"/>
          <a:chOff x="0" y="0"/>
          <a:chExt cx="0" cy="0"/>
        </a:xfrm>
      </p:grpSpPr>
      <p:sp>
        <p:nvSpPr>
          <p:cNvPr id="7" name="Google Shape;7;p2"/>
          <p:cNvSpPr txBox="1"/>
          <p:nvPr/>
        </p:nvSpPr>
        <p:spPr>
          <a:xfrm>
            <a:off x="1142999" y="2667001"/>
            <a:ext cx="6858000" cy="432050"/>
          </a:xfrm>
          <a:prstGeom prst="rect">
            <a:avLst/>
          </a:prstGeom>
          <a:noFill/>
          <a:ln>
            <a:noFill/>
          </a:ln>
        </p:spPr>
        <p:txBody>
          <a:bodyPr anchorCtr="0" anchor="ctr" bIns="34275" lIns="68575" spcFirstLastPara="1" rIns="68575" wrap="square" tIns="34275">
            <a:normAutofit/>
          </a:bodyPr>
          <a:lstStyle/>
          <a:p>
            <a:pPr indent="0" lvl="0" marL="0" marR="0" rtl="0" algn="ctr">
              <a:lnSpc>
                <a:spcPct val="90000"/>
              </a:lnSpc>
              <a:spcBef>
                <a:spcPts val="0"/>
              </a:spcBef>
              <a:spcAft>
                <a:spcPts val="0"/>
              </a:spcAft>
              <a:buClr>
                <a:srgbClr val="C00000"/>
              </a:buClr>
              <a:buSzPts val="1800"/>
              <a:buFont typeface="Noto Sans Symbols"/>
              <a:buNone/>
            </a:pPr>
            <a:r>
              <a:t/>
            </a:r>
            <a:endParaRPr b="0" i="0" sz="1500" u="none" cap="none" strike="noStrike">
              <a:solidFill>
                <a:schemeClr val="dk1"/>
              </a:solidFill>
              <a:latin typeface="Arial"/>
              <a:ea typeface="Arial"/>
              <a:cs typeface="Arial"/>
              <a:sym typeface="Arial"/>
            </a:endParaRPr>
          </a:p>
        </p:txBody>
      </p:sp>
      <p:sp>
        <p:nvSpPr>
          <p:cNvPr id="8" name="Google Shape;8;p2"/>
          <p:cNvSpPr/>
          <p:nvPr>
            <p:ph type="title"/>
          </p:nvPr>
        </p:nvSpPr>
        <p:spPr>
          <a:xfrm>
            <a:off x="483008" y="584669"/>
            <a:ext cx="8177981" cy="1172951"/>
          </a:xfrm>
          <a:prstGeom prst="roundRect">
            <a:avLst>
              <a:gd fmla="val 16667" name="adj"/>
            </a:avLst>
          </a:prstGeom>
          <a:solidFill>
            <a:schemeClr val="accent1"/>
          </a:solidFill>
          <a:ln>
            <a:noFill/>
          </a:ln>
          <a:effectLst>
            <a:outerShdw blurRad="152400" rotWithShape="0" algn="tl" dir="2700000" dist="177800">
              <a:srgbClr val="000000">
                <a:alpha val="27843"/>
              </a:srgbClr>
            </a:outerShdw>
          </a:effectLst>
        </p:spPr>
        <p:txBody>
          <a:bodyPr anchorCtr="0" anchor="t" bIns="45700" lIns="91425" spcFirstLastPara="1" rIns="91425" wrap="square" tIns="45700">
            <a:noAutofit/>
          </a:bodyPr>
          <a:lstStyle>
            <a:lvl1pPr lvl="0" marR="0" rtl="0" algn="ctr">
              <a:lnSpc>
                <a:spcPct val="90000"/>
              </a:lnSpc>
              <a:spcBef>
                <a:spcPts val="0"/>
              </a:spcBef>
              <a:spcAft>
                <a:spcPts val="0"/>
              </a:spcAft>
              <a:buClr>
                <a:schemeClr val="lt1"/>
              </a:buClr>
              <a:buSzPts val="3300"/>
              <a:buFont typeface="Arial"/>
              <a:buNone/>
              <a:defRPr b="0" i="0" sz="3300"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2"/>
          <p:cNvSpPr txBox="1"/>
          <p:nvPr>
            <p:ph idx="1" type="body"/>
          </p:nvPr>
        </p:nvSpPr>
        <p:spPr>
          <a:xfrm>
            <a:off x="1560909" y="2156870"/>
            <a:ext cx="6022181" cy="666324"/>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10000"/>
              </a:lnSpc>
              <a:spcBef>
                <a:spcPts val="750"/>
              </a:spcBef>
              <a:spcAft>
                <a:spcPts val="0"/>
              </a:spcAft>
              <a:buClr>
                <a:schemeClr val="accent1"/>
              </a:buClr>
              <a:buSzPts val="2520"/>
              <a:buFont typeface="Arial"/>
              <a:buNone/>
              <a:defRPr b="0" i="0" sz="2100" u="none" cap="none" strike="noStrike">
                <a:solidFill>
                  <a:schemeClr val="dk1"/>
                </a:solidFill>
                <a:latin typeface="Arial"/>
                <a:ea typeface="Arial"/>
                <a:cs typeface="Arial"/>
                <a:sym typeface="Arial"/>
              </a:defRPr>
            </a:lvl1pPr>
            <a:lvl2pPr indent="-365760" lvl="1" marL="914400" marR="0" rtl="0" algn="just">
              <a:lnSpc>
                <a:spcPct val="110000"/>
              </a:lnSpc>
              <a:spcBef>
                <a:spcPts val="450"/>
              </a:spcBef>
              <a:spcAft>
                <a:spcPts val="0"/>
              </a:spcAft>
              <a:buClr>
                <a:schemeClr val="accent1"/>
              </a:buClr>
              <a:buSzPts val="2160"/>
              <a:buFont typeface="Arial"/>
              <a:buChar char="•"/>
              <a:defRPr b="0" i="0" sz="1800" u="none" cap="none" strike="noStrike">
                <a:solidFill>
                  <a:schemeClr val="dk1"/>
                </a:solidFill>
                <a:latin typeface="Arial"/>
                <a:ea typeface="Arial"/>
                <a:cs typeface="Arial"/>
                <a:sym typeface="Arial"/>
              </a:defRPr>
            </a:lvl2pPr>
            <a:lvl3pPr indent="-342900" lvl="2" marL="1371600" marR="0" rtl="0" algn="l">
              <a:lnSpc>
                <a:spcPct val="110000"/>
              </a:lnSpc>
              <a:spcBef>
                <a:spcPts val="375"/>
              </a:spcBef>
              <a:spcAft>
                <a:spcPts val="0"/>
              </a:spcAft>
              <a:buClr>
                <a:schemeClr val="accent1"/>
              </a:buClr>
              <a:buSzPts val="1800"/>
              <a:buFont typeface="Arial"/>
              <a:buChar char="•"/>
              <a:defRPr b="0" i="0" sz="1500" u="none" cap="none" strike="noStrike">
                <a:solidFill>
                  <a:schemeClr val="dk1"/>
                </a:solidFill>
                <a:latin typeface="Arial"/>
                <a:ea typeface="Arial"/>
                <a:cs typeface="Arial"/>
                <a:sym typeface="Arial"/>
              </a:defRPr>
            </a:lvl3pPr>
            <a:lvl4pPr indent="-331470" lvl="3" marL="1828800" marR="0" rtl="0" algn="l">
              <a:lnSpc>
                <a:spcPct val="110000"/>
              </a:lnSpc>
              <a:spcBef>
                <a:spcPts val="375"/>
              </a:spcBef>
              <a:spcAft>
                <a:spcPts val="0"/>
              </a:spcAft>
              <a:buClr>
                <a:schemeClr val="accent1"/>
              </a:buClr>
              <a:buSzPts val="1620"/>
              <a:buFont typeface="Arial"/>
              <a:buChar char="•"/>
              <a:defRPr b="0" i="0" sz="1350" u="none" cap="none" strike="noStrike">
                <a:solidFill>
                  <a:schemeClr val="dk1"/>
                </a:solidFill>
                <a:latin typeface="Arial"/>
                <a:ea typeface="Arial"/>
                <a:cs typeface="Arial"/>
                <a:sym typeface="Arial"/>
              </a:defRPr>
            </a:lvl4pPr>
            <a:lvl5pPr indent="-331470" lvl="4" marL="2286000" marR="0" rtl="0" algn="l">
              <a:lnSpc>
                <a:spcPct val="110000"/>
              </a:lnSpc>
              <a:spcBef>
                <a:spcPts val="375"/>
              </a:spcBef>
              <a:spcAft>
                <a:spcPts val="0"/>
              </a:spcAft>
              <a:buClr>
                <a:schemeClr val="accent1"/>
              </a:buClr>
              <a:buSzPts val="1620"/>
              <a:buFont typeface="Arial"/>
              <a:buChar char="•"/>
              <a:defRPr b="0" i="0" sz="135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0" name="Google Shape;10;p2"/>
          <p:cNvSpPr txBox="1"/>
          <p:nvPr>
            <p:ph idx="2" type="body"/>
          </p:nvPr>
        </p:nvSpPr>
        <p:spPr>
          <a:xfrm>
            <a:off x="1560908" y="3012689"/>
            <a:ext cx="6022181" cy="871725"/>
          </a:xfrm>
          <a:prstGeom prst="rect">
            <a:avLst/>
          </a:prstGeom>
          <a:noFill/>
          <a:ln>
            <a:noFill/>
          </a:ln>
        </p:spPr>
        <p:txBody>
          <a:bodyPr anchorCtr="0" anchor="t" bIns="45700" lIns="91425" spcFirstLastPara="1" rIns="91425" wrap="square" tIns="45700">
            <a:normAutofit/>
          </a:bodyPr>
          <a:lstStyle>
            <a:lvl1pPr indent="-228600" lvl="0" marL="457200" marR="0" rtl="0" algn="ctr">
              <a:lnSpc>
                <a:spcPct val="110000"/>
              </a:lnSpc>
              <a:spcBef>
                <a:spcPts val="750"/>
              </a:spcBef>
              <a:spcAft>
                <a:spcPts val="0"/>
              </a:spcAft>
              <a:buClr>
                <a:schemeClr val="accent1"/>
              </a:buClr>
              <a:buSzPts val="1800"/>
              <a:buFont typeface="Arial"/>
              <a:buNone/>
              <a:defRPr b="0" i="0" sz="1500" u="none" cap="none" strike="noStrike">
                <a:solidFill>
                  <a:schemeClr val="dk1"/>
                </a:solidFill>
                <a:latin typeface="Arial"/>
                <a:ea typeface="Arial"/>
                <a:cs typeface="Arial"/>
                <a:sym typeface="Arial"/>
              </a:defRPr>
            </a:lvl1pPr>
            <a:lvl2pPr indent="-365760" lvl="1" marL="914400" marR="0" rtl="0" algn="just">
              <a:lnSpc>
                <a:spcPct val="110000"/>
              </a:lnSpc>
              <a:spcBef>
                <a:spcPts val="450"/>
              </a:spcBef>
              <a:spcAft>
                <a:spcPts val="0"/>
              </a:spcAft>
              <a:buClr>
                <a:schemeClr val="accent1"/>
              </a:buClr>
              <a:buSzPts val="2160"/>
              <a:buFont typeface="Arial"/>
              <a:buChar char="•"/>
              <a:defRPr b="0" i="0" sz="1800" u="none" cap="none" strike="noStrike">
                <a:solidFill>
                  <a:schemeClr val="dk1"/>
                </a:solidFill>
                <a:latin typeface="Arial"/>
                <a:ea typeface="Arial"/>
                <a:cs typeface="Arial"/>
                <a:sym typeface="Arial"/>
              </a:defRPr>
            </a:lvl2pPr>
            <a:lvl3pPr indent="-342900" lvl="2" marL="1371600" marR="0" rtl="0" algn="l">
              <a:lnSpc>
                <a:spcPct val="110000"/>
              </a:lnSpc>
              <a:spcBef>
                <a:spcPts val="375"/>
              </a:spcBef>
              <a:spcAft>
                <a:spcPts val="0"/>
              </a:spcAft>
              <a:buClr>
                <a:schemeClr val="accent1"/>
              </a:buClr>
              <a:buSzPts val="1800"/>
              <a:buFont typeface="Arial"/>
              <a:buChar char="•"/>
              <a:defRPr b="0" i="0" sz="1500" u="none" cap="none" strike="noStrike">
                <a:solidFill>
                  <a:schemeClr val="dk1"/>
                </a:solidFill>
                <a:latin typeface="Arial"/>
                <a:ea typeface="Arial"/>
                <a:cs typeface="Arial"/>
                <a:sym typeface="Arial"/>
              </a:defRPr>
            </a:lvl3pPr>
            <a:lvl4pPr indent="-331470" lvl="3" marL="1828800" marR="0" rtl="0" algn="l">
              <a:lnSpc>
                <a:spcPct val="110000"/>
              </a:lnSpc>
              <a:spcBef>
                <a:spcPts val="375"/>
              </a:spcBef>
              <a:spcAft>
                <a:spcPts val="0"/>
              </a:spcAft>
              <a:buClr>
                <a:schemeClr val="accent1"/>
              </a:buClr>
              <a:buSzPts val="1620"/>
              <a:buFont typeface="Arial"/>
              <a:buChar char="•"/>
              <a:defRPr b="0" i="0" sz="1350" u="none" cap="none" strike="noStrike">
                <a:solidFill>
                  <a:schemeClr val="dk1"/>
                </a:solidFill>
                <a:latin typeface="Arial"/>
                <a:ea typeface="Arial"/>
                <a:cs typeface="Arial"/>
                <a:sym typeface="Arial"/>
              </a:defRPr>
            </a:lvl4pPr>
            <a:lvl5pPr indent="-331470" lvl="4" marL="2286000" marR="0" rtl="0" algn="l">
              <a:lnSpc>
                <a:spcPct val="110000"/>
              </a:lnSpc>
              <a:spcBef>
                <a:spcPts val="375"/>
              </a:spcBef>
              <a:spcAft>
                <a:spcPts val="0"/>
              </a:spcAft>
              <a:buClr>
                <a:schemeClr val="accent1"/>
              </a:buClr>
              <a:buSzPts val="1620"/>
              <a:buFont typeface="Arial"/>
              <a:buChar char="•"/>
              <a:defRPr b="0" i="0" sz="135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1" name="Google Shape;11;p2"/>
          <p:cNvSpPr txBox="1"/>
          <p:nvPr>
            <p:ph idx="3" type="body"/>
          </p:nvPr>
        </p:nvSpPr>
        <p:spPr>
          <a:xfrm>
            <a:off x="1560908" y="4084776"/>
            <a:ext cx="6022181" cy="605434"/>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10000"/>
              </a:lnSpc>
              <a:spcBef>
                <a:spcPts val="750"/>
              </a:spcBef>
              <a:spcAft>
                <a:spcPts val="0"/>
              </a:spcAft>
              <a:buClr>
                <a:schemeClr val="accent1"/>
              </a:buClr>
              <a:buSzPts val="2520"/>
              <a:buFont typeface="Arial"/>
              <a:buNone/>
              <a:defRPr b="0" i="0" sz="2100" u="none" cap="none" strike="noStrike">
                <a:solidFill>
                  <a:schemeClr val="dk1"/>
                </a:solidFill>
                <a:latin typeface="Arial"/>
                <a:ea typeface="Arial"/>
                <a:cs typeface="Arial"/>
                <a:sym typeface="Arial"/>
              </a:defRPr>
            </a:lvl1pPr>
            <a:lvl2pPr indent="-365760" lvl="1" marL="914400" marR="0" rtl="0" algn="just">
              <a:lnSpc>
                <a:spcPct val="110000"/>
              </a:lnSpc>
              <a:spcBef>
                <a:spcPts val="450"/>
              </a:spcBef>
              <a:spcAft>
                <a:spcPts val="0"/>
              </a:spcAft>
              <a:buClr>
                <a:schemeClr val="accent1"/>
              </a:buClr>
              <a:buSzPts val="2160"/>
              <a:buFont typeface="Arial"/>
              <a:buChar char="•"/>
              <a:defRPr b="0" i="0" sz="1800" u="none" cap="none" strike="noStrike">
                <a:solidFill>
                  <a:schemeClr val="dk1"/>
                </a:solidFill>
                <a:latin typeface="Arial"/>
                <a:ea typeface="Arial"/>
                <a:cs typeface="Arial"/>
                <a:sym typeface="Arial"/>
              </a:defRPr>
            </a:lvl2pPr>
            <a:lvl3pPr indent="-342900" lvl="2" marL="1371600" marR="0" rtl="0" algn="l">
              <a:lnSpc>
                <a:spcPct val="110000"/>
              </a:lnSpc>
              <a:spcBef>
                <a:spcPts val="375"/>
              </a:spcBef>
              <a:spcAft>
                <a:spcPts val="0"/>
              </a:spcAft>
              <a:buClr>
                <a:schemeClr val="accent1"/>
              </a:buClr>
              <a:buSzPts val="1800"/>
              <a:buFont typeface="Arial"/>
              <a:buChar char="•"/>
              <a:defRPr b="0" i="0" sz="1500" u="none" cap="none" strike="noStrike">
                <a:solidFill>
                  <a:schemeClr val="dk1"/>
                </a:solidFill>
                <a:latin typeface="Arial"/>
                <a:ea typeface="Arial"/>
                <a:cs typeface="Arial"/>
                <a:sym typeface="Arial"/>
              </a:defRPr>
            </a:lvl3pPr>
            <a:lvl4pPr indent="-331470" lvl="3" marL="1828800" marR="0" rtl="0" algn="l">
              <a:lnSpc>
                <a:spcPct val="110000"/>
              </a:lnSpc>
              <a:spcBef>
                <a:spcPts val="375"/>
              </a:spcBef>
              <a:spcAft>
                <a:spcPts val="0"/>
              </a:spcAft>
              <a:buClr>
                <a:schemeClr val="accent1"/>
              </a:buClr>
              <a:buSzPts val="1620"/>
              <a:buFont typeface="Arial"/>
              <a:buChar char="•"/>
              <a:defRPr b="0" i="0" sz="1350" u="none" cap="none" strike="noStrike">
                <a:solidFill>
                  <a:schemeClr val="dk1"/>
                </a:solidFill>
                <a:latin typeface="Arial"/>
                <a:ea typeface="Arial"/>
                <a:cs typeface="Arial"/>
                <a:sym typeface="Arial"/>
              </a:defRPr>
            </a:lvl4pPr>
            <a:lvl5pPr indent="-331470" lvl="4" marL="2286000" marR="0" rtl="0" algn="l">
              <a:lnSpc>
                <a:spcPct val="110000"/>
              </a:lnSpc>
              <a:spcBef>
                <a:spcPts val="375"/>
              </a:spcBef>
              <a:spcAft>
                <a:spcPts val="0"/>
              </a:spcAft>
              <a:buClr>
                <a:schemeClr val="accent1"/>
              </a:buClr>
              <a:buSzPts val="1620"/>
              <a:buFont typeface="Arial"/>
              <a:buChar char="•"/>
              <a:defRPr b="0" i="0" sz="135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2" name="Shape 12"/>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 name="Shape 13"/>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4" name="Shape 14"/>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15" name="Shape 15"/>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6" name="Shape 16"/>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7" name="Shape 1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3.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9.png"/><Relationship Id="rId6" Type="http://schemas.openxmlformats.org/officeDocument/2006/relationships/image" Target="../media/image11.png"/><Relationship Id="rId7" Type="http://schemas.openxmlformats.org/officeDocument/2006/relationships/image" Target="../media/image20.png"/><Relationship Id="rId8" Type="http://schemas.openxmlformats.org/officeDocument/2006/relationships/image" Target="../media/image21.png"/><Relationship Id="rId9" Type="http://schemas.openxmlformats.org/officeDocument/2006/relationships/image" Target="../media/image22.png"/><Relationship Id="rId10"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 name="Shape 21"/>
        <p:cNvGrpSpPr/>
        <p:nvPr/>
      </p:nvGrpSpPr>
      <p:grpSpPr>
        <a:xfrm>
          <a:off x="0" y="0"/>
          <a:ext cx="0" cy="0"/>
          <a:chOff x="0" y="0"/>
          <a:chExt cx="0" cy="0"/>
        </a:xfrm>
      </p:grpSpPr>
      <p:sp>
        <p:nvSpPr>
          <p:cNvPr id="22" name="Google Shape;22;p9"/>
          <p:cNvSpPr/>
          <p:nvPr>
            <p:ph type="title"/>
          </p:nvPr>
        </p:nvSpPr>
        <p:spPr>
          <a:xfrm>
            <a:off x="336925" y="640199"/>
            <a:ext cx="8178000" cy="974400"/>
          </a:xfrm>
          <a:prstGeom prst="roundRect">
            <a:avLst>
              <a:gd fmla="val 0" name="adj"/>
            </a:avLst>
          </a:prstGeom>
          <a:solidFill>
            <a:schemeClr val="accent1"/>
          </a:solidFill>
          <a:ln>
            <a:noFill/>
          </a:ln>
          <a:effectLst>
            <a:outerShdw blurRad="152400" rotWithShape="0" algn="tl" dir="2700000" dist="177800">
              <a:srgbClr val="000000">
                <a:alpha val="27843"/>
              </a:srgbClr>
            </a:outerShdw>
          </a:effectLst>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lt1"/>
              </a:buClr>
              <a:buSzPts val="3000"/>
              <a:buFont typeface="Arial"/>
              <a:buNone/>
            </a:pPr>
            <a:r>
              <a:rPr lang="vi-VN" sz="2800"/>
              <a:t>From CLV Ranking to Uplift-Aware Targeting: A Cross-Context Study Across Three Retail Datasets</a:t>
            </a:r>
            <a:endParaRPr sz="2800"/>
          </a:p>
        </p:txBody>
      </p:sp>
      <p:sp>
        <p:nvSpPr>
          <p:cNvPr id="23" name="Google Shape;23;p9"/>
          <p:cNvSpPr txBox="1"/>
          <p:nvPr>
            <p:ph idx="1" type="body"/>
          </p:nvPr>
        </p:nvSpPr>
        <p:spPr>
          <a:xfrm>
            <a:off x="1333234" y="4160770"/>
            <a:ext cx="6022200" cy="666300"/>
          </a:xfrm>
          <a:prstGeom prst="rect">
            <a:avLst/>
          </a:prstGeom>
          <a:noFill/>
          <a:ln>
            <a:noFill/>
          </a:ln>
        </p:spPr>
        <p:txBody>
          <a:bodyPr anchorCtr="0" anchor="t" bIns="45700" lIns="91425" spcFirstLastPara="1" rIns="91425" wrap="square" tIns="45700">
            <a:noAutofit/>
          </a:bodyPr>
          <a:lstStyle/>
          <a:p>
            <a:pPr indent="0" lvl="0" marL="0" rtl="0" algn="ctr">
              <a:lnSpc>
                <a:spcPct val="110000"/>
              </a:lnSpc>
              <a:spcBef>
                <a:spcPts val="0"/>
              </a:spcBef>
              <a:spcAft>
                <a:spcPts val="0"/>
              </a:spcAft>
              <a:buSzPts val="2400"/>
              <a:buNone/>
            </a:pPr>
            <a:r>
              <a:rPr lang="vi-VN" sz="2000"/>
              <a:t>Ho Chi Minh City, 2026</a:t>
            </a:r>
            <a:endParaRPr/>
          </a:p>
        </p:txBody>
      </p:sp>
      <p:sp>
        <p:nvSpPr>
          <p:cNvPr id="24" name="Google Shape;24;p9"/>
          <p:cNvSpPr txBox="1"/>
          <p:nvPr>
            <p:ph idx="2" type="body"/>
          </p:nvPr>
        </p:nvSpPr>
        <p:spPr>
          <a:xfrm>
            <a:off x="255335" y="2306188"/>
            <a:ext cx="3604500" cy="871800"/>
          </a:xfrm>
          <a:prstGeom prst="rect">
            <a:avLst/>
          </a:prstGeom>
          <a:noFill/>
          <a:ln>
            <a:noFill/>
          </a:ln>
        </p:spPr>
        <p:txBody>
          <a:bodyPr anchorCtr="0" anchor="t" bIns="45700" lIns="91425" spcFirstLastPara="1" rIns="91425" wrap="square" tIns="45700">
            <a:noAutofit/>
          </a:bodyPr>
          <a:lstStyle/>
          <a:p>
            <a:pPr indent="0" lvl="0" marL="0" rtl="0" algn="ctr">
              <a:lnSpc>
                <a:spcPct val="110000"/>
              </a:lnSpc>
              <a:spcBef>
                <a:spcPts val="0"/>
              </a:spcBef>
              <a:spcAft>
                <a:spcPts val="0"/>
              </a:spcAft>
              <a:buSzPts val="2400"/>
              <a:buNone/>
            </a:pPr>
            <a:r>
              <a:rPr lang="vi-VN" sz="2000"/>
              <a:t>Students:</a:t>
            </a:r>
            <a:endParaRPr/>
          </a:p>
          <a:p>
            <a:pPr indent="0" lvl="0" marL="0" rtl="0" algn="ctr">
              <a:lnSpc>
                <a:spcPct val="110000"/>
              </a:lnSpc>
              <a:spcBef>
                <a:spcPts val="750"/>
              </a:spcBef>
              <a:spcAft>
                <a:spcPts val="0"/>
              </a:spcAft>
              <a:buSzPts val="2400"/>
              <a:buNone/>
            </a:pPr>
            <a:r>
              <a:rPr lang="vi-VN" sz="2000"/>
              <a:t>Nguyễn Vũ Minh Ánh - SE203412</a:t>
            </a:r>
            <a:endParaRPr/>
          </a:p>
        </p:txBody>
      </p:sp>
      <p:pic>
        <p:nvPicPr>
          <p:cNvPr descr="Tập tin:Logo Trường Đại học FPT.svg – Wikipedia tiếng Việt" id="25" name="Google Shape;25;p9"/>
          <p:cNvPicPr preferRelativeResize="0"/>
          <p:nvPr/>
        </p:nvPicPr>
        <p:blipFill rotWithShape="1">
          <a:blip r:embed="rId3">
            <a:alphaModFix/>
          </a:blip>
          <a:srcRect b="0" l="0" r="0" t="0"/>
          <a:stretch/>
        </p:blipFill>
        <p:spPr>
          <a:xfrm>
            <a:off x="120415" y="9"/>
            <a:ext cx="944650" cy="368264"/>
          </a:xfrm>
          <a:prstGeom prst="rect">
            <a:avLst/>
          </a:prstGeom>
          <a:noFill/>
          <a:ln>
            <a:noFill/>
          </a:ln>
        </p:spPr>
      </p:pic>
      <p:sp>
        <p:nvSpPr>
          <p:cNvPr id="26" name="Google Shape;26;p9"/>
          <p:cNvSpPr txBox="1"/>
          <p:nvPr/>
        </p:nvSpPr>
        <p:spPr>
          <a:xfrm>
            <a:off x="5206400" y="2318738"/>
            <a:ext cx="3000000" cy="846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vi-VN" sz="2000">
                <a:solidFill>
                  <a:schemeClr val="dk1"/>
                </a:solidFill>
              </a:rPr>
              <a:t>Supervisor:</a:t>
            </a:r>
            <a:endParaRPr sz="2000">
              <a:solidFill>
                <a:schemeClr val="dk1"/>
              </a:solidFill>
            </a:endParaRPr>
          </a:p>
          <a:p>
            <a:pPr indent="0" lvl="0" marL="0" rtl="0" algn="ctr">
              <a:lnSpc>
                <a:spcPct val="115000"/>
              </a:lnSpc>
              <a:spcBef>
                <a:spcPts val="0"/>
              </a:spcBef>
              <a:spcAft>
                <a:spcPts val="0"/>
              </a:spcAft>
              <a:buNone/>
            </a:pPr>
            <a:r>
              <a:rPr lang="vi-VN" sz="2000">
                <a:solidFill>
                  <a:schemeClr val="dk1"/>
                </a:solidFill>
              </a:rPr>
              <a:t>Nguyễn Hoàng Linh</a:t>
            </a:r>
            <a:endParaRPr sz="20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 name="Shape 31"/>
        <p:cNvGrpSpPr/>
        <p:nvPr/>
      </p:nvGrpSpPr>
      <p:grpSpPr>
        <a:xfrm>
          <a:off x="0" y="0"/>
          <a:ext cx="0" cy="0"/>
          <a:chOff x="0" y="0"/>
          <a:chExt cx="0" cy="0"/>
        </a:xfrm>
      </p:grpSpPr>
      <p:sp>
        <p:nvSpPr>
          <p:cNvPr id="32" name="Google Shape;32;p10"/>
          <p:cNvSpPr/>
          <p:nvPr/>
        </p:nvSpPr>
        <p:spPr>
          <a:xfrm>
            <a:off x="457200" y="182880"/>
            <a:ext cx="822960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2800"/>
              <a:buFont typeface="Calibri"/>
              <a:buNone/>
            </a:pPr>
            <a:r>
              <a:rPr b="1" i="0" lang="vi-VN" sz="2800" u="none" cap="none" strike="noStrike">
                <a:solidFill>
                  <a:srgbClr val="1F3864"/>
                </a:solidFill>
                <a:latin typeface="Calibri"/>
                <a:ea typeface="Calibri"/>
                <a:cs typeface="Calibri"/>
                <a:sym typeface="Calibri"/>
              </a:rPr>
              <a:t>Outline</a:t>
            </a:r>
            <a:endParaRPr b="0" i="0" sz="2800" u="none" cap="none" strike="noStrike">
              <a:solidFill>
                <a:schemeClr val="dk1"/>
              </a:solidFill>
              <a:latin typeface="Calibri"/>
              <a:ea typeface="Calibri"/>
              <a:cs typeface="Calibri"/>
              <a:sym typeface="Calibri"/>
            </a:endParaRPr>
          </a:p>
        </p:txBody>
      </p:sp>
      <p:cxnSp>
        <p:nvCxnSpPr>
          <p:cNvPr id="33" name="Google Shape;33;p10"/>
          <p:cNvCxnSpPr/>
          <p:nvPr/>
        </p:nvCxnSpPr>
        <p:spPr>
          <a:xfrm>
            <a:off x="457200" y="960120"/>
            <a:ext cx="8229600" cy="0"/>
          </a:xfrm>
          <a:prstGeom prst="straightConnector1">
            <a:avLst/>
          </a:prstGeom>
          <a:noFill/>
          <a:ln cap="flat" cmpd="sng" w="19050">
            <a:solidFill>
              <a:srgbClr val="4472C4"/>
            </a:solidFill>
            <a:prstDash val="solid"/>
            <a:round/>
            <a:headEnd len="sm" w="sm" type="none"/>
            <a:tailEnd len="sm" w="sm" type="none"/>
          </a:ln>
        </p:spPr>
      </p:cxnSp>
      <p:sp>
        <p:nvSpPr>
          <p:cNvPr id="34" name="Google Shape;34;p10"/>
          <p:cNvSpPr/>
          <p:nvPr/>
        </p:nvSpPr>
        <p:spPr>
          <a:xfrm>
            <a:off x="457200" y="1051560"/>
            <a:ext cx="8229600" cy="3931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300"/>
              <a:buFont typeface="Calibri"/>
              <a:buNone/>
            </a:pPr>
            <a:r>
              <a:t/>
            </a:r>
            <a:endParaRPr b="0" i="0" sz="2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1A2E6B"/>
              </a:buClr>
              <a:buSzPts val="2400"/>
              <a:buFont typeface="Calibri"/>
              <a:buNone/>
            </a:pPr>
            <a:r>
              <a:rPr b="1" i="0" lang="vi-VN" sz="2300" u="none" cap="none" strike="noStrike">
                <a:solidFill>
                  <a:srgbClr val="1A2E6B"/>
                </a:solidFill>
                <a:latin typeface="Calibri"/>
                <a:ea typeface="Calibri"/>
                <a:cs typeface="Calibri"/>
                <a:sym typeface="Calibri"/>
              </a:rPr>
              <a:t>PART 1 — Understanding the Problem &amp; Data</a:t>
            </a:r>
            <a:endParaRPr b="0" i="0" sz="2300" u="none" cap="none" strike="noStrike">
              <a:solidFill>
                <a:schemeClr val="dk1"/>
              </a:solidFill>
              <a:latin typeface="Calibri"/>
              <a:ea typeface="Calibri"/>
              <a:cs typeface="Calibri"/>
              <a:sym typeface="Calibri"/>
            </a:endParaRPr>
          </a:p>
          <a:p>
            <a:pPr indent="0" lvl="0" marL="0" rtl="0" algn="l">
              <a:spcBef>
                <a:spcPts val="250"/>
              </a:spcBef>
              <a:spcAft>
                <a:spcPts val="0"/>
              </a:spcAft>
              <a:buClr>
                <a:srgbClr val="64748B"/>
              </a:buClr>
              <a:buSzPts val="1300"/>
              <a:buFont typeface="Calibri"/>
              <a:buNone/>
            </a:pPr>
            <a:r>
              <a:rPr lang="vi-VN" sz="1900">
                <a:solidFill>
                  <a:schemeClr val="dk1"/>
                </a:solidFill>
                <a:latin typeface="Calibri"/>
                <a:ea typeface="Calibri"/>
                <a:cs typeface="Calibri"/>
                <a:sym typeface="Calibri"/>
              </a:rPr>
              <a:t>Problem Statement · Research Questions · Three retail contexts · SQL feature tables</a:t>
            </a:r>
            <a:endParaRPr b="0" i="0" sz="25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065F46"/>
              </a:buClr>
              <a:buSzPts val="2400"/>
              <a:buFont typeface="Calibri"/>
              <a:buNone/>
            </a:pPr>
            <a:r>
              <a:rPr b="1" i="0" lang="vi-VN" sz="2300" u="none" cap="none" strike="noStrike">
                <a:solidFill>
                  <a:srgbClr val="065F46"/>
                </a:solidFill>
                <a:latin typeface="Calibri"/>
                <a:ea typeface="Calibri"/>
                <a:cs typeface="Calibri"/>
                <a:sym typeface="Calibri"/>
              </a:rPr>
              <a:t>PART 2 — Python Analysis &amp; Visualization</a:t>
            </a:r>
            <a:endParaRPr b="0" i="0" sz="2300" u="none" cap="none" strike="noStrike">
              <a:solidFill>
                <a:schemeClr val="dk1"/>
              </a:solidFill>
              <a:latin typeface="Calibri"/>
              <a:ea typeface="Calibri"/>
              <a:cs typeface="Calibri"/>
              <a:sym typeface="Calibri"/>
            </a:endParaRPr>
          </a:p>
          <a:p>
            <a:pPr indent="0" lvl="0" marL="0" marR="0" rtl="0" algn="l">
              <a:spcBef>
                <a:spcPts val="600"/>
              </a:spcBef>
              <a:spcAft>
                <a:spcPts val="0"/>
              </a:spcAft>
              <a:buNone/>
            </a:pPr>
            <a:r>
              <a:rPr b="0" i="0" lang="vi-VN" sz="1900" u="none" cap="none" strike="noStrike">
                <a:solidFill>
                  <a:schemeClr val="dk1"/>
                </a:solidFill>
                <a:latin typeface="Calibri"/>
                <a:ea typeface="Calibri"/>
                <a:cs typeface="Calibri"/>
                <a:sym typeface="Calibri"/>
              </a:rPr>
              <a:t>Walk-forward CLV benchmark · Uplift learners · Value-adjusted policy · SHAP &amp; CQR</a:t>
            </a:r>
            <a:endParaRPr b="0" i="0" sz="1900" u="none" cap="none" strike="noStrike">
              <a:solidFill>
                <a:schemeClr val="dk1"/>
              </a:solidFill>
              <a:latin typeface="Calibri"/>
              <a:ea typeface="Calibri"/>
              <a:cs typeface="Calibri"/>
              <a:sym typeface="Calibri"/>
            </a:endParaRPr>
          </a:p>
          <a:p>
            <a:pPr indent="0" lvl="0" marL="0" marR="0" rtl="0" algn="l">
              <a:spcBef>
                <a:spcPts val="600"/>
              </a:spcBef>
              <a:spcAft>
                <a:spcPts val="0"/>
              </a:spcAft>
              <a:buNone/>
            </a:pPr>
            <a:r>
              <a:rPr b="1" i="0" lang="vi-VN" sz="2300" u="none" cap="none" strike="noStrike">
                <a:solidFill>
                  <a:srgbClr val="6B21A8"/>
                </a:solidFill>
                <a:latin typeface="Calibri"/>
                <a:ea typeface="Calibri"/>
                <a:cs typeface="Calibri"/>
                <a:sym typeface="Calibri"/>
              </a:rPr>
              <a:t>PART 3 — Modeling, Tool &amp; AI Reflection</a:t>
            </a:r>
            <a:endParaRPr b="0" i="0" sz="2300" u="none" cap="none" strike="noStrike">
              <a:solidFill>
                <a:schemeClr val="dk1"/>
              </a:solidFill>
              <a:latin typeface="Calibri"/>
              <a:ea typeface="Calibri"/>
              <a:cs typeface="Calibri"/>
              <a:sym typeface="Calibri"/>
            </a:endParaRPr>
          </a:p>
          <a:p>
            <a:pPr indent="0" lvl="0" marL="0" marR="0" rtl="0" algn="l">
              <a:spcBef>
                <a:spcPts val="600"/>
              </a:spcBef>
              <a:spcAft>
                <a:spcPts val="0"/>
              </a:spcAft>
              <a:buNone/>
            </a:pPr>
            <a:r>
              <a:rPr b="0" i="0" lang="vi-VN" sz="1900" u="none" cap="none" strike="noStrike">
                <a:solidFill>
                  <a:schemeClr val="dk1"/>
                </a:solidFill>
                <a:latin typeface="Calibri"/>
                <a:ea typeface="Calibri"/>
                <a:cs typeface="Calibri"/>
                <a:sym typeface="Calibri"/>
              </a:rPr>
              <a:t>Model comparison · Targeting report · AI Audit Log · Human Delta · Hallucination Detection</a:t>
            </a:r>
            <a:endParaRPr b="0" i="0" sz="1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 name="Shape 39"/>
        <p:cNvGrpSpPr/>
        <p:nvPr/>
      </p:nvGrpSpPr>
      <p:grpSpPr>
        <a:xfrm>
          <a:off x="0" y="0"/>
          <a:ext cx="0" cy="0"/>
          <a:chOff x="0" y="0"/>
          <a:chExt cx="0" cy="0"/>
        </a:xfrm>
      </p:grpSpPr>
      <p:sp>
        <p:nvSpPr>
          <p:cNvPr id="40" name="Google Shape;40;p11"/>
          <p:cNvSpPr/>
          <p:nvPr/>
        </p:nvSpPr>
        <p:spPr>
          <a:xfrm>
            <a:off x="457201" y="212190"/>
            <a:ext cx="8085015" cy="608427"/>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2800"/>
              <a:buFont typeface="Calibri"/>
              <a:buNone/>
            </a:pPr>
            <a:r>
              <a:rPr b="1" lang="vi-VN" sz="2800">
                <a:solidFill>
                  <a:srgbClr val="1F3864"/>
                </a:solidFill>
                <a:latin typeface="Calibri"/>
                <a:ea typeface="Calibri"/>
                <a:cs typeface="Calibri"/>
                <a:sym typeface="Calibri"/>
              </a:rPr>
              <a:t>Problem Statement</a:t>
            </a:r>
            <a:endParaRPr sz="2800">
              <a:solidFill>
                <a:schemeClr val="dk1"/>
              </a:solidFill>
              <a:latin typeface="Calibri"/>
              <a:ea typeface="Calibri"/>
              <a:cs typeface="Calibri"/>
              <a:sym typeface="Calibri"/>
            </a:endParaRPr>
          </a:p>
        </p:txBody>
      </p:sp>
      <p:graphicFrame>
        <p:nvGraphicFramePr>
          <p:cNvPr id="41" name="Google Shape;41;p11"/>
          <p:cNvGraphicFramePr/>
          <p:nvPr/>
        </p:nvGraphicFramePr>
        <p:xfrm>
          <a:off x="601784" y="820616"/>
          <a:ext cx="3000000" cy="3000000"/>
        </p:xfrm>
        <a:graphic>
          <a:graphicData uri="http://schemas.openxmlformats.org/drawingml/2006/table">
            <a:tbl>
              <a:tblPr>
                <a:noFill/>
                <a:tableStyleId>{9D8E70CB-6C22-48F3-857E-4DB29880E99C}</a:tableStyleId>
              </a:tblPr>
              <a:tblGrid>
                <a:gridCol w="2913825"/>
                <a:gridCol w="5171175"/>
              </a:tblGrid>
              <a:tr h="264875">
                <a:tc>
                  <a:txBody>
                    <a:bodyPr/>
                    <a:lstStyle/>
                    <a:p>
                      <a:pPr indent="0" lvl="0" marL="91440" marR="0" rtl="0" algn="ctr">
                        <a:spcBef>
                          <a:spcPts val="0"/>
                        </a:spcBef>
                        <a:spcAft>
                          <a:spcPts val="0"/>
                        </a:spcAft>
                        <a:buClr>
                          <a:srgbClr val="FFFFFF"/>
                        </a:buClr>
                        <a:buSzPts val="1600"/>
                        <a:buFont typeface="Calibri"/>
                        <a:buNone/>
                      </a:pPr>
                      <a:r>
                        <a:rPr b="1" lang="vi-VN" sz="1200" u="none" cap="none" strike="noStrike">
                          <a:solidFill>
                            <a:srgbClr val="FFFFFF"/>
                          </a:solidFill>
                          <a:latin typeface="Calibri"/>
                          <a:ea typeface="Calibri"/>
                          <a:cs typeface="Calibri"/>
                          <a:sym typeface="Calibri"/>
                        </a:rPr>
                        <a:t>Evaluation Criteria</a:t>
                      </a:r>
                      <a:endParaRPr sz="1200" u="none" cap="none" strike="noStrike"/>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1F3864"/>
                    </a:solidFill>
                  </a:tcPr>
                </a:tc>
                <a:tc>
                  <a:txBody>
                    <a:bodyPr/>
                    <a:lstStyle/>
                    <a:p>
                      <a:pPr indent="0" lvl="0" marL="91440" marR="0" rtl="0" algn="ctr">
                        <a:spcBef>
                          <a:spcPts val="0"/>
                        </a:spcBef>
                        <a:spcAft>
                          <a:spcPts val="0"/>
                        </a:spcAft>
                        <a:buClr>
                          <a:schemeClr val="dk1"/>
                        </a:buClr>
                        <a:buSzPts val="1200"/>
                        <a:buFont typeface="Calibri"/>
                        <a:buNone/>
                      </a:pPr>
                      <a:r>
                        <a:t>Phase 2 — Cross-Context Targeting</a:t>
                      </a:r>
                      <a:endParaRPr sz="1200" u="none" cap="none" strike="noStrike"/>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1F3864"/>
                    </a:solidFill>
                  </a:tcPr>
                </a:tc>
              </a:tr>
              <a:tr h="746500">
                <a:tc>
                  <a:txBody>
                    <a:bodyPr/>
                    <a:lstStyle/>
                    <a:p>
                      <a:pPr indent="0" lvl="0" marL="91440" marR="0" rtl="0" algn="l">
                        <a:spcBef>
                          <a:spcPts val="0"/>
                        </a:spcBef>
                        <a:spcAft>
                          <a:spcPts val="0"/>
                        </a:spcAft>
                        <a:buClr>
                          <a:srgbClr val="2C2C2C"/>
                        </a:buClr>
                        <a:buSzPts val="1400"/>
                        <a:buFont typeface="Calibri"/>
                        <a:buNone/>
                      </a:pPr>
                      <a:r>
                        <a:rPr lang="vi-VN" sz="1200" u="none" cap="none" strike="noStrike">
                          <a:solidFill>
                            <a:srgbClr val="2C2C2C"/>
                          </a:solidFill>
                          <a:latin typeface="Calibri"/>
                          <a:ea typeface="Calibri"/>
                          <a:cs typeface="Calibri"/>
                          <a:sym typeface="Calibri"/>
                        </a:rPr>
                        <a:t>Describe the problem</a:t>
                      </a:r>
                      <a:endParaRPr sz="1200" u="none" cap="none" strike="noStrike">
                        <a:latin typeface="Calibri"/>
                        <a:ea typeface="Calibri"/>
                        <a:cs typeface="Calibri"/>
                        <a:sym typeface="Calibri"/>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c>
                  <a:txBody>
                    <a:bodyPr/>
                    <a:lstStyle/>
                    <a:p>
                      <a:pPr indent="0" lvl="0" marL="0" marR="0" rtl="0" algn="l">
                        <a:spcBef>
                          <a:spcPts val="0"/>
                        </a:spcBef>
                        <a:spcAft>
                          <a:spcPts val="0"/>
                        </a:spcAft>
                        <a:buNone/>
                      </a:pPr>
                      <a:r>
                        <a:rPr lang="vi-VN" sz="1200" u="none" cap="none" strike="noStrike">
                          <a:latin typeface="Calibri"/>
                          <a:ea typeface="Calibri"/>
                          <a:cs typeface="Calibri"/>
                          <a:sym typeface="Calibri"/>
                        </a:rPr>
                        <a:t>Retailers can rank customers by predicted value, but high value is not the same as high persuadability; incentives spent on already-loyal customers are wasted.</a:t>
                      </a:r>
                      <a:endParaRPr sz="1200">
                        <a:solidFill>
                          <a:srgbClr val="1F3A5F"/>
                        </a:solidFill>
                        <a:latin typeface="Calibri"/>
                        <a:ea typeface="Calibri"/>
                        <a:cs typeface="Calibri"/>
                        <a:sym typeface="Calibri"/>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r>
              <a:tr h="577925">
                <a:tc>
                  <a:txBody>
                    <a:bodyPr/>
                    <a:lstStyle/>
                    <a:p>
                      <a:pPr indent="0" lvl="0" marL="91440" marR="0" rtl="0" algn="l">
                        <a:spcBef>
                          <a:spcPts val="0"/>
                        </a:spcBef>
                        <a:spcAft>
                          <a:spcPts val="0"/>
                        </a:spcAft>
                        <a:buClr>
                          <a:srgbClr val="2C2C2C"/>
                        </a:buClr>
                        <a:buSzPts val="1400"/>
                        <a:buFont typeface="Calibri"/>
                        <a:buNone/>
                      </a:pPr>
                      <a:r>
                        <a:rPr lang="vi-VN" sz="1200">
                          <a:solidFill>
                            <a:srgbClr val="2C2C2C"/>
                          </a:solidFill>
                          <a:latin typeface="Calibri"/>
                          <a:ea typeface="Calibri"/>
                          <a:cs typeface="Calibri"/>
                          <a:sym typeface="Calibri"/>
                        </a:rPr>
                        <a:t>State the analysis objective</a:t>
                      </a:r>
                      <a:endParaRPr sz="1200">
                        <a:latin typeface="Calibri"/>
                        <a:ea typeface="Calibri"/>
                        <a:cs typeface="Calibri"/>
                        <a:sym typeface="Calibri"/>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vi-VN" sz="1200">
                          <a:latin typeface="Calibri"/>
                          <a:ea typeface="Calibri"/>
                          <a:cs typeface="Calibri"/>
                          <a:sym typeface="Calibri"/>
                        </a:rPr>
                        <a:t>Connect CLV ranking with uplift-aware targeting and test whether the link holds across three different retail contexts.</a:t>
                      </a:r>
                      <a:endParaRPr sz="1200">
                        <a:solidFill>
                          <a:srgbClr val="1F3A5F"/>
                        </a:solidFill>
                        <a:latin typeface="Calibri"/>
                        <a:ea typeface="Calibri"/>
                        <a:cs typeface="Calibri"/>
                        <a:sym typeface="Calibri"/>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r>
              <a:tr h="577925">
                <a:tc>
                  <a:txBody>
                    <a:bodyPr/>
                    <a:lstStyle/>
                    <a:p>
                      <a:pPr indent="0" lvl="0" marL="91440" marR="0" rtl="0" algn="l">
                        <a:spcBef>
                          <a:spcPts val="0"/>
                        </a:spcBef>
                        <a:spcAft>
                          <a:spcPts val="0"/>
                        </a:spcAft>
                        <a:buClr>
                          <a:srgbClr val="2C2C2C"/>
                        </a:buClr>
                        <a:buSzPts val="1400"/>
                        <a:buFont typeface="Calibri"/>
                        <a:buNone/>
                      </a:pPr>
                      <a:r>
                        <a:rPr lang="vi-VN" sz="1200">
                          <a:solidFill>
                            <a:srgbClr val="2C2C2C"/>
                          </a:solidFill>
                          <a:latin typeface="Calibri"/>
                          <a:ea typeface="Calibri"/>
                          <a:cs typeface="Calibri"/>
                          <a:sym typeface="Calibri"/>
                        </a:rPr>
                        <a:t>Justify the approach</a:t>
                      </a:r>
                      <a:endParaRPr sz="1200">
                        <a:latin typeface="Calibri"/>
                        <a:ea typeface="Calibri"/>
                        <a:cs typeface="Calibri"/>
                        <a:sym typeface="Calibri"/>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c>
                  <a:txBody>
                    <a:bodyPr/>
                    <a:lstStyle/>
                    <a:p>
                      <a:pPr indent="0" lvl="0" marL="0" marR="0" rtl="0" algn="l">
                        <a:spcBef>
                          <a:spcPts val="0"/>
                        </a:spcBef>
                        <a:spcAft>
                          <a:spcPts val="0"/>
                        </a:spcAft>
                        <a:buNone/>
                      </a:pPr>
                      <a:r>
                        <a:rPr lang="vi-VN" sz="1200">
                          <a:latin typeface="Calibri"/>
                          <a:ea typeface="Calibri"/>
                          <a:cs typeface="Calibri"/>
                          <a:sym typeface="Calibri"/>
                        </a:rPr>
                        <a:t>Two-stage Hurdle CLV for ranking, meta-learner uplift (S/T/X) for persuadability, and a value-adjusted policy, all validated walk-forward.</a:t>
                      </a:r>
                      <a:endParaRPr sz="1200">
                        <a:solidFill>
                          <a:srgbClr val="1F3A5F"/>
                        </a:solidFill>
                        <a:latin typeface="Calibri"/>
                        <a:ea typeface="Calibri"/>
                        <a:cs typeface="Calibri"/>
                        <a:sym typeface="Calibri"/>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r>
              <a:tr h="577925">
                <a:tc>
                  <a:txBody>
                    <a:bodyPr/>
                    <a:lstStyle/>
                    <a:p>
                      <a:pPr indent="0" lvl="0" marL="91440" marR="0" rtl="0" algn="l">
                        <a:spcBef>
                          <a:spcPts val="0"/>
                        </a:spcBef>
                        <a:spcAft>
                          <a:spcPts val="0"/>
                        </a:spcAft>
                        <a:buClr>
                          <a:srgbClr val="2C2C2C"/>
                        </a:buClr>
                        <a:buSzPts val="1400"/>
                        <a:buFont typeface="Calibri"/>
                        <a:buNone/>
                      </a:pPr>
                      <a:r>
                        <a:rPr lang="vi-VN" sz="1200">
                          <a:solidFill>
                            <a:srgbClr val="2C2C2C"/>
                          </a:solidFill>
                          <a:latin typeface="Calibri"/>
                          <a:ea typeface="Calibri"/>
                          <a:cs typeface="Calibri"/>
                          <a:sym typeface="Calibri"/>
                        </a:rPr>
                        <a:t>Cite 1–2 reliable sources</a:t>
                      </a:r>
                      <a:endParaRPr sz="1200">
                        <a:latin typeface="Calibri"/>
                        <a:ea typeface="Calibri"/>
                        <a:cs typeface="Calibri"/>
                        <a:sym typeface="Calibri"/>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vi-VN" sz="1200">
                          <a:latin typeface="Calibri"/>
                          <a:ea typeface="Calibri"/>
                          <a:cs typeface="Calibri"/>
                          <a:sym typeface="Calibri"/>
                        </a:rPr>
                        <a:t>Ascarza (2018, JMR); Künzel et al. (2019, PNAS). Data: UCI Online Retail II, Dunnhumby Complete Journey, X5 RetailHero.</a:t>
                      </a:r>
                      <a:endParaRPr sz="1200">
                        <a:solidFill>
                          <a:srgbClr val="1F3A5F"/>
                        </a:solidFill>
                        <a:latin typeface="Calibri"/>
                        <a:ea typeface="Calibri"/>
                        <a:cs typeface="Calibri"/>
                        <a:sym typeface="Calibri"/>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r>
              <a:tr h="577925">
                <a:tc>
                  <a:txBody>
                    <a:bodyPr/>
                    <a:lstStyle/>
                    <a:p>
                      <a:pPr indent="0" lvl="0" marL="91440" marR="0" rtl="0" algn="l">
                        <a:spcBef>
                          <a:spcPts val="0"/>
                        </a:spcBef>
                        <a:spcAft>
                          <a:spcPts val="0"/>
                        </a:spcAft>
                        <a:buClr>
                          <a:srgbClr val="2C2C2C"/>
                        </a:buClr>
                        <a:buSzPts val="1400"/>
                        <a:buFont typeface="Calibri"/>
                        <a:buNone/>
                      </a:pPr>
                      <a:r>
                        <a:rPr lang="vi-VN" sz="1200">
                          <a:solidFill>
                            <a:srgbClr val="2C2C2C"/>
                          </a:solidFill>
                          <a:latin typeface="Calibri"/>
                          <a:ea typeface="Calibri"/>
                          <a:cs typeface="Calibri"/>
                          <a:sym typeface="Calibri"/>
                        </a:rPr>
                        <a:t>AI Audit Log required</a:t>
                      </a:r>
                      <a:endParaRPr sz="1200">
                        <a:latin typeface="Calibri"/>
                        <a:ea typeface="Calibri"/>
                        <a:cs typeface="Calibri"/>
                        <a:sym typeface="Calibri"/>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c>
                  <a:txBody>
                    <a:bodyPr/>
                    <a:lstStyle/>
                    <a:p>
                      <a:pPr indent="0" lvl="0" marL="0" marR="0" rtl="0" algn="l">
                        <a:spcBef>
                          <a:spcPts val="0"/>
                        </a:spcBef>
                        <a:spcAft>
                          <a:spcPts val="0"/>
                        </a:spcAft>
                        <a:buNone/>
                      </a:pPr>
                      <a:r>
                        <a:rPr lang="vi-VN" sz="1200">
                          <a:latin typeface="Calibri"/>
                          <a:ea typeface="Calibri"/>
                          <a:cs typeface="Calibri"/>
                          <a:sym typeface="Calibri"/>
                        </a:rPr>
                        <a:t>20 logged sessions (P2-01–P2-20) documenting prompts, validation, and corrections.</a:t>
                      </a:r>
                      <a:endParaRPr sz="1200">
                        <a:solidFill>
                          <a:srgbClr val="1F3A5F"/>
                        </a:solidFill>
                        <a:latin typeface="Calibri"/>
                        <a:ea typeface="Calibri"/>
                        <a:cs typeface="Calibri"/>
                        <a:sym typeface="Calibri"/>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r>
            </a:tbl>
          </a:graphicData>
        </a:graphic>
      </p:graphicFrame>
      <p:sp>
        <p:nvSpPr>
          <p:cNvPr id="42" name="TextBox 41"/>
          <p:cNvSpPr txBox="1"/>
          <p:nvPr/>
        </p:nvSpPr>
        <p:spPr>
          <a:xfrm>
            <a:off x="457200" y="3875480"/>
            <a:ext cx="8229600" cy="365760"/>
          </a:xfrm>
          <a:prstGeom prst="rect">
            <a:avLst/>
          </a:prstGeom>
          <a:noFill/>
        </p:spPr>
        <p:txBody>
          <a:bodyPr wrap="square">
            <a:spAutoFit/>
          </a:bodyPr>
          <a:lstStyle/>
          <a:p>
            <a:r>
              <a:rPr sz="1300" i="1">
                <a:solidFill>
                  <a:srgbClr val="007A87"/>
                </a:solidFill>
                <a:latin typeface="Calibri"/>
              </a:rPr>
              <a:t>Project logic: CLV ranks who is valuable, uplift estimates who is persuadable, and the value-adjusted policy targets customers who are both valuable and persuadable.</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sp>
        <p:nvSpPr>
          <p:cNvPr id="47" name="Google Shape;47;p12"/>
          <p:cNvSpPr/>
          <p:nvPr/>
        </p:nvSpPr>
        <p:spPr>
          <a:xfrm>
            <a:off x="457200" y="182880"/>
            <a:ext cx="822960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2800"/>
              <a:buFont typeface="Calibri"/>
              <a:buNone/>
            </a:pPr>
            <a:r>
              <a:rPr b="1" lang="vi-VN" sz="2800">
                <a:solidFill>
                  <a:srgbClr val="1F3864"/>
                </a:solidFill>
                <a:latin typeface="Calibri"/>
                <a:ea typeface="Calibri"/>
                <a:cs typeface="Calibri"/>
                <a:sym typeface="Calibri"/>
              </a:rPr>
              <a:t>Research Questions</a:t>
            </a:r>
            <a:endParaRPr sz="2800">
              <a:solidFill>
                <a:schemeClr val="dk1"/>
              </a:solidFill>
              <a:latin typeface="Calibri"/>
              <a:ea typeface="Calibri"/>
              <a:cs typeface="Calibri"/>
              <a:sym typeface="Calibri"/>
            </a:endParaRPr>
          </a:p>
        </p:txBody>
      </p:sp>
      <p:cxnSp>
        <p:nvCxnSpPr>
          <p:cNvPr id="48" name="Google Shape;48;p12"/>
          <p:cNvCxnSpPr/>
          <p:nvPr/>
        </p:nvCxnSpPr>
        <p:spPr>
          <a:xfrm>
            <a:off x="457200" y="960120"/>
            <a:ext cx="8229600" cy="0"/>
          </a:xfrm>
          <a:prstGeom prst="straightConnector1">
            <a:avLst/>
          </a:prstGeom>
          <a:noFill/>
          <a:ln cap="flat" cmpd="sng" w="19050">
            <a:solidFill>
              <a:srgbClr val="4472C4"/>
            </a:solidFill>
            <a:prstDash val="solid"/>
            <a:round/>
            <a:headEnd len="sm" w="sm" type="none"/>
            <a:tailEnd len="sm" w="sm" type="none"/>
          </a:ln>
        </p:spPr>
      </p:cxnSp>
      <p:sp>
        <p:nvSpPr>
          <p:cNvPr id="49" name="Google Shape;49;p12"/>
          <p:cNvSpPr/>
          <p:nvPr/>
        </p:nvSpPr>
        <p:spPr>
          <a:xfrm>
            <a:off x="457200" y="1051550"/>
            <a:ext cx="7933500" cy="3566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vi-VN" sz="1600">
                <a:solidFill>
                  <a:srgbClr val="1F3A5F"/>
                </a:solidFill>
                <a:latin typeface="Calibri"/>
                <a:ea typeface="Calibri"/>
                <a:cs typeface="Calibri"/>
                <a:sym typeface="Calibri"/>
              </a:rPr>
              <a:t>Research Questions (each linked to a SQL query / Python analysis):</a:t>
            </a:r>
            <a:endParaRPr sz="1600">
              <a:solidFill>
                <a:schemeClr val="dk1"/>
              </a:solidFill>
              <a:latin typeface="Calibri"/>
              <a:ea typeface="Calibri"/>
              <a:cs typeface="Calibri"/>
              <a:sym typeface="Calibri"/>
            </a:endParaRPr>
          </a:p>
          <a:p>
            <a:pPr indent="0" lvl="0" marL="0" marR="0" rtl="0" algn="l">
              <a:spcBef>
                <a:spcPts val="150"/>
              </a:spcBef>
              <a:spcAft>
                <a:spcPts val="0"/>
              </a:spcAft>
              <a:buNone/>
            </a:pPr>
            <a:r>
              <a:rPr b="1" lang="vi-VN" sz="1600">
                <a:solidFill>
                  <a:srgbClr val="0D6EFD"/>
                </a:solidFill>
                <a:latin typeface="Calibri"/>
                <a:ea typeface="Calibri"/>
                <a:cs typeface="Calibri"/>
                <a:sym typeface="Calibri"/>
              </a:rPr>
              <a:t>[RQ1] Does a two-stage Hurdle model rank customers by future CLV competitively under walk-forward validation, across e-commerce and grocery?</a:t>
            </a:r>
            <a:endParaRPr sz="1600"/>
          </a:p>
          <a:p>
            <a:pPr indent="0" lvl="0" marL="0" marR="0" rtl="0" algn="l">
              <a:spcBef>
                <a:spcPts val="150"/>
              </a:spcBef>
              <a:spcAft>
                <a:spcPts val="0"/>
              </a:spcAft>
              <a:buNone/>
            </a:pPr>
            <a:r>
              <a:rPr lang="vi-VN" sz="1600">
                <a:solidFill>
                  <a:srgbClr val="64748B"/>
                </a:solidFill>
                <a:latin typeface="Calibri"/>
                <a:ea typeface="Calibri"/>
                <a:cs typeface="Calibri"/>
                <a:sym typeface="Calibri"/>
              </a:rPr>
              <a:t>           Link to: CLV walk-forward benchmark; SQL RFM and window tables.</a:t>
            </a:r>
            <a:endParaRPr sz="1600">
              <a:solidFill>
                <a:schemeClr val="dk1"/>
              </a:solidFill>
              <a:latin typeface="Calibri"/>
              <a:ea typeface="Calibri"/>
              <a:cs typeface="Calibri"/>
              <a:sym typeface="Calibri"/>
            </a:endParaRPr>
          </a:p>
          <a:p>
            <a:pPr indent="0" lvl="0" marL="0" marR="0" rtl="0" algn="l">
              <a:spcBef>
                <a:spcPts val="150"/>
              </a:spcBef>
              <a:spcAft>
                <a:spcPts val="0"/>
              </a:spcAft>
              <a:buNone/>
            </a:pPr>
            <a:r>
              <a:rPr b="1" lang="vi-VN" sz="1600">
                <a:solidFill>
                  <a:srgbClr val="0D6EFD"/>
                </a:solidFill>
                <a:latin typeface="Calibri"/>
                <a:ea typeface="Calibri"/>
                <a:cs typeface="Calibri"/>
                <a:sym typeface="Calibri"/>
              </a:rPr>
              <a:t>[RQ2] Which feature groups (RFM, sequence, semantic) actually improve ranking, and which only add interpretability?</a:t>
            </a:r>
            <a:endParaRPr sz="1600"/>
          </a:p>
          <a:p>
            <a:pPr indent="0" lvl="0" marL="0" marR="0" rtl="0" algn="l">
              <a:spcBef>
                <a:spcPts val="150"/>
              </a:spcBef>
              <a:spcAft>
                <a:spcPts val="0"/>
              </a:spcAft>
              <a:buNone/>
            </a:pPr>
            <a:r>
              <a:rPr lang="vi-VN" sz="1600">
                <a:solidFill>
                  <a:srgbClr val="64748B"/>
                </a:solidFill>
                <a:latin typeface="Calibri"/>
                <a:ea typeface="Calibri"/>
                <a:cs typeface="Calibri"/>
                <a:sym typeface="Calibri"/>
              </a:rPr>
              <a:t>           Link to: leave-one-group-out feature ablation.</a:t>
            </a:r>
            <a:endParaRPr sz="1600">
              <a:solidFill>
                <a:schemeClr val="dk1"/>
              </a:solidFill>
              <a:latin typeface="Calibri"/>
              <a:ea typeface="Calibri"/>
              <a:cs typeface="Calibri"/>
              <a:sym typeface="Calibri"/>
            </a:endParaRPr>
          </a:p>
          <a:p>
            <a:pPr indent="0" lvl="0" marL="0" marR="0" rtl="0" algn="l">
              <a:spcBef>
                <a:spcPts val="150"/>
              </a:spcBef>
              <a:spcAft>
                <a:spcPts val="0"/>
              </a:spcAft>
              <a:buNone/>
            </a:pPr>
            <a:r>
              <a:rPr b="1" lang="vi-VN" sz="1600">
                <a:solidFill>
                  <a:srgbClr val="0D6EFD"/>
                </a:solidFill>
                <a:latin typeface="Calibri"/>
                <a:ea typeface="Calibri"/>
                <a:cs typeface="Calibri"/>
                <a:sym typeface="Calibri"/>
              </a:rPr>
              <a:t>[RQ3] Can meta-learner uplift models recover persuadability where a response model cannot?</a:t>
            </a:r>
            <a:endParaRPr sz="1600"/>
          </a:p>
          <a:p>
            <a:pPr indent="0" lvl="0" marL="0" marR="0" rtl="0" algn="l">
              <a:spcBef>
                <a:spcPts val="150"/>
              </a:spcBef>
              <a:spcAft>
                <a:spcPts val="0"/>
              </a:spcAft>
              <a:buClr>
                <a:srgbClr val="64748B"/>
              </a:buClr>
              <a:buSzPts val="1800"/>
              <a:buFont typeface="Calibri"/>
              <a:buNone/>
            </a:pPr>
            <a:r>
              <a:rPr lang="vi-VN" sz="1600">
                <a:solidFill>
                  <a:srgbClr val="64748B"/>
                </a:solidFill>
                <a:latin typeface="Calibri"/>
                <a:ea typeface="Calibri"/>
                <a:cs typeface="Calibri"/>
                <a:sym typeface="Calibri"/>
              </a:rPr>
              <a:t>           Link to: X5 uplift benchmark (Qini / AUUC / uplift@K).</a:t>
            </a:r>
            <a:endParaRPr sz="1600">
              <a:solidFill>
                <a:schemeClr val="dk1"/>
              </a:solidFill>
              <a:latin typeface="Calibri"/>
              <a:ea typeface="Calibri"/>
              <a:cs typeface="Calibri"/>
              <a:sym typeface="Calibri"/>
            </a:endParaRPr>
          </a:p>
          <a:p>
            <a:pPr indent="0" lvl="0" marL="0" marR="0" rtl="0" algn="l">
              <a:spcBef>
                <a:spcPts val="150"/>
              </a:spcBef>
              <a:spcAft>
                <a:spcPts val="0"/>
              </a:spcAft>
              <a:buClr>
                <a:srgbClr val="0D6EFD"/>
              </a:buClr>
              <a:buSzPts val="1800"/>
              <a:buFont typeface="Calibri"/>
              <a:buNone/>
            </a:pPr>
            <a:r>
              <a:rPr b="1" lang="vi-VN" sz="1600">
                <a:solidFill>
                  <a:srgbClr val="0D6EFD"/>
                </a:solidFill>
                <a:latin typeface="Calibri"/>
                <a:ea typeface="Calibri"/>
                <a:cs typeface="Calibri"/>
                <a:sym typeface="Calibri"/>
              </a:rPr>
              <a:t>[RQ4] Does value-adjusted targeting (uplift × value) raise held-out profit over value-only or uplift-only policies?</a:t>
            </a:r>
            <a:endParaRPr b="1" sz="1600">
              <a:solidFill>
                <a:srgbClr val="0D6EFD"/>
              </a:solidFill>
              <a:latin typeface="Calibri"/>
              <a:ea typeface="Calibri"/>
              <a:cs typeface="Calibri"/>
              <a:sym typeface="Calibri"/>
            </a:endParaRPr>
          </a:p>
          <a:p>
            <a:pPr indent="0" lvl="0" marL="0" marR="0" rtl="0" algn="l">
              <a:spcBef>
                <a:spcPts val="150"/>
              </a:spcBef>
              <a:spcAft>
                <a:spcPts val="0"/>
              </a:spcAft>
              <a:buNone/>
            </a:pPr>
            <a:r>
              <a:rPr lang="vi-VN" sz="1600">
                <a:solidFill>
                  <a:srgbClr val="333333"/>
                </a:solidFill>
                <a:latin typeface="Calibri"/>
                <a:ea typeface="Calibri"/>
                <a:cs typeface="Calibri"/>
                <a:sym typeface="Calibri"/>
              </a:rPr>
              <a:t>           Link to: held-out policy profit simulation.</a:t>
            </a:r>
            <a:endParaRPr sz="16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3"/>
          <p:cNvSpPr/>
          <p:nvPr/>
        </p:nvSpPr>
        <p:spPr>
          <a:xfrm>
            <a:off x="457200" y="182880"/>
            <a:ext cx="822960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2800"/>
              <a:buFont typeface="Calibri"/>
              <a:buNone/>
            </a:pPr>
            <a:r>
              <a:rPr b="1" lang="vi-VN" sz="2800">
                <a:solidFill>
                  <a:srgbClr val="1F3864"/>
                </a:solidFill>
                <a:latin typeface="Calibri"/>
                <a:ea typeface="Calibri"/>
                <a:cs typeface="Calibri"/>
                <a:sym typeface="Calibri"/>
              </a:rPr>
              <a:t>Data Understanding</a:t>
            </a:r>
            <a:endParaRPr sz="2800">
              <a:solidFill>
                <a:schemeClr val="dk1"/>
              </a:solidFill>
              <a:latin typeface="Calibri"/>
              <a:ea typeface="Calibri"/>
              <a:cs typeface="Calibri"/>
              <a:sym typeface="Calibri"/>
            </a:endParaRPr>
          </a:p>
        </p:txBody>
      </p:sp>
      <p:cxnSp>
        <p:nvCxnSpPr>
          <p:cNvPr id="56" name="Google Shape;56;p13"/>
          <p:cNvCxnSpPr/>
          <p:nvPr/>
        </p:nvCxnSpPr>
        <p:spPr>
          <a:xfrm>
            <a:off x="457200" y="960120"/>
            <a:ext cx="8229600" cy="0"/>
          </a:xfrm>
          <a:prstGeom prst="straightConnector1">
            <a:avLst/>
          </a:prstGeom>
          <a:noFill/>
          <a:ln cap="flat" cmpd="sng" w="19050">
            <a:solidFill>
              <a:srgbClr val="4472C4"/>
            </a:solidFill>
            <a:prstDash val="solid"/>
            <a:round/>
            <a:headEnd len="sm" w="sm" type="none"/>
            <a:tailEnd len="sm" w="sm" type="none"/>
          </a:ln>
        </p:spPr>
      </p:cxnSp>
      <p:graphicFrame>
        <p:nvGraphicFramePr>
          <p:cNvPr id="57" name="Google Shape;57;p13"/>
          <p:cNvGraphicFramePr/>
          <p:nvPr/>
        </p:nvGraphicFramePr>
        <p:xfrm>
          <a:off x="457200" y="1081630"/>
          <a:ext cx="3000000" cy="3000000"/>
        </p:xfrm>
        <a:graphic>
          <a:graphicData uri="http://schemas.openxmlformats.org/drawingml/2006/table">
            <a:tbl>
              <a:tblPr>
                <a:noFill/>
                <a:tableStyleId>{9D8E70CB-6C22-48F3-857E-4DB29880E99C}</a:tableStyleId>
              </a:tblPr>
              <a:tblGrid>
                <a:gridCol w="2886000"/>
                <a:gridCol w="5030850"/>
              </a:tblGrid>
              <a:tr h="285375">
                <a:tc>
                  <a:txBody>
                    <a:bodyPr/>
                    <a:lstStyle/>
                    <a:p>
                      <a:pPr indent="0" lvl="0" marL="91440" marR="0" rtl="0" algn="ctr">
                        <a:spcBef>
                          <a:spcPts val="0"/>
                        </a:spcBef>
                        <a:spcAft>
                          <a:spcPts val="0"/>
                        </a:spcAft>
                        <a:buClr>
                          <a:srgbClr val="FFFFFF"/>
                        </a:buClr>
                        <a:buSzPts val="1400"/>
                        <a:buFont typeface="Calibri"/>
                        <a:buNone/>
                      </a:pPr>
                      <a:r>
                        <a:rPr b="1" lang="vi-VN" sz="1400">
                          <a:solidFill>
                            <a:srgbClr val="FFFFFF"/>
                          </a:solidFill>
                          <a:latin typeface="Calibri"/>
                          <a:ea typeface="Calibri"/>
                          <a:cs typeface="Calibri"/>
                          <a:sym typeface="Calibri"/>
                        </a:rPr>
                        <a:t>What to present</a:t>
                      </a:r>
                      <a:endParaRPr sz="14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1F3864"/>
                    </a:solidFill>
                  </a:tcPr>
                </a:tc>
                <a:tc>
                  <a:txBody>
                    <a:bodyPr/>
                    <a:lstStyle/>
                    <a:p>
                      <a:pPr indent="0" lvl="0" marL="91440" marR="0" rtl="0" algn="ctr">
                        <a:spcBef>
                          <a:spcPts val="0"/>
                        </a:spcBef>
                        <a:spcAft>
                          <a:spcPts val="0"/>
                        </a:spcAft>
                        <a:buClr>
                          <a:srgbClr val="FFFFFF"/>
                        </a:buClr>
                        <a:buSzPts val="1400"/>
                        <a:buFont typeface="Calibri"/>
                        <a:buNone/>
                      </a:pPr>
                      <a:r>
                        <a:rPr b="1" lang="vi-VN" sz="1400">
                          <a:solidFill>
                            <a:srgbClr val="FFFFFF"/>
                          </a:solidFill>
                          <a:latin typeface="Calibri"/>
                          <a:ea typeface="Calibri"/>
                          <a:cs typeface="Calibri"/>
                          <a:sym typeface="Calibri"/>
                        </a:rPr>
                        <a:t>Phase 2 — Three Retail Contexts</a:t>
                      </a:r>
                      <a:endParaRPr sz="14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1F3864"/>
                    </a:solidFill>
                  </a:tcPr>
                </a:tc>
              </a:tr>
              <a:tr h="436950">
                <a:tc>
                  <a:txBody>
                    <a:bodyPr/>
                    <a:lstStyle/>
                    <a:p>
                      <a:pPr indent="0" lvl="0" marL="91440" marR="0" rtl="0" algn="l">
                        <a:spcBef>
                          <a:spcPts val="0"/>
                        </a:spcBef>
                        <a:spcAft>
                          <a:spcPts val="0"/>
                        </a:spcAft>
                        <a:buClr>
                          <a:srgbClr val="2C2C2C"/>
                        </a:buClr>
                        <a:buSzPts val="1200"/>
                        <a:buFont typeface="Calibri"/>
                        <a:buNone/>
                      </a:pPr>
                      <a:r>
                        <a:rPr lang="vi-VN" sz="1200">
                          <a:solidFill>
                            <a:srgbClr val="2C2C2C"/>
                          </a:solidFill>
                          <a:latin typeface="Calibri"/>
                          <a:ea typeface="Calibri"/>
                          <a:cs typeface="Calibri"/>
                          <a:sym typeface="Calibri"/>
                        </a:rPr>
                        <a:t>Data source</a:t>
                      </a:r>
                      <a:endParaRPr sz="12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c>
                  <a:txBody>
                    <a:bodyPr/>
                    <a:lstStyle/>
                    <a:p>
                      <a:pPr indent="0" lvl="0" marL="0" marR="0" rtl="0" algn="l">
                        <a:spcBef>
                          <a:spcPts val="0"/>
                        </a:spcBef>
                        <a:spcAft>
                          <a:spcPts val="0"/>
                        </a:spcAft>
                        <a:buNone/>
                      </a:pPr>
                      <a:r>
                        <a:rPr lang="vi-VN" sz="1200">
                          <a:solidFill>
                            <a:srgbClr val="1F3A5F"/>
                          </a:solidFill>
                          <a:latin typeface="Calibri"/>
                          <a:ea typeface="Calibri"/>
                          <a:cs typeface="Calibri"/>
                          <a:sym typeface="Calibri"/>
                        </a:rPr>
                        <a:t>UCI Online Retail II (e-commerce); Dunnhumby Complete Journey (grocery panel); X5 RetailHero (grocery, with a treatment flag).</a:t>
                      </a:r>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r>
              <a:tr h="436950">
                <a:tc>
                  <a:txBody>
                    <a:bodyPr/>
                    <a:lstStyle/>
                    <a:p>
                      <a:pPr indent="0" lvl="0" marL="91440" marR="0" rtl="0" algn="l">
                        <a:spcBef>
                          <a:spcPts val="0"/>
                        </a:spcBef>
                        <a:spcAft>
                          <a:spcPts val="0"/>
                        </a:spcAft>
                        <a:buClr>
                          <a:srgbClr val="2C2C2C"/>
                        </a:buClr>
                        <a:buSzPts val="1200"/>
                        <a:buFont typeface="Calibri"/>
                        <a:buNone/>
                      </a:pPr>
                      <a:r>
                        <a:rPr lang="vi-VN" sz="1200">
                          <a:solidFill>
                            <a:srgbClr val="2C2C2C"/>
                          </a:solidFill>
                          <a:latin typeface="Calibri"/>
                          <a:ea typeface="Calibri"/>
                          <a:cs typeface="Calibri"/>
                          <a:sym typeface="Calibri"/>
                        </a:rPr>
                        <a:t>Dataset size</a:t>
                      </a:r>
                      <a:endParaRPr sz="12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vi-VN" sz="1200">
                          <a:solidFill>
                            <a:srgbClr val="1F3A5F"/>
                          </a:solidFill>
                          <a:latin typeface="Calibri"/>
                          <a:ea typeface="Calibri"/>
                          <a:cs typeface="Calibri"/>
                          <a:sym typeface="Calibri"/>
                        </a:rPr>
                        <a:t>Online Retail II ≈ 5,852 customers; Dunnhumby ≈ 2,500 households; X5 ≈ 200k customers (held-out evaluation on 60,010).</a:t>
                      </a:r>
                      <a:endParaRPr b="0" sz="12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r>
              <a:tr h="770500">
                <a:tc>
                  <a:txBody>
                    <a:bodyPr/>
                    <a:lstStyle/>
                    <a:p>
                      <a:pPr indent="0" lvl="0" marL="91440" marR="0" rtl="0" algn="l">
                        <a:spcBef>
                          <a:spcPts val="0"/>
                        </a:spcBef>
                        <a:spcAft>
                          <a:spcPts val="0"/>
                        </a:spcAft>
                        <a:buClr>
                          <a:srgbClr val="2C2C2C"/>
                        </a:buClr>
                        <a:buSzPts val="1200"/>
                        <a:buFont typeface="Calibri"/>
                        <a:buNone/>
                      </a:pPr>
                      <a:r>
                        <a:rPr lang="vi-VN" sz="1200">
                          <a:solidFill>
                            <a:srgbClr val="2C2C2C"/>
                          </a:solidFill>
                          <a:latin typeface="Calibri"/>
                          <a:ea typeface="Calibri"/>
                          <a:cs typeface="Calibri"/>
                          <a:sym typeface="Calibri"/>
                        </a:rPr>
                        <a:t>Key variables</a:t>
                      </a:r>
                      <a:endParaRPr sz="12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c>
                  <a:txBody>
                    <a:bodyPr/>
                    <a:lstStyle/>
                    <a:p>
                      <a:pPr indent="0" lvl="0" marL="0" marR="0" rtl="0" algn="l">
                        <a:spcBef>
                          <a:spcPts val="0"/>
                        </a:spcBef>
                        <a:spcAft>
                          <a:spcPts val="0"/>
                        </a:spcAft>
                        <a:buNone/>
                      </a:pPr>
                      <a:r>
                        <a:rPr b="0" lang="vi-VN" sz="1200">
                          <a:solidFill>
                            <a:srgbClr val="1F3A5F"/>
                          </a:solidFill>
                          <a:latin typeface="Calibri"/>
                          <a:ea typeface="Calibri"/>
                          <a:cs typeface="Calibri"/>
                          <a:sym typeface="Calibri"/>
                        </a:rPr>
                        <a:t>Target = future 6-month CLV for ranking; treatment flag + conversion for uplift; features = RFM, recent sequence, semantic taste.</a:t>
                      </a:r>
                      <a:endParaRPr b="0" sz="12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r>
              <a:tr h="616900">
                <a:tc>
                  <a:txBody>
                    <a:bodyPr/>
                    <a:lstStyle/>
                    <a:p>
                      <a:pPr indent="0" lvl="0" marL="91440" marR="0" rtl="0" algn="l">
                        <a:spcBef>
                          <a:spcPts val="0"/>
                        </a:spcBef>
                        <a:spcAft>
                          <a:spcPts val="0"/>
                        </a:spcAft>
                        <a:buClr>
                          <a:srgbClr val="2C2C2C"/>
                        </a:buClr>
                        <a:buSzPts val="1200"/>
                        <a:buFont typeface="Calibri"/>
                        <a:buNone/>
                      </a:pPr>
                      <a:r>
                        <a:rPr lang="vi-VN" sz="1200">
                          <a:solidFill>
                            <a:srgbClr val="2C2C2C"/>
                          </a:solidFill>
                          <a:latin typeface="Calibri"/>
                          <a:ea typeface="Calibri"/>
                          <a:cs typeface="Calibri"/>
                          <a:sym typeface="Calibri"/>
                        </a:rPr>
                        <a:t>Preprocessing decisions</a:t>
                      </a:r>
                      <a:endParaRPr sz="12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vi-VN" sz="1200">
                          <a:solidFill>
                            <a:srgbClr val="1F3A5F"/>
                          </a:solidFill>
                          <a:latin typeface="Calibri"/>
                          <a:ea typeface="Calibri"/>
                          <a:cs typeface="Calibri"/>
                          <a:sym typeface="Calibri"/>
                        </a:rPr>
                        <a:t>Walk-forward windows (OR-II W1–W3, Dunnhumby D1–D4); covariate balance check on X5 (max |SMD| &lt; 0.01).</a:t>
                      </a:r>
                      <a:endParaRPr b="0" sz="12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r>
              <a:tr h="613625">
                <a:tc>
                  <a:txBody>
                    <a:bodyPr/>
                    <a:lstStyle/>
                    <a:p>
                      <a:pPr indent="0" lvl="0" marL="91440" marR="0" rtl="0" algn="l">
                        <a:spcBef>
                          <a:spcPts val="0"/>
                        </a:spcBef>
                        <a:spcAft>
                          <a:spcPts val="0"/>
                        </a:spcAft>
                        <a:buClr>
                          <a:srgbClr val="2C2C2C"/>
                        </a:buClr>
                        <a:buSzPts val="1200"/>
                        <a:buFont typeface="Calibri"/>
                        <a:buNone/>
                      </a:pPr>
                      <a:r>
                        <a:rPr lang="vi-VN" sz="1200">
                          <a:solidFill>
                            <a:srgbClr val="2C2C2C"/>
                          </a:solidFill>
                          <a:latin typeface="Calibri"/>
                          <a:ea typeface="Calibri"/>
                          <a:cs typeface="Calibri"/>
                          <a:sym typeface="Calibri"/>
                        </a:rPr>
                        <a:t>EDA charts</a:t>
                      </a:r>
                      <a:endParaRPr sz="12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c>
                  <a:txBody>
                    <a:bodyPr/>
                    <a:lstStyle/>
                    <a:p>
                      <a:pPr indent="0" lvl="0" marL="0" marR="0" rtl="0" algn="l">
                        <a:spcBef>
                          <a:spcPts val="0"/>
                        </a:spcBef>
                        <a:spcAft>
                          <a:spcPts val="0"/>
                        </a:spcAft>
                        <a:buNone/>
                      </a:pPr>
                      <a:r>
                        <a:rPr b="0" lang="vi-VN" sz="1200">
                          <a:solidFill>
                            <a:srgbClr val="1F3A5F"/>
                          </a:solidFill>
                          <a:latin typeface="Calibri"/>
                          <a:ea typeface="Calibri"/>
                          <a:cs typeface="Calibri"/>
                          <a:sym typeface="Calibri"/>
                        </a:rPr>
                        <a:t>CLV zero-inflation; X5 treatment vs control uplift signal; cross-context ranking comparison.</a:t>
                      </a:r>
                      <a:endParaRPr b="0" sz="12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r>
              <a:tr h="599275">
                <a:tc>
                  <a:txBody>
                    <a:bodyPr/>
                    <a:lstStyle/>
                    <a:p>
                      <a:pPr indent="0" lvl="0" marL="91440" marR="0" rtl="0" algn="l">
                        <a:spcBef>
                          <a:spcPts val="0"/>
                        </a:spcBef>
                        <a:spcAft>
                          <a:spcPts val="0"/>
                        </a:spcAft>
                        <a:buClr>
                          <a:srgbClr val="2C2C2C"/>
                        </a:buClr>
                        <a:buSzPts val="1200"/>
                        <a:buFont typeface="Calibri"/>
                        <a:buNone/>
                      </a:pPr>
                      <a:r>
                        <a:rPr lang="vi-VN" sz="1200">
                          <a:solidFill>
                            <a:srgbClr val="2C2C2C"/>
                          </a:solidFill>
                          <a:latin typeface="Calibri"/>
                          <a:ea typeface="Calibri"/>
                          <a:cs typeface="Calibri"/>
                          <a:sym typeface="Calibri"/>
                        </a:rPr>
                        <a:t>AI Audit Log</a:t>
                      </a:r>
                      <a:endParaRPr sz="12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vi-VN" sz="1200">
                          <a:solidFill>
                            <a:srgbClr val="1F3A5F"/>
                          </a:solidFill>
                          <a:latin typeface="Calibri"/>
                          <a:ea typeface="Calibri"/>
                          <a:cs typeface="Calibri"/>
                          <a:sym typeface="Calibri"/>
                        </a:rPr>
                        <a:t>Prompts for data loading and split design logged (P2-02–P2-06).</a:t>
                      </a:r>
                      <a:endParaRPr b="0" sz="12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p:nvPr/>
        </p:nvSpPr>
        <p:spPr>
          <a:xfrm>
            <a:off x="457200" y="182880"/>
            <a:ext cx="8229600" cy="777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2800"/>
              <a:buFont typeface="Calibri"/>
              <a:buNone/>
            </a:pPr>
            <a:r>
              <a:rPr b="1" lang="vi-VN" sz="2800">
                <a:solidFill>
                  <a:srgbClr val="1F3864"/>
                </a:solidFill>
                <a:latin typeface="Calibri"/>
                <a:ea typeface="Calibri"/>
                <a:cs typeface="Calibri"/>
                <a:sym typeface="Calibri"/>
              </a:rPr>
              <a:t>Data Understanding - </a:t>
            </a:r>
            <a:r>
              <a:rPr b="1" lang="vi-VN" sz="2800">
                <a:solidFill>
                  <a:srgbClr val="1F3864"/>
                </a:solidFill>
                <a:latin typeface="Calibri"/>
                <a:ea typeface="Calibri"/>
                <a:cs typeface="Calibri"/>
                <a:sym typeface="Calibri"/>
              </a:rPr>
              <a:t>EDA Charts</a:t>
            </a:r>
            <a:endParaRPr sz="2800">
              <a:solidFill>
                <a:schemeClr val="dk1"/>
              </a:solidFill>
              <a:latin typeface="Calibri"/>
              <a:ea typeface="Calibri"/>
              <a:cs typeface="Calibri"/>
              <a:sym typeface="Calibri"/>
            </a:endParaRPr>
          </a:p>
        </p:txBody>
      </p:sp>
      <p:cxnSp>
        <p:nvCxnSpPr>
          <p:cNvPr id="64" name="Google Shape;64;p14"/>
          <p:cNvCxnSpPr/>
          <p:nvPr/>
        </p:nvCxnSpPr>
        <p:spPr>
          <a:xfrm>
            <a:off x="457200" y="960120"/>
            <a:ext cx="8229600" cy="0"/>
          </a:xfrm>
          <a:prstGeom prst="straightConnector1">
            <a:avLst/>
          </a:prstGeom>
          <a:noFill/>
          <a:ln cap="flat" cmpd="sng" w="19050">
            <a:solidFill>
              <a:srgbClr val="4472C4"/>
            </a:solidFill>
            <a:prstDash val="solid"/>
            <a:round/>
            <a:headEnd len="sm" w="sm" type="none"/>
            <a:tailEnd len="sm" w="sm" type="none"/>
          </a:ln>
        </p:spPr>
      </p:cxnSp>
      <p:sp>
        <p:nvSpPr>
          <p:cNvPr id="66" name="Google Shape;66;p14"/>
          <p:cNvSpPr txBox="1"/>
          <p:nvPr/>
        </p:nvSpPr>
        <p:spPr>
          <a:xfrm>
            <a:off x="2333975" y="2590588"/>
            <a:ext cx="3886200" cy="2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vi-VN" sz="850">
                <a:solidFill>
                  <a:srgbClr val="333333"/>
                </a:solidFill>
                <a:latin typeface="Calibri"/>
                <a:ea typeface="Calibri"/>
                <a:cs typeface="Calibri"/>
                <a:sym typeface="Calibri"/>
              </a:rPr>
              <a:t>Cross-context ranking comparison</a:t>
            </a:r>
            <a:endParaRPr/>
          </a:p>
        </p:txBody>
      </p:sp>
      <p:sp>
        <p:nvSpPr>
          <p:cNvPr id="68" name="Google Shape;68;p14"/>
          <p:cNvSpPr txBox="1"/>
          <p:nvPr/>
        </p:nvSpPr>
        <p:spPr>
          <a:xfrm>
            <a:off x="457200" y="4773168"/>
            <a:ext cx="3886200" cy="2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vi-VN" sz="850">
                <a:solidFill>
                  <a:srgbClr val="333333"/>
                </a:solidFill>
                <a:latin typeface="Calibri"/>
                <a:ea typeface="Calibri"/>
                <a:cs typeface="Calibri"/>
                <a:sym typeface="Calibri"/>
              </a:rPr>
              <a:t>CLV target is zero-inflated (Dunnhumby)</a:t>
            </a:r>
            <a:endParaRPr/>
          </a:p>
        </p:txBody>
      </p:sp>
      <p:sp>
        <p:nvSpPr>
          <p:cNvPr id="70" name="Google Shape;70;p14"/>
          <p:cNvSpPr txBox="1"/>
          <p:nvPr/>
        </p:nvSpPr>
        <p:spPr>
          <a:xfrm>
            <a:off x="5024970" y="4773168"/>
            <a:ext cx="3886200" cy="2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vi-VN" sz="850">
                <a:solidFill>
                  <a:srgbClr val="333333"/>
                </a:solidFill>
                <a:latin typeface="Calibri"/>
                <a:ea typeface="Calibri"/>
                <a:cs typeface="Calibri"/>
                <a:sym typeface="Calibri"/>
              </a:rPr>
              <a:t>Treatment vs control — uplift signal (X5)</a:t>
            </a:r>
            <a:endParaRPr/>
          </a:p>
        </p:txBody>
      </p:sp>
      <p:pic>
        <p:nvPicPr>
          <p:cNvPr id="71" name="Picture 70" descr="context_comparison.png"/>
          <p:cNvPicPr>
            <a:picLocks noChangeAspect="1"/>
          </p:cNvPicPr>
          <p:nvPr/>
        </p:nvPicPr>
        <p:blipFill>
          <a:blip r:embed="rId6"/>
          <a:stretch>
            <a:fillRect/>
          </a:stretch>
        </p:blipFill>
        <p:spPr>
          <a:xfrm>
            <a:off x="2126875" y="960175"/>
            <a:ext cx="3990595" cy="1630426"/>
          </a:xfrm>
          <a:prstGeom prst="rect">
            <a:avLst/>
          </a:prstGeom>
        </p:spPr>
      </p:pic>
      <p:pic>
        <p:nvPicPr>
          <p:cNvPr id="72" name="Picture 71" descr="audit_dunnhumby_zero_skew.png"/>
          <p:cNvPicPr>
            <a:picLocks noChangeAspect="1"/>
          </p:cNvPicPr>
          <p:nvPr/>
        </p:nvPicPr>
        <p:blipFill>
          <a:blip r:embed="rId7"/>
          <a:stretch>
            <a:fillRect/>
          </a:stretch>
        </p:blipFill>
        <p:spPr>
          <a:xfrm>
            <a:off x="321030" y="2813800"/>
            <a:ext cx="3679723" cy="1946199"/>
          </a:xfrm>
          <a:prstGeom prst="rect">
            <a:avLst/>
          </a:prstGeom>
        </p:spPr>
      </p:pic>
      <p:pic>
        <p:nvPicPr>
          <p:cNvPr id="73" name="Picture 72" descr="audit_x5_uplift_signal.png"/>
          <p:cNvPicPr>
            <a:picLocks noChangeAspect="1"/>
          </p:cNvPicPr>
          <p:nvPr/>
        </p:nvPicPr>
        <p:blipFill>
          <a:blip r:embed="rId8"/>
          <a:stretch>
            <a:fillRect/>
          </a:stretch>
        </p:blipFill>
        <p:spPr>
          <a:xfrm>
            <a:off x="3904475" y="2761500"/>
            <a:ext cx="5130626" cy="1946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5"/>
          <p:cNvSpPr/>
          <p:nvPr/>
        </p:nvSpPr>
        <p:spPr>
          <a:xfrm>
            <a:off x="457200" y="182880"/>
            <a:ext cx="822960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2800"/>
              <a:buFont typeface="Calibri"/>
              <a:buNone/>
            </a:pPr>
            <a:r>
              <a:rPr b="1" lang="vi-VN" sz="2800">
                <a:solidFill>
                  <a:srgbClr val="1F3864"/>
                </a:solidFill>
                <a:latin typeface="Calibri"/>
                <a:ea typeface="Calibri"/>
                <a:cs typeface="Calibri"/>
                <a:sym typeface="Calibri"/>
              </a:rPr>
              <a:t>SQL Queries — </a:t>
            </a:r>
            <a:r>
              <a:rPr b="1" lang="vi-VN" sz="2800">
                <a:solidFill>
                  <a:srgbClr val="1F3864"/>
                </a:solidFill>
                <a:latin typeface="Calibri"/>
                <a:ea typeface="Calibri"/>
                <a:cs typeface="Calibri"/>
                <a:sym typeface="Calibri"/>
              </a:rPr>
              <a:t>What We Used SQL For</a:t>
            </a:r>
            <a:r>
              <a:rPr lang="vi-VN" sz="1100">
                <a:solidFill>
                  <a:schemeClr val="dk1"/>
                </a:solidFill>
              </a:rPr>
              <a:t> </a:t>
            </a:r>
            <a:endParaRPr sz="2800">
              <a:solidFill>
                <a:schemeClr val="dk1"/>
              </a:solidFill>
              <a:latin typeface="Calibri"/>
              <a:ea typeface="Calibri"/>
              <a:cs typeface="Calibri"/>
              <a:sym typeface="Calibri"/>
            </a:endParaRPr>
          </a:p>
        </p:txBody>
      </p:sp>
      <p:cxnSp>
        <p:nvCxnSpPr>
          <p:cNvPr id="77" name="Google Shape;77;p15"/>
          <p:cNvCxnSpPr/>
          <p:nvPr/>
        </p:nvCxnSpPr>
        <p:spPr>
          <a:xfrm>
            <a:off x="457200" y="960120"/>
            <a:ext cx="8229600" cy="0"/>
          </a:xfrm>
          <a:prstGeom prst="straightConnector1">
            <a:avLst/>
          </a:prstGeom>
          <a:noFill/>
          <a:ln cap="flat" cmpd="sng" w="19050">
            <a:solidFill>
              <a:srgbClr val="4472C4"/>
            </a:solidFill>
            <a:prstDash val="solid"/>
            <a:round/>
            <a:headEnd len="sm" w="sm" type="none"/>
            <a:tailEnd len="sm" w="sm" type="none"/>
          </a:ln>
        </p:spPr>
      </p:cxnSp>
      <p:sp>
        <p:nvSpPr>
          <p:cNvPr id="78" name="Google Shape;78;p15"/>
          <p:cNvSpPr/>
          <p:nvPr/>
        </p:nvSpPr>
        <p:spPr>
          <a:xfrm>
            <a:off x="457200" y="1051560"/>
            <a:ext cx="8229600" cy="393192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vi-VN">
                <a:solidFill>
                  <a:srgbClr val="1F3A5F"/>
                </a:solidFill>
                <a:latin typeface="Calibri"/>
                <a:ea typeface="Calibri"/>
                <a:cs typeface="Calibri"/>
                <a:sym typeface="Calibri"/>
              </a:rPr>
              <a:t>SQL (DuckDB, in-memory) turns raw transactions into model-ready tables for all three datasets:</a:t>
            </a:r>
            <a:endParaRPr b="1">
              <a:solidFill>
                <a:srgbClr val="1F3A5F"/>
              </a:solidFill>
              <a:latin typeface="Calibri"/>
              <a:ea typeface="Calibri"/>
              <a:cs typeface="Calibri"/>
              <a:sym typeface="Calibri"/>
            </a:endParaRPr>
          </a:p>
          <a:p>
            <a:pPr indent="0" lvl="0" marL="0" rtl="0" algn="l">
              <a:lnSpc>
                <a:spcPct val="115000"/>
              </a:lnSpc>
              <a:spcBef>
                <a:spcPts val="500"/>
              </a:spcBef>
              <a:spcAft>
                <a:spcPts val="0"/>
              </a:spcAft>
              <a:buClr>
                <a:schemeClr val="dk1"/>
              </a:buClr>
              <a:buSzPts val="1100"/>
              <a:buFont typeface="Arial"/>
              <a:buNone/>
            </a:pPr>
            <a:r>
              <a:rPr lang="vi-VN">
                <a:solidFill>
                  <a:srgbClr val="333333"/>
                </a:solidFill>
                <a:latin typeface="Calibri"/>
                <a:ea typeface="Calibri"/>
                <a:cs typeface="Calibri"/>
                <a:sym typeface="Calibri"/>
              </a:rPr>
              <a:t>•  Clean &amp; validate — keep Quantity &gt; 0 and Price &gt; 0, drop missing IDs, remove cancellations and duplicates.</a:t>
            </a:r>
            <a:endParaRPr>
              <a:solidFill>
                <a:srgbClr val="333333"/>
              </a:solidFill>
              <a:latin typeface="Calibri"/>
              <a:ea typeface="Calibri"/>
              <a:cs typeface="Calibri"/>
              <a:sym typeface="Calibri"/>
            </a:endParaRPr>
          </a:p>
          <a:p>
            <a:pPr indent="0" lvl="0" marL="0" rtl="0" algn="l">
              <a:lnSpc>
                <a:spcPct val="115000"/>
              </a:lnSpc>
              <a:spcBef>
                <a:spcPts val="500"/>
              </a:spcBef>
              <a:spcAft>
                <a:spcPts val="0"/>
              </a:spcAft>
              <a:buClr>
                <a:schemeClr val="dk1"/>
              </a:buClr>
              <a:buSzPts val="1100"/>
              <a:buFont typeface="Arial"/>
              <a:buNone/>
            </a:pPr>
            <a:r>
              <a:rPr lang="vi-VN">
                <a:solidFill>
                  <a:srgbClr val="333333"/>
                </a:solidFill>
                <a:latin typeface="Calibri"/>
                <a:ea typeface="Calibri"/>
                <a:cs typeface="Calibri"/>
                <a:sym typeface="Calibri"/>
              </a:rPr>
              <a:t>•  Customer-level RFM plus a monetary value proxy (pre-period spend) per dataset.</a:t>
            </a:r>
            <a:endParaRPr>
              <a:solidFill>
                <a:srgbClr val="333333"/>
              </a:solidFill>
              <a:latin typeface="Calibri"/>
              <a:ea typeface="Calibri"/>
              <a:cs typeface="Calibri"/>
              <a:sym typeface="Calibri"/>
            </a:endParaRPr>
          </a:p>
          <a:p>
            <a:pPr indent="0" lvl="0" marL="0" rtl="0" algn="l">
              <a:lnSpc>
                <a:spcPct val="115000"/>
              </a:lnSpc>
              <a:spcBef>
                <a:spcPts val="500"/>
              </a:spcBef>
              <a:spcAft>
                <a:spcPts val="0"/>
              </a:spcAft>
              <a:buClr>
                <a:schemeClr val="dk1"/>
              </a:buClr>
              <a:buSzPts val="1100"/>
              <a:buFont typeface="Arial"/>
              <a:buNone/>
            </a:pPr>
            <a:r>
              <a:rPr lang="vi-VN">
                <a:solidFill>
                  <a:srgbClr val="333333"/>
                </a:solidFill>
                <a:latin typeface="Calibri"/>
                <a:ea typeface="Calibri"/>
                <a:cs typeface="Calibri"/>
                <a:sym typeface="Calibri"/>
              </a:rPr>
              <a:t>•  Walk-forward windows — past-only features versus the future-period CLV label, with no leakage.</a:t>
            </a:r>
            <a:endParaRPr>
              <a:solidFill>
                <a:srgbClr val="333333"/>
              </a:solidFill>
              <a:latin typeface="Calibri"/>
              <a:ea typeface="Calibri"/>
              <a:cs typeface="Calibri"/>
              <a:sym typeface="Calibri"/>
            </a:endParaRPr>
          </a:p>
          <a:p>
            <a:pPr indent="0" lvl="0" marL="0" rtl="0" algn="l">
              <a:lnSpc>
                <a:spcPct val="115000"/>
              </a:lnSpc>
              <a:spcBef>
                <a:spcPts val="500"/>
              </a:spcBef>
              <a:spcAft>
                <a:spcPts val="0"/>
              </a:spcAft>
              <a:buClr>
                <a:schemeClr val="dk1"/>
              </a:buClr>
              <a:buSzPts val="1100"/>
              <a:buFont typeface="Arial"/>
              <a:buNone/>
            </a:pPr>
            <a:r>
              <a:rPr lang="vi-VN">
                <a:solidFill>
                  <a:srgbClr val="333333"/>
                </a:solidFill>
                <a:latin typeface="Calibri"/>
                <a:ea typeface="Calibri"/>
                <a:cs typeface="Calibri"/>
                <a:sym typeface="Calibri"/>
              </a:rPr>
              <a:t>•  X5 treatment / control cohorts — align the communication flag with the conversion outcome.</a:t>
            </a:r>
            <a:endParaRPr>
              <a:solidFill>
                <a:srgbClr val="333333"/>
              </a:solidFill>
              <a:latin typeface="Calibri"/>
              <a:ea typeface="Calibri"/>
              <a:cs typeface="Calibri"/>
              <a:sym typeface="Calibri"/>
            </a:endParaRPr>
          </a:p>
          <a:p>
            <a:pPr indent="0" lvl="0" marL="0" rtl="0" algn="l">
              <a:lnSpc>
                <a:spcPct val="115000"/>
              </a:lnSpc>
              <a:spcBef>
                <a:spcPts val="500"/>
              </a:spcBef>
              <a:spcAft>
                <a:spcPts val="0"/>
              </a:spcAft>
              <a:buClr>
                <a:schemeClr val="dk1"/>
              </a:buClr>
              <a:buSzPts val="1100"/>
              <a:buFont typeface="Arial"/>
              <a:buNone/>
            </a:pPr>
            <a:r>
              <a:rPr lang="vi-VN">
                <a:solidFill>
                  <a:srgbClr val="333333"/>
                </a:solidFill>
                <a:latin typeface="Calibri"/>
                <a:ea typeface="Calibri"/>
                <a:cs typeface="Calibri"/>
                <a:sym typeface="Calibri"/>
              </a:rPr>
              <a:t>•  Sequence and basket tables (Dunnhumby) — recent purchase order for sequence features.</a:t>
            </a:r>
            <a:endParaRPr>
              <a:solidFill>
                <a:srgbClr val="333333"/>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6"/>
          <p:cNvSpPr/>
          <p:nvPr/>
        </p:nvSpPr>
        <p:spPr>
          <a:xfrm>
            <a:off x="457200" y="61301"/>
            <a:ext cx="8229600" cy="898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2800"/>
              <a:buFont typeface="Calibri"/>
              <a:buNone/>
            </a:pPr>
            <a:r>
              <a:rPr b="1" lang="vi-VN" sz="2800">
                <a:solidFill>
                  <a:srgbClr val="1F3864"/>
                </a:solidFill>
                <a:latin typeface="Calibri"/>
                <a:ea typeface="Calibri"/>
                <a:cs typeface="Calibri"/>
                <a:sym typeface="Calibri"/>
              </a:rPr>
              <a:t>SQL — Goals: Representative Queries Linked to RQs</a:t>
            </a:r>
            <a:endParaRPr b="1" sz="2800">
              <a:solidFill>
                <a:srgbClr val="1F3864"/>
              </a:solidFill>
              <a:latin typeface="Calibri"/>
              <a:ea typeface="Calibri"/>
              <a:cs typeface="Calibri"/>
              <a:sym typeface="Calibri"/>
            </a:endParaRPr>
          </a:p>
          <a:p>
            <a:pPr indent="0" lvl="0" marL="0" marR="0" rtl="0" algn="l">
              <a:spcBef>
                <a:spcPts val="0"/>
              </a:spcBef>
              <a:spcAft>
                <a:spcPts val="0"/>
              </a:spcAft>
              <a:buClr>
                <a:srgbClr val="1F3864"/>
              </a:buClr>
              <a:buSzPts val="2800"/>
              <a:buFont typeface="Calibri"/>
              <a:buNone/>
            </a:pPr>
            <a:r>
              <a:t/>
            </a:r>
            <a:endParaRPr b="1" sz="2800">
              <a:solidFill>
                <a:srgbClr val="1F3864"/>
              </a:solidFill>
              <a:latin typeface="Calibri"/>
              <a:ea typeface="Calibri"/>
              <a:cs typeface="Calibri"/>
              <a:sym typeface="Calibri"/>
            </a:endParaRPr>
          </a:p>
        </p:txBody>
      </p:sp>
      <p:cxnSp>
        <p:nvCxnSpPr>
          <p:cNvPr id="84" name="Google Shape;84;p16"/>
          <p:cNvCxnSpPr/>
          <p:nvPr/>
        </p:nvCxnSpPr>
        <p:spPr>
          <a:xfrm>
            <a:off x="457200" y="888870"/>
            <a:ext cx="8229600" cy="0"/>
          </a:xfrm>
          <a:prstGeom prst="straightConnector1">
            <a:avLst/>
          </a:prstGeom>
          <a:noFill/>
          <a:ln cap="flat" cmpd="sng" w="19050">
            <a:solidFill>
              <a:srgbClr val="4472C4"/>
            </a:solidFill>
            <a:prstDash val="solid"/>
            <a:round/>
            <a:headEnd len="sm" w="sm" type="none"/>
            <a:tailEnd len="sm" w="sm" type="none"/>
          </a:ln>
        </p:spPr>
      </p:cxnSp>
      <p:graphicFrame>
        <p:nvGraphicFramePr>
          <p:cNvPr id="85" name="Google Shape;85;p16"/>
          <p:cNvGraphicFramePr/>
          <p:nvPr/>
        </p:nvGraphicFramePr>
        <p:xfrm>
          <a:off x="457200" y="1078555"/>
          <a:ext cx="3000000" cy="3000000"/>
        </p:xfrm>
        <a:graphic>
          <a:graphicData uri="http://schemas.openxmlformats.org/drawingml/2006/table">
            <a:tbl>
              <a:tblPr>
                <a:noFill/>
                <a:tableStyleId>{9D8E70CB-6C22-48F3-857E-4DB29880E99C}</a:tableStyleId>
              </a:tblPr>
              <a:tblGrid>
                <a:gridCol w="2743200"/>
                <a:gridCol w="2743200"/>
                <a:gridCol w="2743200"/>
              </a:tblGrid>
              <a:tr h="365750">
                <a:tc>
                  <a:txBody>
                    <a:bodyPr/>
                    <a:lstStyle/>
                    <a:p>
                      <a:pPr indent="0" lvl="0" marL="0" marR="0" rtl="0" algn="ctr">
                        <a:spcBef>
                          <a:spcPts val="0"/>
                        </a:spcBef>
                        <a:spcAft>
                          <a:spcPts val="0"/>
                        </a:spcAft>
                        <a:buNone/>
                      </a:pPr>
                      <a:r>
                        <a:rPr b="1" lang="vi-VN" sz="1200">
                          <a:solidFill>
                            <a:srgbClr val="FFFFFF"/>
                          </a:solidFill>
                          <a:latin typeface="Calibri"/>
                          <a:ea typeface="Calibri"/>
                          <a:cs typeface="Calibri"/>
                          <a:sym typeface="Calibri"/>
                        </a:rPr>
                        <a:t>Query → RQ</a:t>
                      </a:r>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1F3864"/>
                    </a:solidFill>
                  </a:tcPr>
                </a:tc>
                <a:tc>
                  <a:txBody>
                    <a:bodyPr/>
                    <a:lstStyle/>
                    <a:p>
                      <a:pPr indent="0" lvl="0" marL="0" marR="0" rtl="0" algn="ctr">
                        <a:spcBef>
                          <a:spcPts val="0"/>
                        </a:spcBef>
                        <a:spcAft>
                          <a:spcPts val="0"/>
                        </a:spcAft>
                        <a:buNone/>
                      </a:pPr>
                      <a:r>
                        <a:rPr b="1" lang="vi-VN" sz="1200">
                          <a:solidFill>
                            <a:srgbClr val="FFFFFF"/>
                          </a:solidFill>
                          <a:latin typeface="Calibri"/>
                          <a:ea typeface="Calibri"/>
                          <a:cs typeface="Calibri"/>
                          <a:sym typeface="Calibri"/>
                        </a:rPr>
                        <a:t>Representative SQL (DuckDB)</a:t>
                      </a:r>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1F3864"/>
                    </a:solidFill>
                  </a:tcPr>
                </a:tc>
                <a:tc>
                  <a:txBody>
                    <a:bodyPr/>
                    <a:lstStyle/>
                    <a:p>
                      <a:pPr indent="0" lvl="0" marL="0" marR="0" rtl="0" algn="ctr">
                        <a:spcBef>
                          <a:spcPts val="0"/>
                        </a:spcBef>
                        <a:spcAft>
                          <a:spcPts val="0"/>
                        </a:spcAft>
                        <a:buNone/>
                      </a:pPr>
                      <a:r>
                        <a:rPr b="1" lang="vi-VN" sz="1200">
                          <a:solidFill>
                            <a:srgbClr val="FFFFFF"/>
                          </a:solidFill>
                          <a:latin typeface="Calibri"/>
                          <a:ea typeface="Calibri"/>
                          <a:cs typeface="Calibri"/>
                          <a:sym typeface="Calibri"/>
                        </a:rPr>
                        <a:t>Insight</a:t>
                      </a:r>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1F3864"/>
                    </a:solidFill>
                  </a:tcPr>
                </a:tc>
              </a:tr>
              <a:tr h="1097275">
                <a:tc>
                  <a:txBody>
                    <a:bodyPr/>
                    <a:lstStyle/>
                    <a:p>
                      <a:pPr indent="0" lvl="0" marL="0" marR="0" rtl="0" algn="l">
                        <a:spcBef>
                          <a:spcPts val="0"/>
                        </a:spcBef>
                        <a:spcAft>
                          <a:spcPts val="0"/>
                        </a:spcAft>
                        <a:buNone/>
                      </a:pPr>
                      <a:r>
                        <a:rPr b="1" lang="vi-VN" sz="1050">
                          <a:solidFill>
                            <a:srgbClr val="1F3A5F"/>
                          </a:solidFill>
                          <a:latin typeface="Calibri"/>
                          <a:ea typeface="Calibri"/>
                          <a:cs typeface="Calibri"/>
                          <a:sym typeface="Calibri"/>
                        </a:rPr>
                        <a:t>Q1 · RFM + value proxy → RQ1/RQ4</a:t>
                      </a:r>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c>
                  <a:txBody>
                    <a:bodyPr/>
                    <a:lstStyle/>
                    <a:p>
                      <a:pPr indent="0" lvl="0" marL="0" marR="0" rtl="0" algn="l">
                        <a:spcBef>
                          <a:spcPts val="0"/>
                        </a:spcBef>
                        <a:spcAft>
                          <a:spcPts val="0"/>
                        </a:spcAft>
                        <a:buNone/>
                      </a:pPr>
                      <a:r>
                        <a:rPr b="0" lang="vi-VN" sz="800">
                          <a:solidFill>
                            <a:srgbClr val="1F3A5F"/>
                          </a:solidFill>
                          <a:latin typeface="Consolas"/>
                          <a:ea typeface="Consolas"/>
                          <a:cs typeface="Consolas"/>
                          <a:sym typeface="Consolas"/>
                        </a:rPr>
                        <a:t>SELECT CustomerID, MAX(date), COUNT(*), SUM(spend) FROM tx GROUP BY CustomerID</a:t>
                      </a:r>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c>
                  <a:txBody>
                    <a:bodyPr/>
                    <a:lstStyle/>
                    <a:p>
                      <a:pPr indent="0" lvl="0" marL="0" marR="0" rtl="0" algn="l">
                        <a:spcBef>
                          <a:spcPts val="0"/>
                        </a:spcBef>
                        <a:spcAft>
                          <a:spcPts val="0"/>
                        </a:spcAft>
                        <a:buNone/>
                      </a:pPr>
                      <a:r>
                        <a:rPr lang="vi-VN" sz="950">
                          <a:solidFill>
                            <a:srgbClr val="1F3A5F"/>
                          </a:solidFill>
                          <a:latin typeface="Calibri"/>
                          <a:ea typeface="Calibri"/>
                          <a:cs typeface="Calibri"/>
                          <a:sym typeface="Calibri"/>
                        </a:rPr>
                        <a:t>Per-customer recency / frequency / monetary and the value proxy V.</a:t>
                      </a:r>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r>
              <a:tr h="1097275">
                <a:tc>
                  <a:txBody>
                    <a:bodyPr/>
                    <a:lstStyle/>
                    <a:p>
                      <a:pPr indent="0" lvl="0" marL="0" marR="0" rtl="0" algn="l">
                        <a:spcBef>
                          <a:spcPts val="0"/>
                        </a:spcBef>
                        <a:spcAft>
                          <a:spcPts val="0"/>
                        </a:spcAft>
                        <a:buNone/>
                      </a:pPr>
                      <a:r>
                        <a:rPr b="1" lang="vi-VN" sz="1050">
                          <a:solidFill>
                            <a:srgbClr val="1F3A5F"/>
                          </a:solidFill>
                          <a:latin typeface="Calibri"/>
                          <a:ea typeface="Calibri"/>
                          <a:cs typeface="Calibri"/>
                          <a:sym typeface="Calibri"/>
                        </a:rPr>
                        <a:t>Q2 · Walk-forward windows → RQ1/RQ2</a:t>
                      </a:r>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vi-VN" sz="800">
                          <a:solidFill>
                            <a:srgbClr val="1F3A5F"/>
                          </a:solidFill>
                          <a:latin typeface="Consolas"/>
                          <a:ea typeface="Consolas"/>
                          <a:cs typeface="Consolas"/>
                          <a:sym typeface="Consolas"/>
                        </a:rPr>
                        <a:t>WITH past AS (… &lt; cutoff), fut AS (… &gt;= cutoff) SELECT … JOIN ON CustomerID</a:t>
                      </a:r>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vi-VN" sz="950">
                          <a:solidFill>
                            <a:srgbClr val="1F3A5F"/>
                          </a:solidFill>
                          <a:latin typeface="Calibri"/>
                          <a:ea typeface="Calibri"/>
                          <a:cs typeface="Calibri"/>
                          <a:sym typeface="Calibri"/>
                        </a:rPr>
                        <a:t>Leakage-free past features versus the future CLV label.</a:t>
                      </a:r>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r>
              <a:tr h="1097275">
                <a:tc>
                  <a:txBody>
                    <a:bodyPr/>
                    <a:lstStyle/>
                    <a:p>
                      <a:pPr indent="0" lvl="0" marL="0" marR="0" rtl="0" algn="l">
                        <a:spcBef>
                          <a:spcPts val="0"/>
                        </a:spcBef>
                        <a:spcAft>
                          <a:spcPts val="0"/>
                        </a:spcAft>
                        <a:buNone/>
                      </a:pPr>
                      <a:r>
                        <a:rPr b="1" lang="vi-VN" sz="1050">
                          <a:solidFill>
                            <a:srgbClr val="1F3A5F"/>
                          </a:solidFill>
                          <a:latin typeface="Calibri"/>
                          <a:ea typeface="Calibri"/>
                          <a:cs typeface="Calibri"/>
                          <a:sym typeface="Calibri"/>
                        </a:rPr>
                        <a:t>Q3 · Treatment cohorts → RQ3/RQ4</a:t>
                      </a:r>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c>
                  <a:txBody>
                    <a:bodyPr/>
                    <a:lstStyle/>
                    <a:p>
                      <a:pPr indent="0" lvl="0" marL="0" marR="0" rtl="0" algn="l">
                        <a:spcBef>
                          <a:spcPts val="0"/>
                        </a:spcBef>
                        <a:spcAft>
                          <a:spcPts val="0"/>
                        </a:spcAft>
                        <a:buNone/>
                      </a:pPr>
                      <a:r>
                        <a:rPr b="0" lang="vi-VN" sz="800">
                          <a:solidFill>
                            <a:srgbClr val="1F3A5F"/>
                          </a:solidFill>
                          <a:latin typeface="Consolas"/>
                          <a:ea typeface="Consolas"/>
                          <a:cs typeface="Consolas"/>
                          <a:sym typeface="Consolas"/>
                        </a:rPr>
                        <a:t>SELECT client, treatment_flag, MAX(converted) FROM x5 GROUP BY client</a:t>
                      </a:r>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c>
                  <a:txBody>
                    <a:bodyPr/>
                    <a:lstStyle/>
                    <a:p>
                      <a:pPr indent="0" lvl="0" marL="0" marR="0" rtl="0" algn="l">
                        <a:spcBef>
                          <a:spcPts val="0"/>
                        </a:spcBef>
                        <a:spcAft>
                          <a:spcPts val="0"/>
                        </a:spcAft>
                        <a:buNone/>
                      </a:pPr>
                      <a:r>
                        <a:rPr lang="vi-VN" sz="950">
                          <a:solidFill>
                            <a:srgbClr val="1F3A5F"/>
                          </a:solidFill>
                          <a:latin typeface="Calibri"/>
                          <a:ea typeface="Calibri"/>
                          <a:cs typeface="Calibri"/>
                          <a:sym typeface="Calibri"/>
                        </a:rPr>
                        <a:t>Aligned treated / control outcomes for uplift estimation.</a:t>
                      </a:r>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7"/>
          <p:cNvSpPr/>
          <p:nvPr/>
        </p:nvSpPr>
        <p:spPr>
          <a:xfrm>
            <a:off x="330400" y="234325"/>
            <a:ext cx="8643600" cy="726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F3864"/>
              </a:buClr>
              <a:buSzPts val="2800"/>
              <a:buFont typeface="Calibri"/>
              <a:buNone/>
            </a:pPr>
            <a:r>
              <a:rPr b="1" lang="vi-VN" sz="2600">
                <a:solidFill>
                  <a:srgbClr val="1F3864"/>
                </a:solidFill>
                <a:latin typeface="Calibri"/>
                <a:ea typeface="Calibri"/>
                <a:cs typeface="Calibri"/>
                <a:sym typeface="Calibri"/>
              </a:rPr>
              <a:t>Python Analysis — From Cleaned Data to Models &amp; Insight</a:t>
            </a:r>
            <a:endParaRPr sz="2600">
              <a:solidFill>
                <a:schemeClr val="dk1"/>
              </a:solidFill>
              <a:latin typeface="Calibri"/>
              <a:ea typeface="Calibri"/>
              <a:cs typeface="Calibri"/>
              <a:sym typeface="Calibri"/>
            </a:endParaRPr>
          </a:p>
          <a:p>
            <a:pPr indent="0" lvl="0" marL="0" marR="0" rtl="0" algn="l">
              <a:spcBef>
                <a:spcPts val="0"/>
              </a:spcBef>
              <a:spcAft>
                <a:spcPts val="0"/>
              </a:spcAft>
              <a:buClr>
                <a:srgbClr val="1F3864"/>
              </a:buClr>
              <a:buSzPts val="2800"/>
              <a:buFont typeface="Calibri"/>
              <a:buNone/>
            </a:pPr>
            <a:r>
              <a:t/>
            </a:r>
            <a:endParaRPr b="1" sz="2600">
              <a:solidFill>
                <a:srgbClr val="1F3864"/>
              </a:solidFill>
              <a:latin typeface="Calibri"/>
              <a:ea typeface="Calibri"/>
              <a:cs typeface="Calibri"/>
              <a:sym typeface="Calibri"/>
            </a:endParaRPr>
          </a:p>
        </p:txBody>
      </p:sp>
      <p:cxnSp>
        <p:nvCxnSpPr>
          <p:cNvPr id="92" name="Google Shape;92;p17"/>
          <p:cNvCxnSpPr/>
          <p:nvPr/>
        </p:nvCxnSpPr>
        <p:spPr>
          <a:xfrm>
            <a:off x="457200" y="960120"/>
            <a:ext cx="8229600" cy="0"/>
          </a:xfrm>
          <a:prstGeom prst="straightConnector1">
            <a:avLst/>
          </a:prstGeom>
          <a:noFill/>
          <a:ln cap="flat" cmpd="sng" w="19050">
            <a:solidFill>
              <a:srgbClr val="4472C4"/>
            </a:solidFill>
            <a:prstDash val="solid"/>
            <a:round/>
            <a:headEnd len="sm" w="sm" type="none"/>
            <a:tailEnd len="sm" w="sm" type="none"/>
          </a:ln>
        </p:spPr>
      </p:cxnSp>
      <p:sp>
        <p:nvSpPr>
          <p:cNvPr id="93" name="Google Shape;93;p17"/>
          <p:cNvSpPr/>
          <p:nvPr/>
        </p:nvSpPr>
        <p:spPr>
          <a:xfrm>
            <a:off x="457200" y="1100000"/>
            <a:ext cx="2600000" cy="640000"/>
          </a:xfrm>
          <a:prstGeom prst="rect">
            <a:avLst/>
          </a:prstGeom>
          <a:solidFill>
            <a:srgbClr val="1F3864"/>
          </a:solid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200"/>
              </a:spcAft>
              <a:buClr>
                <a:schemeClr val="dk1"/>
              </a:buClr>
              <a:buSzPts val="1100"/>
              <a:buFont typeface="Arial"/>
              <a:buNone/>
            </a:pPr>
            <a:r>
              <a:rPr b="1" lang="vi-VN">
                <a:solidFill>
                  <a:srgbClr val="FFFFFF"/>
                </a:solidFill>
                <a:latin typeface="Calibri"/>
                <a:ea typeface="Calibri"/>
                <a:cs typeface="Calibri"/>
                <a:sym typeface="Calibri"/>
              </a:rPr>
              <a:t>1 · Clean &amp; Build Tables</a:t>
            </a:r>
            <a:endParaRPr b="1">
              <a:solidFill>
                <a:srgbClr val="FFFFFF"/>
              </a:solidFill>
              <a:latin typeface="Calibri"/>
              <a:ea typeface="Calibri"/>
              <a:cs typeface="Calibri"/>
              <a:sym typeface="Calibri"/>
            </a:endParaRPr>
          </a:p>
        </p:txBody>
      </p:sp>
      <p:sp>
        <p:nvSpPr>
          <p:cNvPr id="94" name="Google Shape;94;p17"/>
          <p:cNvSpPr/>
          <p:nvPr/>
        </p:nvSpPr>
        <p:spPr>
          <a:xfrm>
            <a:off x="3077200" y="1100000"/>
            <a:ext cx="5609600" cy="640000"/>
          </a:xfrm>
          <a:prstGeom prst="rect">
            <a:avLst/>
          </a:prstGeom>
          <a:solidFill>
            <a:srgbClr val="EEF2FF"/>
          </a:solidFill>
          <a:ln cap="flat" cmpd="sng" w="9525">
            <a:solidFill>
              <a:srgbClr val="C5CAE9"/>
            </a:solidFill>
            <a:prstDash val="solid"/>
            <a:round/>
            <a:headEnd len="sm" w="sm" type="none"/>
            <a:tailEnd len="sm" w="sm" type="none"/>
          </a:ln>
        </p:spPr>
        <p:txBody>
          <a:bodyPr anchorCtr="0" anchor="ctr" bIns="45700" lIns="91425" spcFirstLastPara="1" rIns="91425" wrap="square" tIns="45700">
            <a:noAutofit/>
          </a:bodyPr>
          <a:lstStyle/>
          <a:p>
            <a:pPr indent="0" lvl="0" marL="0" rtl="0" algn="l">
              <a:lnSpc>
                <a:spcPct val="115000"/>
              </a:lnSpc>
              <a:spcBef>
                <a:spcPts val="0"/>
              </a:spcBef>
              <a:spcAft>
                <a:spcPts val="200"/>
              </a:spcAft>
              <a:buClr>
                <a:schemeClr val="dk1"/>
              </a:buClr>
              <a:buSzPts val="1100"/>
              <a:buFont typeface="Arial"/>
              <a:buNone/>
            </a:pPr>
            <a:r>
              <a:rPr lang="vi-VN" sz="1200">
                <a:solidFill>
                  <a:srgbClr val="2C2C2C"/>
                </a:solidFill>
                <a:latin typeface="Calibri"/>
                <a:ea typeface="Calibri"/>
                <a:cs typeface="Calibri"/>
                <a:sym typeface="Calibri"/>
              </a:rPr>
              <a:t>data loaders · SQL feature tables — RFM, value proxy V, and walk-forward windows for all three datasets</a:t>
            </a:r>
            <a:endParaRPr sz="1200">
              <a:solidFill>
                <a:srgbClr val="2C2C2C"/>
              </a:solidFill>
              <a:latin typeface="Calibri"/>
              <a:ea typeface="Calibri"/>
              <a:cs typeface="Calibri"/>
              <a:sym typeface="Calibri"/>
            </a:endParaRPr>
          </a:p>
        </p:txBody>
      </p:sp>
      <p:sp>
        <p:nvSpPr>
          <p:cNvPr id="95" name="Google Shape;95;p17"/>
          <p:cNvSpPr/>
          <p:nvPr/>
        </p:nvSpPr>
        <p:spPr>
          <a:xfrm>
            <a:off x="457200" y="1800000"/>
            <a:ext cx="2600000" cy="640000"/>
          </a:xfrm>
          <a:prstGeom prst="rect">
            <a:avLst/>
          </a:prstGeom>
          <a:solidFill>
            <a:srgbClr val="1A3F7A"/>
          </a:solid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200"/>
              </a:spcAft>
              <a:buClr>
                <a:schemeClr val="dk1"/>
              </a:buClr>
              <a:buSzPts val="1100"/>
              <a:buFont typeface="Arial"/>
              <a:buNone/>
            </a:pPr>
            <a:r>
              <a:rPr b="1" lang="vi-VN">
                <a:solidFill>
                  <a:srgbClr val="FFFFFF"/>
                </a:solidFill>
                <a:latin typeface="Calibri"/>
                <a:ea typeface="Calibri"/>
                <a:cs typeface="Calibri"/>
                <a:sym typeface="Calibri"/>
              </a:rPr>
              <a:t>2 · CLV Ranking (RQ1–RQ2)</a:t>
            </a:r>
            <a:endParaRPr b="1">
              <a:solidFill>
                <a:srgbClr val="FFFFFF"/>
              </a:solidFill>
              <a:latin typeface="Calibri"/>
              <a:ea typeface="Calibri"/>
              <a:cs typeface="Calibri"/>
              <a:sym typeface="Calibri"/>
            </a:endParaRPr>
          </a:p>
        </p:txBody>
      </p:sp>
      <p:sp>
        <p:nvSpPr>
          <p:cNvPr id="96" name="Google Shape;96;p17"/>
          <p:cNvSpPr/>
          <p:nvPr/>
        </p:nvSpPr>
        <p:spPr>
          <a:xfrm>
            <a:off x="3077200" y="1800000"/>
            <a:ext cx="5609600" cy="640000"/>
          </a:xfrm>
          <a:prstGeom prst="rect">
            <a:avLst/>
          </a:prstGeom>
          <a:solidFill>
            <a:srgbClr val="FFFFFF"/>
          </a:solidFill>
          <a:ln cap="flat" cmpd="sng" w="9525">
            <a:solidFill>
              <a:srgbClr val="C5CAE9"/>
            </a:solidFill>
            <a:prstDash val="solid"/>
            <a:round/>
            <a:headEnd len="sm" w="sm" type="none"/>
            <a:tailEnd len="sm" w="sm" type="none"/>
          </a:ln>
        </p:spPr>
        <p:txBody>
          <a:bodyPr anchorCtr="0" anchor="ctr" bIns="45700" lIns="91425" spcFirstLastPara="1" rIns="91425" wrap="square" tIns="45700">
            <a:noAutofit/>
          </a:bodyPr>
          <a:lstStyle/>
          <a:p>
            <a:pPr indent="0" lvl="0" marL="0" rtl="0" algn="l">
              <a:lnSpc>
                <a:spcPct val="115000"/>
              </a:lnSpc>
              <a:spcBef>
                <a:spcPts val="0"/>
              </a:spcBef>
              <a:spcAft>
                <a:spcPts val="200"/>
              </a:spcAft>
              <a:buClr>
                <a:schemeClr val="dk1"/>
              </a:buClr>
              <a:buSzPts val="1100"/>
              <a:buFont typeface="Arial"/>
              <a:buNone/>
            </a:pPr>
            <a:r>
              <a:rPr lang="vi-VN" sz="1200">
                <a:solidFill>
                  <a:srgbClr val="2C2C2C"/>
                </a:solidFill>
                <a:latin typeface="Calibri"/>
                <a:ea typeface="Calibri"/>
                <a:cs typeface="Calibri"/>
                <a:sym typeface="Calibri"/>
              </a:rPr>
              <a:t>clv_walkforward · hurdle_model · loo_ablation — two-stage Hurdle versus six baselines; leave-one-group-out feature ablation</a:t>
            </a:r>
            <a:endParaRPr sz="1200">
              <a:solidFill>
                <a:srgbClr val="2C2C2C"/>
              </a:solidFill>
              <a:latin typeface="Calibri"/>
              <a:ea typeface="Calibri"/>
              <a:cs typeface="Calibri"/>
              <a:sym typeface="Calibri"/>
            </a:endParaRPr>
          </a:p>
        </p:txBody>
      </p:sp>
      <p:sp>
        <p:nvSpPr>
          <p:cNvPr id="97" name="Google Shape;97;p17"/>
          <p:cNvSpPr/>
          <p:nvPr/>
        </p:nvSpPr>
        <p:spPr>
          <a:xfrm>
            <a:off x="457200" y="2500000"/>
            <a:ext cx="2600000" cy="640000"/>
          </a:xfrm>
          <a:prstGeom prst="rect">
            <a:avLst/>
          </a:prstGeom>
          <a:solidFill>
            <a:srgbClr val="24478A"/>
          </a:solid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200"/>
              </a:spcAft>
              <a:buClr>
                <a:schemeClr val="dk1"/>
              </a:buClr>
              <a:buSzPts val="1100"/>
              <a:buFont typeface="Arial"/>
              <a:buNone/>
            </a:pPr>
            <a:r>
              <a:rPr b="1" lang="vi-VN">
                <a:solidFill>
                  <a:srgbClr val="FFFFFF"/>
                </a:solidFill>
                <a:latin typeface="Calibri"/>
                <a:ea typeface="Calibri"/>
                <a:cs typeface="Calibri"/>
                <a:sym typeface="Calibri"/>
              </a:rPr>
              <a:t>3 · Uplift Learners (RQ3)</a:t>
            </a:r>
            <a:endParaRPr b="1">
              <a:solidFill>
                <a:srgbClr val="FFFFFF"/>
              </a:solidFill>
              <a:latin typeface="Calibri"/>
              <a:ea typeface="Calibri"/>
              <a:cs typeface="Calibri"/>
              <a:sym typeface="Calibri"/>
            </a:endParaRPr>
          </a:p>
        </p:txBody>
      </p:sp>
      <p:sp>
        <p:nvSpPr>
          <p:cNvPr id="98" name="Google Shape;98;p17"/>
          <p:cNvSpPr/>
          <p:nvPr/>
        </p:nvSpPr>
        <p:spPr>
          <a:xfrm>
            <a:off x="3077200" y="2500000"/>
            <a:ext cx="5609600" cy="640000"/>
          </a:xfrm>
          <a:prstGeom prst="rect">
            <a:avLst/>
          </a:prstGeom>
          <a:solidFill>
            <a:srgbClr val="EEF2FF"/>
          </a:solidFill>
          <a:ln cap="flat" cmpd="sng" w="9525">
            <a:solidFill>
              <a:srgbClr val="C5CAE9"/>
            </a:solidFill>
            <a:prstDash val="solid"/>
            <a:round/>
            <a:headEnd len="sm" w="sm" type="none"/>
            <a:tailEnd len="sm" w="sm" type="none"/>
          </a:ln>
        </p:spPr>
        <p:txBody>
          <a:bodyPr anchorCtr="0" anchor="ctr" bIns="45700" lIns="91425" spcFirstLastPara="1" rIns="91425" wrap="square" tIns="45700">
            <a:noAutofit/>
          </a:bodyPr>
          <a:lstStyle/>
          <a:p>
            <a:pPr indent="0" lvl="0" marL="0" rtl="0" algn="l">
              <a:lnSpc>
                <a:spcPct val="115000"/>
              </a:lnSpc>
              <a:spcBef>
                <a:spcPts val="0"/>
              </a:spcBef>
              <a:spcAft>
                <a:spcPts val="200"/>
              </a:spcAft>
              <a:buClr>
                <a:schemeClr val="dk1"/>
              </a:buClr>
              <a:buSzPts val="1100"/>
              <a:buFont typeface="Arial"/>
              <a:buNone/>
            </a:pPr>
            <a:r>
              <a:rPr lang="vi-VN" sz="1200">
                <a:solidFill>
                  <a:srgbClr val="2C2C2C"/>
                </a:solidFill>
                <a:latin typeface="Calibri"/>
                <a:ea typeface="Calibri"/>
                <a:cs typeface="Calibri"/>
                <a:sym typeface="Calibri"/>
              </a:rPr>
              <a:t>uplift_models — S / T / X-Learner and Class-Transform versus a response model; Qini / AUUC on the X5 held-out set</a:t>
            </a:r>
            <a:endParaRPr sz="1200">
              <a:solidFill>
                <a:srgbClr val="2C2C2C"/>
              </a:solidFill>
              <a:latin typeface="Calibri"/>
              <a:ea typeface="Calibri"/>
              <a:cs typeface="Calibri"/>
              <a:sym typeface="Calibri"/>
            </a:endParaRPr>
          </a:p>
        </p:txBody>
      </p:sp>
      <p:sp>
        <p:nvSpPr>
          <p:cNvPr id="99" name="Google Shape;99;p17"/>
          <p:cNvSpPr/>
          <p:nvPr/>
        </p:nvSpPr>
        <p:spPr>
          <a:xfrm>
            <a:off x="457200" y="3200000"/>
            <a:ext cx="2600000" cy="640000"/>
          </a:xfrm>
          <a:prstGeom prst="rect">
            <a:avLst/>
          </a:prstGeom>
          <a:solidFill>
            <a:srgbClr val="1E4080"/>
          </a:solid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200"/>
              </a:spcAft>
              <a:buClr>
                <a:schemeClr val="dk1"/>
              </a:buClr>
              <a:buSzPts val="1100"/>
              <a:buFont typeface="Arial"/>
              <a:buNone/>
            </a:pPr>
            <a:r>
              <a:rPr b="1" lang="vi-VN">
                <a:solidFill>
                  <a:srgbClr val="FFFFFF"/>
                </a:solidFill>
                <a:latin typeface="Calibri"/>
                <a:ea typeface="Calibri"/>
                <a:cs typeface="Calibri"/>
                <a:sym typeface="Calibri"/>
              </a:rPr>
              <a:t>4 · Value-Adjusted Policy (RQ4)</a:t>
            </a:r>
            <a:endParaRPr b="1">
              <a:solidFill>
                <a:srgbClr val="FFFFFF"/>
              </a:solidFill>
              <a:latin typeface="Calibri"/>
              <a:ea typeface="Calibri"/>
              <a:cs typeface="Calibri"/>
              <a:sym typeface="Calibri"/>
            </a:endParaRPr>
          </a:p>
        </p:txBody>
      </p:sp>
      <p:sp>
        <p:nvSpPr>
          <p:cNvPr id="100" name="Google Shape;100;p17"/>
          <p:cNvSpPr/>
          <p:nvPr/>
        </p:nvSpPr>
        <p:spPr>
          <a:xfrm>
            <a:off x="3077200" y="3200000"/>
            <a:ext cx="5609600" cy="640000"/>
          </a:xfrm>
          <a:prstGeom prst="rect">
            <a:avLst/>
          </a:prstGeom>
          <a:solidFill>
            <a:srgbClr val="FFFFFF"/>
          </a:solidFill>
          <a:ln cap="flat" cmpd="sng" w="9525">
            <a:solidFill>
              <a:srgbClr val="C5CAE9"/>
            </a:solidFill>
            <a:prstDash val="solid"/>
            <a:round/>
            <a:headEnd len="sm" w="sm" type="none"/>
            <a:tailEnd len="sm" w="sm" type="none"/>
          </a:ln>
        </p:spPr>
        <p:txBody>
          <a:bodyPr anchorCtr="0" anchor="ctr" bIns="45700" lIns="91425" spcFirstLastPara="1" rIns="91425" wrap="square" tIns="45700">
            <a:noAutofit/>
          </a:bodyPr>
          <a:lstStyle/>
          <a:p>
            <a:pPr indent="0" lvl="0" marL="0" rtl="0" algn="l">
              <a:lnSpc>
                <a:spcPct val="115000"/>
              </a:lnSpc>
              <a:spcBef>
                <a:spcPts val="0"/>
              </a:spcBef>
              <a:spcAft>
                <a:spcPts val="200"/>
              </a:spcAft>
              <a:buClr>
                <a:schemeClr val="dk1"/>
              </a:buClr>
              <a:buSzPts val="1100"/>
              <a:buFont typeface="Arial"/>
              <a:buNone/>
            </a:pPr>
            <a:r>
              <a:rPr lang="vi-VN" sz="1200">
                <a:solidFill>
                  <a:srgbClr val="2C2C2C"/>
                </a:solidFill>
                <a:latin typeface="Calibri"/>
                <a:ea typeface="Calibri"/>
                <a:cs typeface="Calibri"/>
                <a:sym typeface="Calibri"/>
              </a:rPr>
              <a:t>policy_simulation — uplift × value targeting versus value-only / uplift-only / RFM / random; held-out profit under a (margin, cost) sweep</a:t>
            </a:r>
            <a:endParaRPr sz="1200">
              <a:solidFill>
                <a:srgbClr val="2C2C2C"/>
              </a:solidFill>
              <a:latin typeface="Calibri"/>
              <a:ea typeface="Calibri"/>
              <a:cs typeface="Calibri"/>
              <a:sym typeface="Calibri"/>
            </a:endParaRPr>
          </a:p>
        </p:txBody>
      </p:sp>
      <p:sp>
        <p:nvSpPr>
          <p:cNvPr id="101" name="Google Shape;101;p17"/>
          <p:cNvSpPr/>
          <p:nvPr/>
        </p:nvSpPr>
        <p:spPr>
          <a:xfrm>
            <a:off x="457200" y="3900000"/>
            <a:ext cx="2600000" cy="640000"/>
          </a:xfrm>
          <a:prstGeom prst="rect">
            <a:avLst/>
          </a:prstGeom>
          <a:solidFill>
            <a:srgbClr val="1A3568"/>
          </a:solid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200"/>
              </a:spcAft>
              <a:buClr>
                <a:schemeClr val="dk1"/>
              </a:buClr>
              <a:buSzPts val="1100"/>
              <a:buFont typeface="Arial"/>
              <a:buNone/>
            </a:pPr>
            <a:r>
              <a:rPr b="1" lang="vi-VN">
                <a:solidFill>
                  <a:srgbClr val="FFFFFF"/>
                </a:solidFill>
                <a:latin typeface="Calibri"/>
                <a:ea typeface="Calibri"/>
                <a:cs typeface="Calibri"/>
                <a:sym typeface="Calibri"/>
              </a:rPr>
              <a:t>5 · Explain + Calibrate</a:t>
            </a:r>
            <a:endParaRPr b="1">
              <a:solidFill>
                <a:srgbClr val="FFFFFF"/>
              </a:solidFill>
              <a:latin typeface="Calibri"/>
              <a:ea typeface="Calibri"/>
              <a:cs typeface="Calibri"/>
              <a:sym typeface="Calibri"/>
            </a:endParaRPr>
          </a:p>
        </p:txBody>
      </p:sp>
      <p:sp>
        <p:nvSpPr>
          <p:cNvPr id="102" name="Google Shape;102;p17"/>
          <p:cNvSpPr/>
          <p:nvPr/>
        </p:nvSpPr>
        <p:spPr>
          <a:xfrm>
            <a:off x="3077200" y="3900000"/>
            <a:ext cx="5609600" cy="640000"/>
          </a:xfrm>
          <a:prstGeom prst="rect">
            <a:avLst/>
          </a:prstGeom>
          <a:solidFill>
            <a:srgbClr val="EEF2FF"/>
          </a:solidFill>
          <a:ln cap="flat" cmpd="sng" w="9525">
            <a:solidFill>
              <a:srgbClr val="C5CAE9"/>
            </a:solidFill>
            <a:prstDash val="solid"/>
            <a:round/>
            <a:headEnd len="sm" w="sm" type="none"/>
            <a:tailEnd len="sm" w="sm" type="none"/>
          </a:ln>
        </p:spPr>
        <p:txBody>
          <a:bodyPr anchorCtr="0" anchor="ctr" bIns="45700" lIns="91425" spcFirstLastPara="1" rIns="91425" wrap="square" tIns="45700">
            <a:noAutofit/>
          </a:bodyPr>
          <a:lstStyle/>
          <a:p>
            <a:pPr indent="0" lvl="0" marL="0" rtl="0" algn="l">
              <a:lnSpc>
                <a:spcPct val="115000"/>
              </a:lnSpc>
              <a:spcBef>
                <a:spcPts val="0"/>
              </a:spcBef>
              <a:spcAft>
                <a:spcPts val="200"/>
              </a:spcAft>
              <a:buClr>
                <a:schemeClr val="dk1"/>
              </a:buClr>
              <a:buSzPts val="1100"/>
              <a:buFont typeface="Arial"/>
              <a:buNone/>
            </a:pPr>
            <a:r>
              <a:rPr lang="vi-VN" sz="1200">
                <a:solidFill>
                  <a:srgbClr val="2C2C2C"/>
                </a:solidFill>
                <a:latin typeface="Calibri"/>
                <a:ea typeface="Calibri"/>
                <a:cs typeface="Calibri"/>
                <a:sym typeface="Calibri"/>
              </a:rPr>
              <a:t>shap_hurdle · conformal_cqr — Stage-2 SHAP drivers per context; 95% conformal (CQR) coverage</a:t>
            </a:r>
            <a:endParaRPr sz="1200">
              <a:solidFill>
                <a:srgbClr val="2C2C2C"/>
              </a:solidFill>
              <a:latin typeface="Calibri"/>
              <a:ea typeface="Calibri"/>
              <a:cs typeface="Calibri"/>
              <a:sym typeface="Calibri"/>
            </a:endParaRPr>
          </a:p>
        </p:txBody>
      </p:sp>
      <p:sp>
        <p:nvSpPr>
          <p:cNvPr id="103" name="TextBox 102"/>
          <p:cNvSpPr txBox="1"/>
          <p:nvPr/>
        </p:nvSpPr>
        <p:spPr>
          <a:xfrm>
            <a:off x="457200" y="4594864"/>
            <a:ext cx="8229600" cy="365760"/>
          </a:xfrm>
          <a:prstGeom prst="rect">
            <a:avLst/>
          </a:prstGeom>
          <a:noFill/>
        </p:spPr>
        <p:txBody>
          <a:bodyPr wrap="square">
            <a:spAutoFit/>
          </a:bodyPr>
          <a:lstStyle/>
          <a:p>
            <a:r>
              <a:rPr sz="1300" i="1">
                <a:solidFill>
                  <a:srgbClr val="007A87"/>
                </a:solidFill>
                <a:latin typeface="Calibri"/>
              </a:rPr>
              <a:t>Walk-forward = past-only windows predict the next period; no future information leaks into the features.</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8"/>
          <p:cNvSpPr/>
          <p:nvPr/>
        </p:nvSpPr>
        <p:spPr>
          <a:xfrm>
            <a:off x="457200" y="182880"/>
            <a:ext cx="822960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2800"/>
              <a:buFont typeface="Calibri"/>
              <a:buNone/>
            </a:pPr>
            <a:r>
              <a:rPr b="1" lang="vi-VN" sz="2800">
                <a:solidFill>
                  <a:srgbClr val="1F3864"/>
                </a:solidFill>
                <a:latin typeface="Calibri"/>
                <a:ea typeface="Calibri"/>
                <a:cs typeface="Calibri"/>
                <a:sym typeface="Calibri"/>
              </a:rPr>
              <a:t>Analysis with Python</a:t>
            </a:r>
            <a:endParaRPr sz="2800">
              <a:solidFill>
                <a:schemeClr val="dk1"/>
              </a:solidFill>
              <a:latin typeface="Calibri"/>
              <a:ea typeface="Calibri"/>
              <a:cs typeface="Calibri"/>
              <a:sym typeface="Calibri"/>
            </a:endParaRPr>
          </a:p>
        </p:txBody>
      </p:sp>
      <p:cxnSp>
        <p:nvCxnSpPr>
          <p:cNvPr id="109" name="Google Shape;109;p18"/>
          <p:cNvCxnSpPr/>
          <p:nvPr/>
        </p:nvCxnSpPr>
        <p:spPr>
          <a:xfrm>
            <a:off x="457200" y="960120"/>
            <a:ext cx="8229600" cy="0"/>
          </a:xfrm>
          <a:prstGeom prst="straightConnector1">
            <a:avLst/>
          </a:prstGeom>
          <a:noFill/>
          <a:ln cap="flat" cmpd="sng" w="19050">
            <a:solidFill>
              <a:srgbClr val="4472C4"/>
            </a:solidFill>
            <a:prstDash val="solid"/>
            <a:round/>
            <a:headEnd len="sm" w="sm" type="none"/>
            <a:tailEnd len="sm" w="sm" type="none"/>
          </a:ln>
        </p:spPr>
      </p:cxnSp>
      <p:graphicFrame>
        <p:nvGraphicFramePr>
          <p:cNvPr id="110" name="Google Shape;110;p18"/>
          <p:cNvGraphicFramePr/>
          <p:nvPr/>
        </p:nvGraphicFramePr>
        <p:xfrm>
          <a:off x="390769" y="1097280"/>
          <a:ext cx="3000000" cy="3000000"/>
        </p:xfrm>
        <a:graphic>
          <a:graphicData uri="http://schemas.openxmlformats.org/drawingml/2006/table">
            <a:tbl>
              <a:tblPr>
                <a:noFill/>
                <a:tableStyleId>{9D8E70CB-6C22-48F3-857E-4DB29880E99C}</a:tableStyleId>
              </a:tblPr>
              <a:tblGrid>
                <a:gridCol w="2923400"/>
                <a:gridCol w="5372625"/>
              </a:tblGrid>
              <a:tr h="241500">
                <a:tc>
                  <a:txBody>
                    <a:bodyPr/>
                    <a:lstStyle/>
                    <a:p>
                      <a:pPr indent="0" lvl="0" marL="91440" marR="0" rtl="0" algn="ctr">
                        <a:spcBef>
                          <a:spcPts val="0"/>
                        </a:spcBef>
                        <a:spcAft>
                          <a:spcPts val="0"/>
                        </a:spcAft>
                        <a:buClr>
                          <a:srgbClr val="FFFFFF"/>
                        </a:buClr>
                        <a:buSzPts val="1000"/>
                        <a:buFont typeface="Calibri"/>
                        <a:buNone/>
                      </a:pPr>
                      <a:r>
                        <a:rPr b="1" lang="vi-VN" sz="1000">
                          <a:solidFill>
                            <a:srgbClr val="FFFFFF"/>
                          </a:solidFill>
                          <a:latin typeface="Calibri"/>
                          <a:ea typeface="Calibri"/>
                          <a:cs typeface="Calibri"/>
                          <a:sym typeface="Calibri"/>
                        </a:rPr>
                        <a:t>What to present</a:t>
                      </a:r>
                      <a:endParaRPr sz="10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1F3864"/>
                    </a:solidFill>
                  </a:tcPr>
                </a:tc>
                <a:tc>
                  <a:txBody>
                    <a:bodyPr/>
                    <a:lstStyle/>
                    <a:p>
                      <a:pPr indent="0" lvl="0" marL="91440" marR="0" rtl="0" algn="ctr">
                        <a:spcBef>
                          <a:spcPts val="0"/>
                        </a:spcBef>
                        <a:spcAft>
                          <a:spcPts val="0"/>
                        </a:spcAft>
                        <a:buClr>
                          <a:srgbClr val="FFFFFF"/>
                        </a:buClr>
                        <a:buSzPts val="1000"/>
                        <a:buFont typeface="Calibri"/>
                        <a:buNone/>
                      </a:pPr>
                      <a:r>
                        <a:rPr b="1" lang="vi-VN" sz="1000">
                          <a:solidFill>
                            <a:srgbClr val="FFFFFF"/>
                          </a:solidFill>
                          <a:latin typeface="Calibri"/>
                          <a:ea typeface="Calibri"/>
                          <a:cs typeface="Calibri"/>
                          <a:sym typeface="Calibri"/>
                        </a:rPr>
                        <a:t>Phase 2 detail</a:t>
                      </a:r>
                      <a:endParaRPr sz="10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1F3864"/>
                    </a:solidFill>
                  </a:tcPr>
                </a:tc>
              </a:tr>
              <a:tr h="716950">
                <a:tc>
                  <a:txBody>
                    <a:bodyPr/>
                    <a:lstStyle/>
                    <a:p>
                      <a:pPr indent="0" lvl="0" marL="91440" marR="0" rtl="0" algn="l">
                        <a:spcBef>
                          <a:spcPts val="0"/>
                        </a:spcBef>
                        <a:spcAft>
                          <a:spcPts val="0"/>
                        </a:spcAft>
                        <a:buClr>
                          <a:srgbClr val="2C2C2C"/>
                        </a:buClr>
                        <a:buSzPts val="1000"/>
                        <a:buFont typeface="Calibri"/>
                        <a:buNone/>
                      </a:pPr>
                      <a:r>
                        <a:rPr lang="vi-VN" sz="1000">
                          <a:solidFill>
                            <a:srgbClr val="2C2C2C"/>
                          </a:solidFill>
                          <a:latin typeface="Calibri"/>
                          <a:ea typeface="Calibri"/>
                          <a:cs typeface="Calibri"/>
                          <a:sym typeface="Calibri"/>
                        </a:rPr>
                        <a:t>Reproducible pipeline</a:t>
                      </a:r>
                      <a:endParaRPr sz="10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c>
                  <a:txBody>
                    <a:bodyPr/>
                    <a:lstStyle/>
                    <a:p>
                      <a:pPr indent="0" lvl="0" marL="0" marR="0" rtl="0" algn="l">
                        <a:spcBef>
                          <a:spcPts val="0"/>
                        </a:spcBef>
                        <a:spcAft>
                          <a:spcPts val="0"/>
                        </a:spcAft>
                        <a:buNone/>
                      </a:pPr>
                      <a:r>
                        <a:rPr b="0" lang="vi-VN" sz="1000">
                          <a:solidFill>
                            <a:srgbClr val="1F3A5F"/>
                          </a:solidFill>
                          <a:latin typeface="Calibri"/>
                          <a:ea typeface="Calibri"/>
                          <a:cs typeface="Calibri"/>
                          <a:sym typeface="Calibri"/>
                        </a:rPr>
                        <a:t>End-to-end, config-driven Python that produces every table and figure from the result CSVs.</a:t>
                      </a:r>
                      <a:endParaRPr b="0" sz="10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r>
              <a:tr h="579575">
                <a:tc>
                  <a:txBody>
                    <a:bodyPr/>
                    <a:lstStyle/>
                    <a:p>
                      <a:pPr indent="0" lvl="0" marL="91440" marR="0" rtl="0" algn="l">
                        <a:spcBef>
                          <a:spcPts val="0"/>
                        </a:spcBef>
                        <a:spcAft>
                          <a:spcPts val="0"/>
                        </a:spcAft>
                        <a:buClr>
                          <a:srgbClr val="2C2C2C"/>
                        </a:buClr>
                        <a:buSzPts val="1000"/>
                        <a:buFont typeface="Calibri"/>
                        <a:buNone/>
                      </a:pPr>
                      <a:r>
                        <a:rPr lang="vi-VN" sz="1000">
                          <a:solidFill>
                            <a:srgbClr val="2C2C2C"/>
                          </a:solidFill>
                          <a:latin typeface="Calibri"/>
                          <a:ea typeface="Calibri"/>
                          <a:cs typeface="Calibri"/>
                          <a:sym typeface="Calibri"/>
                        </a:rPr>
                        <a:t>Feature engineering</a:t>
                      </a:r>
                      <a:endParaRPr sz="10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vi-VN" sz="1000">
                          <a:solidFill>
                            <a:srgbClr val="1F3A5F"/>
                          </a:solidFill>
                          <a:latin typeface="Calibri"/>
                          <a:ea typeface="Calibri"/>
                          <a:cs typeface="Calibri"/>
                          <a:sym typeface="Calibri"/>
                        </a:rPr>
                        <a:t>RFM, monetary value proxy, recent-purchase sequence, and PPMI + SVD semantic taste embeddings.</a:t>
                      </a:r>
                      <a:endParaRPr b="0" sz="10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r>
              <a:tr h="555075">
                <a:tc>
                  <a:txBody>
                    <a:bodyPr/>
                    <a:lstStyle/>
                    <a:p>
                      <a:pPr indent="0" lvl="0" marL="91440" marR="0" rtl="0" algn="l">
                        <a:spcBef>
                          <a:spcPts val="0"/>
                        </a:spcBef>
                        <a:spcAft>
                          <a:spcPts val="0"/>
                        </a:spcAft>
                        <a:buClr>
                          <a:srgbClr val="2C2C2C"/>
                        </a:buClr>
                        <a:buSzPts val="1000"/>
                        <a:buFont typeface="Calibri"/>
                        <a:buNone/>
                      </a:pPr>
                      <a:r>
                        <a:rPr lang="vi-VN" sz="1000">
                          <a:solidFill>
                            <a:srgbClr val="2C2C2C"/>
                          </a:solidFill>
                          <a:latin typeface="Calibri"/>
                          <a:ea typeface="Calibri"/>
                          <a:cs typeface="Calibri"/>
                          <a:sym typeface="Calibri"/>
                        </a:rPr>
                        <a:t>Main analysis</a:t>
                      </a:r>
                      <a:endParaRPr sz="10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c>
                  <a:txBody>
                    <a:bodyPr/>
                    <a:lstStyle/>
                    <a:p>
                      <a:pPr indent="0" lvl="0" marL="0" marR="0" rtl="0" algn="l">
                        <a:spcBef>
                          <a:spcPts val="0"/>
                        </a:spcBef>
                        <a:spcAft>
                          <a:spcPts val="0"/>
                        </a:spcAft>
                        <a:buNone/>
                      </a:pPr>
                      <a:r>
                        <a:rPr b="0" lang="vi-VN" sz="1000">
                          <a:solidFill>
                            <a:srgbClr val="1F3A5F"/>
                          </a:solidFill>
                          <a:latin typeface="Calibri"/>
                          <a:ea typeface="Calibri"/>
                          <a:cs typeface="Calibri"/>
                          <a:sym typeface="Calibri"/>
                        </a:rPr>
                        <a:t>Walk-forward CLV benchmark, meta-learner uplift, and a value-adjusted targeting policy.</a:t>
                      </a:r>
                      <a:endParaRPr b="0" sz="10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r>
              <a:tr h="555075">
                <a:tc>
                  <a:txBody>
                    <a:bodyPr/>
                    <a:lstStyle/>
                    <a:p>
                      <a:pPr indent="0" lvl="0" marL="91440" marR="0" rtl="0" algn="l">
                        <a:spcBef>
                          <a:spcPts val="0"/>
                        </a:spcBef>
                        <a:spcAft>
                          <a:spcPts val="0"/>
                        </a:spcAft>
                        <a:buClr>
                          <a:srgbClr val="2C2C2C"/>
                        </a:buClr>
                        <a:buSzPts val="1000"/>
                        <a:buFont typeface="Calibri"/>
                        <a:buNone/>
                      </a:pPr>
                      <a:r>
                        <a:rPr lang="vi-VN" sz="1000">
                          <a:solidFill>
                            <a:srgbClr val="2C2C2C"/>
                          </a:solidFill>
                          <a:latin typeface="Calibri"/>
                          <a:ea typeface="Calibri"/>
                          <a:cs typeface="Calibri"/>
                          <a:sym typeface="Calibri"/>
                        </a:rPr>
                        <a:t>Evaluation metrics</a:t>
                      </a:r>
                      <a:endParaRPr sz="10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vi-VN" sz="1000">
                          <a:solidFill>
                            <a:srgbClr val="1F3A5F"/>
                          </a:solidFill>
                          <a:latin typeface="Calibri"/>
                          <a:ea typeface="Calibri"/>
                          <a:cs typeface="Calibri"/>
                          <a:sym typeface="Calibri"/>
                        </a:rPr>
                        <a:t>Normalized Gini, Revenue Capture@10%, Qini AUC, AUUC, uplift@K, and held-out profit.</a:t>
                      </a:r>
                      <a:endParaRPr b="0" sz="10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r>
              <a:tr h="716950">
                <a:tc>
                  <a:txBody>
                    <a:bodyPr/>
                    <a:lstStyle/>
                    <a:p>
                      <a:pPr indent="0" lvl="0" marL="91440" marR="0" rtl="0" algn="l">
                        <a:spcBef>
                          <a:spcPts val="0"/>
                        </a:spcBef>
                        <a:spcAft>
                          <a:spcPts val="0"/>
                        </a:spcAft>
                        <a:buClr>
                          <a:srgbClr val="2C2C2C"/>
                        </a:buClr>
                        <a:buSzPts val="1000"/>
                        <a:buFont typeface="Calibri"/>
                        <a:buNone/>
                      </a:pPr>
                      <a:r>
                        <a:rPr lang="vi-VN" sz="1000">
                          <a:solidFill>
                            <a:srgbClr val="2C2C2C"/>
                          </a:solidFill>
                          <a:latin typeface="Calibri"/>
                          <a:ea typeface="Calibri"/>
                          <a:cs typeface="Calibri"/>
                          <a:sym typeface="Calibri"/>
                        </a:rPr>
                        <a:t>Conclusion</a:t>
                      </a:r>
                      <a:endParaRPr sz="10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c>
                  <a:txBody>
                    <a:bodyPr/>
                    <a:lstStyle/>
                    <a:p>
                      <a:pPr indent="0" lvl="0" marL="0" marR="0" rtl="0" algn="l">
                        <a:spcBef>
                          <a:spcPts val="0"/>
                        </a:spcBef>
                        <a:spcAft>
                          <a:spcPts val="0"/>
                        </a:spcAft>
                        <a:buNone/>
                      </a:pPr>
                      <a:r>
                        <a:rPr b="0" lang="vi-VN" sz="1000">
                          <a:solidFill>
                            <a:srgbClr val="1F3A5F"/>
                          </a:solidFill>
                          <a:latin typeface="Calibri"/>
                          <a:ea typeface="Calibri"/>
                          <a:cs typeface="Calibri"/>
                          <a:sym typeface="Calibri"/>
                        </a:rPr>
                        <a:t>Ranking is competitive across contexts; persuadability is not the same as value; the value-adjusted policy leads on point estimates.</a:t>
                      </a:r>
                      <a:endParaRPr b="0" sz="10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r>
              <a:tr h="555075">
                <a:tc>
                  <a:txBody>
                    <a:bodyPr/>
                    <a:lstStyle/>
                    <a:p>
                      <a:pPr indent="0" lvl="0" marL="91440" marR="0" rtl="0" algn="l">
                        <a:spcBef>
                          <a:spcPts val="0"/>
                        </a:spcBef>
                        <a:spcAft>
                          <a:spcPts val="0"/>
                        </a:spcAft>
                        <a:buClr>
                          <a:srgbClr val="2C2C2C"/>
                        </a:buClr>
                        <a:buSzPts val="1000"/>
                        <a:buFont typeface="Calibri"/>
                        <a:buNone/>
                      </a:pPr>
                      <a:r>
                        <a:rPr lang="vi-VN" sz="1000">
                          <a:solidFill>
                            <a:srgbClr val="2C2C2C"/>
                          </a:solidFill>
                          <a:latin typeface="Calibri"/>
                          <a:ea typeface="Calibri"/>
                          <a:cs typeface="Calibri"/>
                          <a:sym typeface="Calibri"/>
                        </a:rPr>
                        <a:t>AI Audit Log</a:t>
                      </a:r>
                      <a:endParaRPr sz="10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vi-VN" sz="1000">
                          <a:solidFill>
                            <a:srgbClr val="1F3A5F"/>
                          </a:solidFill>
                          <a:latin typeface="Calibri"/>
                          <a:ea typeface="Calibri"/>
                          <a:cs typeface="Calibri"/>
                          <a:sym typeface="Calibri"/>
                        </a:rPr>
                        <a:t>Modeling and evaluation prompts logged (P2-07–P2-16).</a:t>
                      </a:r>
                      <a:endParaRPr b="0" sz="10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r>
            </a:tbl>
          </a:graphicData>
        </a:graphic>
      </p:graphicFrame>
      <p:sp>
        <p:nvSpPr>
          <p:cNvPr id="111" name="TextBox 110"/>
          <p:cNvSpPr txBox="1"/>
          <p:nvPr/>
        </p:nvSpPr>
        <p:spPr>
          <a:xfrm>
            <a:off x="457200" y="4152144"/>
            <a:ext cx="8229600" cy="365760"/>
          </a:xfrm>
          <a:prstGeom prst="rect">
            <a:avLst/>
          </a:prstGeom>
          <a:noFill/>
        </p:spPr>
        <p:txBody>
          <a:bodyPr wrap="square">
            <a:spAutoFit/>
          </a:bodyPr>
          <a:lstStyle/>
          <a:p>
            <a:r>
              <a:rPr sz="1300" i="1">
                <a:solidFill>
                  <a:srgbClr val="007A87"/>
                </a:solidFill>
                <a:latin typeface="Calibri"/>
              </a:rPr>
              <a:t>Normalized Gini and RC@10% are prioritised over R² because the goal is VIP ranking on a zero-inflated target.</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9"/>
          <p:cNvSpPr/>
          <p:nvPr/>
        </p:nvSpPr>
        <p:spPr>
          <a:xfrm>
            <a:off x="457200" y="182880"/>
            <a:ext cx="8229600" cy="777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2800"/>
              <a:buFont typeface="Calibri"/>
              <a:buNone/>
            </a:pPr>
            <a:r>
              <a:rPr b="1" lang="vi-VN" sz="2800">
                <a:solidFill>
                  <a:srgbClr val="1F3864"/>
                </a:solidFill>
                <a:latin typeface="Calibri"/>
                <a:ea typeface="Calibri"/>
                <a:cs typeface="Calibri"/>
                <a:sym typeface="Calibri"/>
              </a:rPr>
              <a:t>Visualization — Evidence-Based Insights</a:t>
            </a:r>
            <a:endParaRPr sz="2800">
              <a:solidFill>
                <a:srgbClr val="000000"/>
              </a:solidFill>
              <a:latin typeface="Calibri"/>
              <a:ea typeface="Calibri"/>
              <a:cs typeface="Calibri"/>
              <a:sym typeface="Calibri"/>
            </a:endParaRPr>
          </a:p>
        </p:txBody>
      </p:sp>
      <p:cxnSp>
        <p:nvCxnSpPr>
          <p:cNvPr id="117" name="Google Shape;117;p19"/>
          <p:cNvCxnSpPr/>
          <p:nvPr/>
        </p:nvCxnSpPr>
        <p:spPr>
          <a:xfrm>
            <a:off x="457200" y="960120"/>
            <a:ext cx="8229600" cy="0"/>
          </a:xfrm>
          <a:prstGeom prst="straightConnector1">
            <a:avLst/>
          </a:prstGeom>
          <a:noFill/>
          <a:ln cap="flat" cmpd="sng" w="19050">
            <a:solidFill>
              <a:srgbClr val="4472C4"/>
            </a:solidFill>
            <a:prstDash val="solid"/>
            <a:round/>
            <a:headEnd len="sm" w="sm" type="none"/>
            <a:tailEnd len="sm" w="sm" type="none"/>
          </a:ln>
        </p:spPr>
      </p:cxnSp>
      <p:sp>
        <p:nvSpPr>
          <p:cNvPr id="118" name="Google Shape;118;p19"/>
          <p:cNvSpPr/>
          <p:nvPr/>
        </p:nvSpPr>
        <p:spPr>
          <a:xfrm>
            <a:off x="457200" y="1051546"/>
            <a:ext cx="8229600" cy="1913700"/>
          </a:xfrm>
          <a:prstGeom prst="rect">
            <a:avLst/>
          </a:prstGeom>
          <a:noFill/>
          <a:ln>
            <a:noFill/>
          </a:ln>
        </p:spPr>
        <p:txBody>
          <a:bodyPr anchorCtr="0" anchor="t" bIns="45700" lIns="91425" spcFirstLastPara="1" rIns="91425" wrap="square" tIns="45700">
            <a:noAutofit/>
          </a:bodyPr>
          <a:lstStyle/>
          <a:p>
            <a:pPr indent="0" lvl="0" marL="0" rtl="0" algn="l">
              <a:spcBef>
                <a:spcPts val="500"/>
              </a:spcBef>
              <a:spcAft>
                <a:spcPts val="0"/>
              </a:spcAft>
              <a:buClr>
                <a:schemeClr val="dk1"/>
              </a:buClr>
              <a:buSzPts val="1100"/>
              <a:buFont typeface="Arial"/>
              <a:buNone/>
            </a:pPr>
            <a:r>
              <a:rPr lang="vi-VN" sz="1200">
                <a:solidFill>
                  <a:srgbClr val="333333"/>
                </a:solidFill>
                <a:latin typeface="Calibri"/>
                <a:ea typeface="Calibri"/>
                <a:cs typeface="Calibri"/>
                <a:sym typeface="Calibri"/>
              </a:rPr>
              <a:t>•  Uplift is learnable but weak: the S-Learner reaches Qini 0.0136 while the response model (−0.0071) ranks below random — value is not the same as persuadability.</a:t>
            </a:r>
            <a:endParaRPr sz="1200">
              <a:solidFill>
                <a:srgbClr val="333333"/>
              </a:solidFill>
              <a:latin typeface="Calibri"/>
              <a:ea typeface="Calibri"/>
              <a:cs typeface="Calibri"/>
              <a:sym typeface="Calibri"/>
            </a:endParaRPr>
          </a:p>
          <a:p>
            <a:pPr indent="0" lvl="0" marL="0" rtl="0" algn="l">
              <a:spcBef>
                <a:spcPts val="500"/>
              </a:spcBef>
              <a:spcAft>
                <a:spcPts val="0"/>
              </a:spcAft>
              <a:buClr>
                <a:schemeClr val="dk1"/>
              </a:buClr>
              <a:buSzPts val="1100"/>
              <a:buFont typeface="Arial"/>
              <a:buNone/>
            </a:pPr>
            <a:r>
              <a:rPr lang="vi-VN" sz="1200">
                <a:solidFill>
                  <a:srgbClr val="333333"/>
                </a:solidFill>
                <a:latin typeface="Calibri"/>
                <a:ea typeface="Calibri"/>
                <a:cs typeface="Calibri"/>
                <a:sym typeface="Calibri"/>
              </a:rPr>
              <a:t>•  Targeting value: value-adjusted uplift (uplift × value) has the highest point-estimate held-out profit in all nine (margin, cost) settings.</a:t>
            </a:r>
            <a:endParaRPr sz="1200">
              <a:solidFill>
                <a:srgbClr val="333333"/>
              </a:solidFill>
              <a:latin typeface="Calibri"/>
              <a:ea typeface="Calibri"/>
              <a:cs typeface="Calibri"/>
              <a:sym typeface="Calibri"/>
            </a:endParaRPr>
          </a:p>
          <a:p>
            <a:pPr indent="0" lvl="0" marL="0" rtl="0" algn="l">
              <a:spcBef>
                <a:spcPts val="500"/>
              </a:spcBef>
              <a:spcAft>
                <a:spcPts val="0"/>
              </a:spcAft>
              <a:buClr>
                <a:schemeClr val="dk1"/>
              </a:buClr>
              <a:buSzPts val="1100"/>
              <a:buFont typeface="Arial"/>
              <a:buNone/>
            </a:pPr>
            <a:r>
              <a:rPr lang="vi-VN" sz="1200">
                <a:solidFill>
                  <a:srgbClr val="333333"/>
                </a:solidFill>
                <a:latin typeface="Calibri"/>
                <a:ea typeface="Calibri"/>
                <a:cs typeface="Calibri"/>
                <a:sym typeface="Calibri"/>
              </a:rPr>
              <a:t>•  Near-disjoint selection: value-only and uplift-only policies overlap only 0.007 at the top 10%, so they target different customers.</a:t>
            </a:r>
            <a:endParaRPr sz="1200">
              <a:solidFill>
                <a:srgbClr val="333333"/>
              </a:solidFill>
              <a:latin typeface="Calibri"/>
              <a:ea typeface="Calibri"/>
              <a:cs typeface="Calibri"/>
              <a:sym typeface="Calibri"/>
            </a:endParaRPr>
          </a:p>
        </p:txBody>
      </p:sp>
      <p:pic>
        <p:nvPicPr>
          <p:cNvPr id="122" name="Picture 121" descr="x5_qini_curves.png"/>
          <p:cNvPicPr>
            <a:picLocks noChangeAspect="1"/>
          </p:cNvPicPr>
          <p:nvPr/>
        </p:nvPicPr>
        <p:blipFill>
          <a:blip r:embed="rId6"/>
          <a:stretch>
            <a:fillRect/>
          </a:stretch>
        </p:blipFill>
        <p:spPr>
          <a:xfrm>
            <a:off x="174820" y="3056615"/>
            <a:ext cx="2697482" cy="1118037"/>
          </a:xfrm>
          <a:prstGeom prst="rect">
            <a:avLst/>
          </a:prstGeom>
        </p:spPr>
      </p:pic>
      <p:pic>
        <p:nvPicPr>
          <p:cNvPr id="123" name="Picture 122" descr="x5_policy_profit.png"/>
          <p:cNvPicPr>
            <a:picLocks noChangeAspect="1"/>
          </p:cNvPicPr>
          <p:nvPr/>
        </p:nvPicPr>
        <p:blipFill>
          <a:blip r:embed="rId7"/>
          <a:stretch>
            <a:fillRect/>
          </a:stretch>
        </p:blipFill>
        <p:spPr>
          <a:xfrm>
            <a:off x="3150650" y="2822577"/>
            <a:ext cx="2697482" cy="1586119"/>
          </a:xfrm>
          <a:prstGeom prst="rect">
            <a:avLst/>
          </a:prstGeom>
        </p:spPr>
      </p:pic>
      <p:pic>
        <p:nvPicPr>
          <p:cNvPr id="124" name="Picture 123" descr="x5_policy_overlap.png"/>
          <p:cNvPicPr>
            <a:picLocks noChangeAspect="1"/>
          </p:cNvPicPr>
          <p:nvPr/>
        </p:nvPicPr>
        <p:blipFill>
          <a:blip r:embed="rId8"/>
          <a:stretch>
            <a:fillRect/>
          </a:stretch>
        </p:blipFill>
        <p:spPr>
          <a:xfrm>
            <a:off x="6126480" y="2965253"/>
            <a:ext cx="2697482" cy="121528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0"/>
          <p:cNvSpPr txBox="1"/>
          <p:nvPr/>
        </p:nvSpPr>
        <p:spPr>
          <a:xfrm>
            <a:off x="457200" y="256032"/>
            <a:ext cx="8229600" cy="477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vi-VN" sz="2500">
                <a:solidFill>
                  <a:srgbClr val="1F3A5F"/>
                </a:solidFill>
                <a:latin typeface="Calibri"/>
                <a:ea typeface="Calibri"/>
                <a:cs typeface="Calibri"/>
                <a:sym typeface="Calibri"/>
              </a:rPr>
              <a:t>Regression Analysis — Overview</a:t>
            </a:r>
            <a:endParaRPr/>
          </a:p>
        </p:txBody>
      </p:sp>
      <p:sp>
        <p:nvSpPr>
          <p:cNvPr id="127" name="Google Shape;127;p20"/>
          <p:cNvSpPr txBox="1"/>
          <p:nvPr/>
        </p:nvSpPr>
        <p:spPr>
          <a:xfrm>
            <a:off x="502920" y="1325880"/>
            <a:ext cx="8138100" cy="2265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vi-VN">
                <a:solidFill>
                  <a:srgbClr val="1F3A5F"/>
                </a:solidFill>
                <a:latin typeface="Calibri"/>
                <a:ea typeface="Calibri"/>
                <a:cs typeface="Calibri"/>
                <a:sym typeface="Calibri"/>
              </a:rPr>
              <a:t>Why a two-stage Hurdle model? Future CLV is zero-inflated and heavy-tailed, so a single MSE regressor struggles with both purchase incidence and spending intensity.</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  Stage 1 — a classifier estimates the return probability p for every customer.</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  Stage 2 — a regressor estimates positive spend m (log-corrected); CLV = p · m.</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  For RQ3 the target switches from value to uplift: meta-learners estimate uplift = E[Y | treated] − E[Y | control].</a:t>
            </a:r>
            <a:endParaRPr/>
          </a:p>
        </p:txBody>
      </p:sp>
      <p:cxnSp>
        <p:nvCxnSpPr>
          <p:cNvPr id="128" name="Google Shape;128;p20"/>
          <p:cNvCxnSpPr/>
          <p:nvPr/>
        </p:nvCxnSpPr>
        <p:spPr>
          <a:xfrm>
            <a:off x="457200" y="960120"/>
            <a:ext cx="8229600" cy="0"/>
          </a:xfrm>
          <a:prstGeom prst="straightConnector1">
            <a:avLst/>
          </a:prstGeom>
          <a:noFill/>
          <a:ln cap="flat" cmpd="sng" w="19050">
            <a:solidFill>
              <a:srgbClr val="4472C4"/>
            </a:solidFill>
            <a:prstDash val="solid"/>
            <a:round/>
            <a:headEnd len="sm" w="sm" type="none"/>
            <a:tailEnd len="sm" w="sm"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1"/>
          <p:cNvSpPr/>
          <p:nvPr/>
        </p:nvSpPr>
        <p:spPr>
          <a:xfrm>
            <a:off x="457200" y="182880"/>
            <a:ext cx="822960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2800"/>
              <a:buFont typeface="Calibri"/>
              <a:buNone/>
            </a:pPr>
            <a:r>
              <a:rPr b="1" lang="vi-VN" sz="2800">
                <a:solidFill>
                  <a:srgbClr val="1F3864"/>
                </a:solidFill>
                <a:latin typeface="Calibri"/>
                <a:ea typeface="Calibri"/>
                <a:cs typeface="Calibri"/>
                <a:sym typeface="Calibri"/>
              </a:rPr>
              <a:t>Regression Analysis (Compare &gt;= 5 Models)</a:t>
            </a:r>
            <a:endParaRPr sz="2800">
              <a:solidFill>
                <a:schemeClr val="dk1"/>
              </a:solidFill>
              <a:latin typeface="Calibri"/>
              <a:ea typeface="Calibri"/>
              <a:cs typeface="Calibri"/>
              <a:sym typeface="Calibri"/>
            </a:endParaRPr>
          </a:p>
        </p:txBody>
      </p:sp>
      <p:cxnSp>
        <p:nvCxnSpPr>
          <p:cNvPr id="134" name="Google Shape;134;p21"/>
          <p:cNvCxnSpPr/>
          <p:nvPr/>
        </p:nvCxnSpPr>
        <p:spPr>
          <a:xfrm>
            <a:off x="457200" y="960120"/>
            <a:ext cx="8229600" cy="0"/>
          </a:xfrm>
          <a:prstGeom prst="straightConnector1">
            <a:avLst/>
          </a:prstGeom>
          <a:noFill/>
          <a:ln cap="flat" cmpd="sng" w="19050">
            <a:solidFill>
              <a:srgbClr val="4472C4"/>
            </a:solidFill>
            <a:prstDash val="solid"/>
            <a:round/>
            <a:headEnd len="sm" w="sm" type="none"/>
            <a:tailEnd len="sm" w="sm" type="none"/>
          </a:ln>
        </p:spPr>
      </p:cxnSp>
      <p:graphicFrame>
        <p:nvGraphicFramePr>
          <p:cNvPr id="135" name="Google Shape;135;p21"/>
          <p:cNvGraphicFramePr/>
          <p:nvPr/>
        </p:nvGraphicFramePr>
        <p:xfrm>
          <a:off x="366750" y="1097280"/>
          <a:ext cx="3000000" cy="3000000"/>
        </p:xfrm>
        <a:graphic>
          <a:graphicData uri="http://schemas.openxmlformats.org/drawingml/2006/table">
            <a:tbl>
              <a:tblPr>
                <a:noFill/>
                <a:tableStyleId>{9D8E70CB-6C22-48F3-857E-4DB29880E99C}</a:tableStyleId>
              </a:tblPr>
              <a:tblGrid>
                <a:gridCol w="2830775"/>
                <a:gridCol w="5489275"/>
              </a:tblGrid>
              <a:tr h="350850">
                <a:tc>
                  <a:txBody>
                    <a:bodyPr/>
                    <a:lstStyle/>
                    <a:p>
                      <a:pPr indent="0" lvl="0" marL="91440" marR="0" rtl="0" algn="ctr">
                        <a:spcBef>
                          <a:spcPts val="0"/>
                        </a:spcBef>
                        <a:spcAft>
                          <a:spcPts val="0"/>
                        </a:spcAft>
                        <a:buClr>
                          <a:srgbClr val="FFFFFF"/>
                        </a:buClr>
                        <a:buSzPts val="1400"/>
                        <a:buFont typeface="Calibri"/>
                        <a:buNone/>
                      </a:pPr>
                      <a:r>
                        <a:rPr b="1" lang="vi-VN" sz="1400">
                          <a:solidFill>
                            <a:srgbClr val="FFFFFF"/>
                          </a:solidFill>
                          <a:latin typeface="Calibri"/>
                          <a:ea typeface="Calibri"/>
                          <a:cs typeface="Calibri"/>
                          <a:sym typeface="Calibri"/>
                        </a:rPr>
                        <a:t>What to present</a:t>
                      </a:r>
                      <a:endParaRPr sz="14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1F3864"/>
                    </a:solidFill>
                  </a:tcPr>
                </a:tc>
                <a:tc>
                  <a:txBody>
                    <a:bodyPr/>
                    <a:lstStyle/>
                    <a:p>
                      <a:pPr indent="0" lvl="0" marL="91440" marR="0" rtl="0" algn="ctr">
                        <a:spcBef>
                          <a:spcPts val="0"/>
                        </a:spcBef>
                        <a:spcAft>
                          <a:spcPts val="0"/>
                        </a:spcAft>
                        <a:buClr>
                          <a:srgbClr val="FFFFFF"/>
                        </a:buClr>
                        <a:buSzPts val="1400"/>
                        <a:buFont typeface="Calibri"/>
                        <a:buNone/>
                      </a:pPr>
                      <a:r>
                        <a:rPr b="1" lang="vi-VN" sz="1400">
                          <a:solidFill>
                            <a:srgbClr val="FFFFFF"/>
                          </a:solidFill>
                          <a:latin typeface="Calibri"/>
                          <a:ea typeface="Calibri"/>
                          <a:cs typeface="Calibri"/>
                          <a:sym typeface="Calibri"/>
                        </a:rPr>
                        <a:t>Phase 2 detail</a:t>
                      </a:r>
                      <a:endParaRPr sz="14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1F3864"/>
                    </a:solidFill>
                  </a:tcPr>
                </a:tc>
              </a:tr>
              <a:tr h="631525">
                <a:tc>
                  <a:txBody>
                    <a:bodyPr/>
                    <a:lstStyle/>
                    <a:p>
                      <a:pPr indent="0" lvl="0" marL="91440" marR="0" rtl="0" algn="l">
                        <a:spcBef>
                          <a:spcPts val="0"/>
                        </a:spcBef>
                        <a:spcAft>
                          <a:spcPts val="0"/>
                        </a:spcAft>
                        <a:buClr>
                          <a:srgbClr val="2C2C2C"/>
                        </a:buClr>
                        <a:buSzPts val="1400"/>
                        <a:buFont typeface="Calibri"/>
                        <a:buNone/>
                      </a:pPr>
                      <a:r>
                        <a:rPr lang="vi-VN" sz="1000">
                          <a:solidFill>
                            <a:srgbClr val="2C2C2C"/>
                          </a:solidFill>
                          <a:latin typeface="Calibri"/>
                          <a:ea typeface="Calibri"/>
                          <a:cs typeface="Calibri"/>
                          <a:sym typeface="Calibri"/>
                        </a:rPr>
                        <a:t>Model choice rationale</a:t>
                      </a:r>
                      <a:endParaRPr sz="10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c>
                  <a:txBody>
                    <a:bodyPr/>
                    <a:lstStyle/>
                    <a:p>
                      <a:pPr indent="0" lvl="0" marL="0" marR="0" rtl="0" algn="l">
                        <a:spcBef>
                          <a:spcPts val="0"/>
                        </a:spcBef>
                        <a:spcAft>
                          <a:spcPts val="0"/>
                        </a:spcAft>
                        <a:buNone/>
                      </a:pPr>
                      <a:r>
                        <a:rPr b="0" lang="vi-VN" sz="1000">
                          <a:solidFill>
                            <a:srgbClr val="1F3A5F"/>
                          </a:solidFill>
                          <a:latin typeface="Calibri"/>
                          <a:ea typeface="Calibri"/>
                          <a:cs typeface="Calibri"/>
                          <a:sym typeface="Calibri"/>
                        </a:rPr>
                        <a:t>Zero-inflated, heavy-tailed CLV calls for a two-stage Hurdle; persuadability needs causal meta-learners, not a response model.</a:t>
                      </a:r>
                      <a:endParaRPr b="0" sz="10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r>
              <a:tr h="631525">
                <a:tc>
                  <a:txBody>
                    <a:bodyPr/>
                    <a:lstStyle/>
                    <a:p>
                      <a:pPr indent="0" lvl="0" marL="91440" marR="0" rtl="0" algn="l">
                        <a:spcBef>
                          <a:spcPts val="0"/>
                        </a:spcBef>
                        <a:spcAft>
                          <a:spcPts val="0"/>
                        </a:spcAft>
                        <a:buClr>
                          <a:srgbClr val="2C2C2C"/>
                        </a:buClr>
                        <a:buSzPts val="1400"/>
                        <a:buFont typeface="Calibri"/>
                        <a:buNone/>
                      </a:pPr>
                      <a:r>
                        <a:rPr lang="vi-VN" sz="1000">
                          <a:solidFill>
                            <a:srgbClr val="2C2C2C"/>
                          </a:solidFill>
                          <a:latin typeface="Calibri"/>
                          <a:ea typeface="Calibri"/>
                          <a:cs typeface="Calibri"/>
                          <a:sym typeface="Calibri"/>
                        </a:rPr>
                        <a:t>Dependent &amp; independent</a:t>
                      </a:r>
                      <a:endParaRPr sz="10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vi-VN" sz="1000">
                          <a:solidFill>
                            <a:srgbClr val="1F3A5F"/>
                          </a:solidFill>
                          <a:latin typeface="Calibri"/>
                          <a:ea typeface="Calibri"/>
                          <a:cs typeface="Calibri"/>
                          <a:sym typeface="Calibri"/>
                        </a:rPr>
                        <a:t>CLV: target = future 6-month value; features = RFM / sequence / semantic. Uplift: target = conversion under treatment.</a:t>
                      </a:r>
                      <a:endParaRPr b="0" sz="10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r>
              <a:tr h="631525">
                <a:tc>
                  <a:txBody>
                    <a:bodyPr/>
                    <a:lstStyle/>
                    <a:p>
                      <a:pPr indent="0" lvl="0" marL="91440" marR="0" rtl="0" algn="l">
                        <a:spcBef>
                          <a:spcPts val="0"/>
                        </a:spcBef>
                        <a:spcAft>
                          <a:spcPts val="0"/>
                        </a:spcAft>
                        <a:buClr>
                          <a:srgbClr val="2C2C2C"/>
                        </a:buClr>
                        <a:buSzPts val="1400"/>
                        <a:buFont typeface="Calibri"/>
                        <a:buNone/>
                      </a:pPr>
                      <a:r>
                        <a:rPr lang="vi-VN" sz="1000">
                          <a:solidFill>
                            <a:srgbClr val="2C2C2C"/>
                          </a:solidFill>
                          <a:latin typeface="Calibri"/>
                          <a:ea typeface="Calibri"/>
                          <a:cs typeface="Calibri"/>
                          <a:sym typeface="Calibri"/>
                        </a:rPr>
                        <a:t>Compare ≥ 5 models</a:t>
                      </a:r>
                      <a:endParaRPr sz="10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c>
                  <a:txBody>
                    <a:bodyPr/>
                    <a:lstStyle/>
                    <a:p>
                      <a:pPr indent="0" lvl="0" marL="0" marR="0" rtl="0" algn="l">
                        <a:spcBef>
                          <a:spcPts val="0"/>
                        </a:spcBef>
                        <a:spcAft>
                          <a:spcPts val="0"/>
                        </a:spcAft>
                        <a:buNone/>
                      </a:pPr>
                      <a:r>
                        <a:rPr b="0" lang="vi-VN" sz="1000">
                          <a:solidFill>
                            <a:srgbClr val="1F3A5F"/>
                          </a:solidFill>
                          <a:latin typeface="Calibri"/>
                          <a:ea typeface="Calibri"/>
                          <a:cs typeface="Calibri"/>
                          <a:sym typeface="Calibri"/>
                        </a:rPr>
                        <a:t>CLV: Hurdle, Monetary, Ridge, RandomForest, XGBoost, LightGBM, RFM. Uplift: S / T / X-Learner, Class-Transform, Response.</a:t>
                      </a:r>
                      <a:endParaRPr b="0" sz="10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r>
              <a:tr h="456100">
                <a:tc>
                  <a:txBody>
                    <a:bodyPr/>
                    <a:lstStyle/>
                    <a:p>
                      <a:pPr indent="0" lvl="0" marL="91440" marR="0" rtl="0" algn="l">
                        <a:spcBef>
                          <a:spcPts val="0"/>
                        </a:spcBef>
                        <a:spcAft>
                          <a:spcPts val="0"/>
                        </a:spcAft>
                        <a:buClr>
                          <a:srgbClr val="2C2C2C"/>
                        </a:buClr>
                        <a:buSzPts val="1400"/>
                        <a:buFont typeface="Calibri"/>
                        <a:buNone/>
                      </a:pPr>
                      <a:r>
                        <a:rPr lang="vi-VN" sz="1000">
                          <a:solidFill>
                            <a:srgbClr val="2C2C2C"/>
                          </a:solidFill>
                          <a:latin typeface="Calibri"/>
                          <a:ea typeface="Calibri"/>
                          <a:cs typeface="Calibri"/>
                          <a:sym typeface="Calibri"/>
                        </a:rPr>
                        <a:t>Result charts</a:t>
                      </a:r>
                      <a:endParaRPr sz="10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vi-VN" sz="1000">
                          <a:solidFill>
                            <a:srgbClr val="1F3A5F"/>
                          </a:solidFill>
                          <a:latin typeface="Calibri"/>
                          <a:ea typeface="Calibri"/>
                          <a:cs typeface="Calibri"/>
                          <a:sym typeface="Calibri"/>
                        </a:rPr>
                        <a:t>Walk-forward NG and RC@10% per context; Qini curves; profit versus targeting depth.</a:t>
                      </a:r>
                      <a:endParaRPr b="0" sz="10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r>
              <a:tr h="631525">
                <a:tc>
                  <a:txBody>
                    <a:bodyPr/>
                    <a:lstStyle/>
                    <a:p>
                      <a:pPr indent="0" lvl="0" marL="91440" marR="0" rtl="0" algn="l">
                        <a:spcBef>
                          <a:spcPts val="0"/>
                        </a:spcBef>
                        <a:spcAft>
                          <a:spcPts val="0"/>
                        </a:spcAft>
                        <a:buClr>
                          <a:srgbClr val="2C2C2C"/>
                        </a:buClr>
                        <a:buSzPts val="1400"/>
                        <a:buFont typeface="Calibri"/>
                        <a:buNone/>
                      </a:pPr>
                      <a:r>
                        <a:rPr lang="vi-VN" sz="1000">
                          <a:solidFill>
                            <a:srgbClr val="2C2C2C"/>
                          </a:solidFill>
                          <a:latin typeface="Calibri"/>
                          <a:ea typeface="Calibri"/>
                          <a:cs typeface="Calibri"/>
                          <a:sym typeface="Calibri"/>
                        </a:rPr>
                        <a:t>Interpretation &amp; limits</a:t>
                      </a:r>
                      <a:endParaRPr sz="10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c>
                  <a:txBody>
                    <a:bodyPr/>
                    <a:lstStyle/>
                    <a:p>
                      <a:pPr indent="0" lvl="0" marL="0" marR="0" rtl="0" algn="l">
                        <a:spcBef>
                          <a:spcPts val="0"/>
                        </a:spcBef>
                        <a:spcAft>
                          <a:spcPts val="0"/>
                        </a:spcAft>
                        <a:buNone/>
                      </a:pPr>
                      <a:r>
                        <a:rPr b="0" lang="vi-VN" sz="1000">
                          <a:solidFill>
                            <a:srgbClr val="1F3A5F"/>
                          </a:solidFill>
                          <a:latin typeface="Calibri"/>
                          <a:ea typeface="Calibri"/>
                          <a:cs typeface="Calibri"/>
                          <a:sym typeface="Calibri"/>
                        </a:rPr>
                        <a:t>Hurdle competitive (NG ≈ 0.83 e-com, 0.86 grocery); gaps versus the best model are not significant; only 3–4 windows, so tests are diagnostics.</a:t>
                      </a:r>
                      <a:endParaRPr b="0" sz="10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r>
              <a:tr h="456100">
                <a:tc>
                  <a:txBody>
                    <a:bodyPr/>
                    <a:lstStyle/>
                    <a:p>
                      <a:pPr indent="0" lvl="0" marL="91440" marR="0" rtl="0" algn="l">
                        <a:spcBef>
                          <a:spcPts val="0"/>
                        </a:spcBef>
                        <a:spcAft>
                          <a:spcPts val="0"/>
                        </a:spcAft>
                        <a:buClr>
                          <a:srgbClr val="2C2C2C"/>
                        </a:buClr>
                        <a:buSzPts val="1400"/>
                        <a:buFont typeface="Calibri"/>
                        <a:buNone/>
                      </a:pPr>
                      <a:r>
                        <a:rPr lang="vi-VN" sz="1000">
                          <a:solidFill>
                            <a:srgbClr val="2C2C2C"/>
                          </a:solidFill>
                          <a:latin typeface="Calibri"/>
                          <a:ea typeface="Calibri"/>
                          <a:cs typeface="Calibri"/>
                          <a:sym typeface="Calibri"/>
                        </a:rPr>
                        <a:t>AI Audit Log</a:t>
                      </a:r>
                      <a:endParaRPr sz="10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vi-VN" sz="1000">
                          <a:solidFill>
                            <a:srgbClr val="1F3A5F"/>
                          </a:solidFill>
                          <a:latin typeface="Calibri"/>
                          <a:ea typeface="Calibri"/>
                          <a:cs typeface="Calibri"/>
                          <a:sym typeface="Calibri"/>
                        </a:rPr>
                        <a:t>Benchmark and significance-testing prompts logged (P2-08–P2-13).</a:t>
                      </a:r>
                      <a:endParaRPr b="0" sz="10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2"/>
          <p:cNvSpPr txBox="1"/>
          <p:nvPr/>
        </p:nvSpPr>
        <p:spPr>
          <a:xfrm>
            <a:off x="457200" y="256032"/>
            <a:ext cx="8229600" cy="477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vi-VN" sz="2500">
                <a:solidFill>
                  <a:srgbClr val="1F3A5F"/>
                </a:solidFill>
                <a:latin typeface="Calibri"/>
                <a:ea typeface="Calibri"/>
                <a:cs typeface="Calibri"/>
                <a:sym typeface="Calibri"/>
              </a:rPr>
              <a:t>Regression Results &amp; Interpretation</a:t>
            </a:r>
            <a:endParaRPr/>
          </a:p>
        </p:txBody>
      </p:sp>
      <p:sp>
        <p:nvSpPr>
          <p:cNvPr id="141" name="Google Shape;141;p22"/>
          <p:cNvSpPr txBox="1"/>
          <p:nvPr/>
        </p:nvSpPr>
        <p:spPr>
          <a:xfrm>
            <a:off x="502920" y="1325880"/>
            <a:ext cx="4572000" cy="3252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vi-VN" sz="1400">
                <a:solidFill>
                  <a:srgbClr val="1F3A5F"/>
                </a:solidFill>
                <a:latin typeface="Calibri"/>
                <a:ea typeface="Calibri"/>
                <a:cs typeface="Calibri"/>
                <a:sym typeface="Calibri"/>
              </a:rPr>
              <a:t>Cross-context ranking — Hurdle: NG 0.825 (Online Retail II), 0.855 (Dunnhumby); within noise of the best model in each context (paired p &gt; 0.06).</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  Feature ablation: dropping the sequence group hurts grocery (ΔNG +0.021, p = 0.001); semantic features add interpretability, not significant lift (p ≥ 0.58).</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  SHAP drivers shift by context: monetary value dominates e-commerce; recent-purchase sequence dominates grocery (figure).</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  CQR 95% intervals: empirical coverage is close to nominal; grocery intervals are tighter (a lighter tail).</a:t>
            </a:r>
            <a:endParaRPr/>
          </a:p>
        </p:txBody>
      </p:sp>
      <p:cxnSp>
        <p:nvCxnSpPr>
          <p:cNvPr id="143" name="Google Shape;143;p22"/>
          <p:cNvCxnSpPr/>
          <p:nvPr/>
        </p:nvCxnSpPr>
        <p:spPr>
          <a:xfrm>
            <a:off x="457200" y="960120"/>
            <a:ext cx="8229600" cy="0"/>
          </a:xfrm>
          <a:prstGeom prst="straightConnector1">
            <a:avLst/>
          </a:prstGeom>
          <a:noFill/>
          <a:ln cap="flat" cmpd="sng" w="19050">
            <a:solidFill>
              <a:srgbClr val="4472C4"/>
            </a:solidFill>
            <a:prstDash val="solid"/>
            <a:round/>
            <a:headEnd len="sm" w="sm" type="none"/>
            <a:tailEnd len="sm" w="sm" type="none"/>
          </a:ln>
        </p:spPr>
      </p:cxnSp>
      <p:pic>
        <p:nvPicPr>
          <p:cNvPr id="144" name="Picture 143" descr="shap_crosscontext.png"/>
          <p:cNvPicPr>
            <a:picLocks noChangeAspect="1"/>
          </p:cNvPicPr>
          <p:nvPr/>
        </p:nvPicPr>
        <p:blipFill>
          <a:blip r:embed="rId4"/>
          <a:stretch>
            <a:fillRect/>
          </a:stretch>
        </p:blipFill>
        <p:spPr>
          <a:xfrm>
            <a:off x="5212080" y="1417320"/>
            <a:ext cx="3474722" cy="219866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3"/>
          <p:cNvSpPr/>
          <p:nvPr/>
        </p:nvSpPr>
        <p:spPr>
          <a:xfrm>
            <a:off x="457200" y="182880"/>
            <a:ext cx="822960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2800"/>
              <a:buFont typeface="Calibri"/>
              <a:buNone/>
            </a:pPr>
            <a:r>
              <a:rPr b="1" lang="vi-VN" sz="2800">
                <a:solidFill>
                  <a:srgbClr val="1F3864"/>
                </a:solidFill>
                <a:latin typeface="Calibri"/>
                <a:ea typeface="Calibri"/>
                <a:cs typeface="Calibri"/>
                <a:sym typeface="Calibri"/>
              </a:rPr>
              <a:t>Analysis Tool — Dashboard / Report</a:t>
            </a:r>
            <a:endParaRPr sz="2800">
              <a:solidFill>
                <a:schemeClr val="dk1"/>
              </a:solidFill>
              <a:latin typeface="Calibri"/>
              <a:ea typeface="Calibri"/>
              <a:cs typeface="Calibri"/>
              <a:sym typeface="Calibri"/>
            </a:endParaRPr>
          </a:p>
        </p:txBody>
      </p:sp>
      <p:cxnSp>
        <p:nvCxnSpPr>
          <p:cNvPr id="149" name="Google Shape;149;p23"/>
          <p:cNvCxnSpPr/>
          <p:nvPr/>
        </p:nvCxnSpPr>
        <p:spPr>
          <a:xfrm>
            <a:off x="457200" y="960120"/>
            <a:ext cx="8229600" cy="0"/>
          </a:xfrm>
          <a:prstGeom prst="straightConnector1">
            <a:avLst/>
          </a:prstGeom>
          <a:noFill/>
          <a:ln cap="flat" cmpd="sng" w="19050">
            <a:solidFill>
              <a:srgbClr val="4472C4"/>
            </a:solidFill>
            <a:prstDash val="solid"/>
            <a:round/>
            <a:headEnd len="sm" w="sm" type="none"/>
            <a:tailEnd len="sm" w="sm" type="none"/>
          </a:ln>
        </p:spPr>
      </p:cxnSp>
      <p:graphicFrame>
        <p:nvGraphicFramePr>
          <p:cNvPr id="150" name="Google Shape;150;p23"/>
          <p:cNvGraphicFramePr/>
          <p:nvPr/>
        </p:nvGraphicFramePr>
        <p:xfrm>
          <a:off x="457200" y="1097279"/>
          <a:ext cx="3000000" cy="3000000"/>
        </p:xfrm>
        <a:graphic>
          <a:graphicData uri="http://schemas.openxmlformats.org/drawingml/2006/table">
            <a:tbl>
              <a:tblPr>
                <a:noFill/>
                <a:tableStyleId>{9D8E70CB-6C22-48F3-857E-4DB29880E99C}</a:tableStyleId>
              </a:tblPr>
              <a:tblGrid>
                <a:gridCol w="2800000"/>
                <a:gridCol w="5429600"/>
              </a:tblGrid>
              <a:tr h="288700">
                <a:tc>
                  <a:txBody>
                    <a:bodyPr/>
                    <a:lstStyle/>
                    <a:p>
                      <a:pPr indent="0" lvl="0" marL="91440" marR="0" rtl="0" algn="ctr">
                        <a:spcBef>
                          <a:spcPts val="0"/>
                        </a:spcBef>
                        <a:spcAft>
                          <a:spcPts val="0"/>
                        </a:spcAft>
                        <a:buClr>
                          <a:srgbClr val="FFFFFF"/>
                        </a:buClr>
                        <a:buSzPts val="1200"/>
                        <a:buFont typeface="Calibri"/>
                        <a:buNone/>
                      </a:pPr>
                      <a:r>
                        <a:rPr b="1" lang="vi-VN" sz="1200">
                          <a:solidFill>
                            <a:srgbClr val="FFFFFF"/>
                          </a:solidFill>
                          <a:latin typeface="Calibri"/>
                          <a:ea typeface="Calibri"/>
                          <a:cs typeface="Calibri"/>
                          <a:sym typeface="Calibri"/>
                        </a:rPr>
                        <a:t>Requirement</a:t>
                      </a:r>
                      <a:endParaRPr sz="12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1F3864"/>
                    </a:solidFill>
                  </a:tcPr>
                </a:tc>
                <a:tc>
                  <a:txBody>
                    <a:bodyPr/>
                    <a:lstStyle/>
                    <a:p>
                      <a:pPr indent="0" lvl="0" marL="91440" marR="0" rtl="0" algn="ctr">
                        <a:spcBef>
                          <a:spcPts val="0"/>
                        </a:spcBef>
                        <a:spcAft>
                          <a:spcPts val="0"/>
                        </a:spcAft>
                        <a:buClr>
                          <a:srgbClr val="FFFFFF"/>
                        </a:buClr>
                        <a:buSzPts val="1200"/>
                        <a:buFont typeface="Calibri"/>
                        <a:buNone/>
                      </a:pPr>
                      <a:r>
                        <a:rPr b="1" lang="vi-VN" sz="1200">
                          <a:solidFill>
                            <a:srgbClr val="FFFFFF"/>
                          </a:solidFill>
                          <a:latin typeface="Calibri"/>
                          <a:ea typeface="Calibri"/>
                          <a:cs typeface="Calibri"/>
                          <a:sym typeface="Calibri"/>
                        </a:rPr>
                        <a:t>Phase 2 detail</a:t>
                      </a:r>
                      <a:endParaRPr sz="12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1F3864"/>
                    </a:solidFill>
                  </a:tcPr>
                </a:tc>
              </a:tr>
              <a:tr h="545325">
                <a:tc>
                  <a:txBody>
                    <a:bodyPr/>
                    <a:lstStyle/>
                    <a:p>
                      <a:pPr indent="0" lvl="0" marL="91440" marR="0" rtl="0" algn="l">
                        <a:spcBef>
                          <a:spcPts val="0"/>
                        </a:spcBef>
                        <a:spcAft>
                          <a:spcPts val="0"/>
                        </a:spcAft>
                        <a:buClr>
                          <a:srgbClr val="2C2C2C"/>
                        </a:buClr>
                        <a:buSzPts val="1150"/>
                        <a:buFont typeface="Calibri"/>
                        <a:buNone/>
                      </a:pPr>
                      <a:r>
                        <a:rPr lang="vi-VN" sz="1150">
                          <a:solidFill>
                            <a:srgbClr val="2C2C2C"/>
                          </a:solidFill>
                          <a:latin typeface="Calibri"/>
                          <a:ea typeface="Calibri"/>
                          <a:cs typeface="Calibri"/>
                          <a:sym typeface="Calibri"/>
                        </a:rPr>
                        <a:t>Accepted tool</a:t>
                      </a:r>
                      <a:endParaRPr sz="115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c>
                  <a:txBody>
                    <a:bodyPr/>
                    <a:lstStyle/>
                    <a:p>
                      <a:pPr indent="0" lvl="0" marL="0" marR="0" rtl="0" algn="l">
                        <a:spcBef>
                          <a:spcPts val="0"/>
                        </a:spcBef>
                        <a:spcAft>
                          <a:spcPts val="0"/>
                        </a:spcAft>
                        <a:buNone/>
                      </a:pPr>
                      <a:r>
                        <a:rPr lang="vi-VN">
                          <a:solidFill>
                            <a:srgbClr val="1F3A5F"/>
                          </a:solidFill>
                          <a:latin typeface="Calibri"/>
                          <a:ea typeface="Calibri"/>
                          <a:cs typeface="Calibri"/>
                          <a:sym typeface="Calibri"/>
                        </a:rPr>
                        <a:t>A reproducible targeting-decision report (Python + figures) that ranks customers and simulates campaign profit.</a:t>
                      </a:r>
                      <a:endParaRPr b="0" sz="14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r>
              <a:tr h="545325">
                <a:tc>
                  <a:txBody>
                    <a:bodyPr/>
                    <a:lstStyle/>
                    <a:p>
                      <a:pPr indent="0" lvl="0" marL="91440" marR="0" rtl="0" algn="l">
                        <a:spcBef>
                          <a:spcPts val="0"/>
                        </a:spcBef>
                        <a:spcAft>
                          <a:spcPts val="0"/>
                        </a:spcAft>
                        <a:buClr>
                          <a:srgbClr val="2C2C2C"/>
                        </a:buClr>
                        <a:buSzPts val="1150"/>
                        <a:buFont typeface="Calibri"/>
                        <a:buNone/>
                      </a:pPr>
                      <a:r>
                        <a:rPr lang="vi-VN" sz="1150">
                          <a:solidFill>
                            <a:srgbClr val="2C2C2C"/>
                          </a:solidFill>
                          <a:latin typeface="Calibri"/>
                          <a:ea typeface="Calibri"/>
                          <a:cs typeface="Calibri"/>
                          <a:sym typeface="Calibri"/>
                        </a:rPr>
                        <a:t>Minimum 3 visualizations</a:t>
                      </a:r>
                      <a:endParaRPr sz="115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vi-VN" sz="1400">
                          <a:solidFill>
                            <a:srgbClr val="1F3A5F"/>
                          </a:solidFill>
                          <a:latin typeface="Calibri"/>
                          <a:ea typeface="Calibri"/>
                          <a:cs typeface="Calibri"/>
                          <a:sym typeface="Calibri"/>
                        </a:rPr>
                        <a:t>Qini curves, profit-versus-depth, policy overlap, value-adjusted uplift, and per-context revenue capture.</a:t>
                      </a:r>
                      <a:endParaRPr b="0" sz="14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r>
              <a:tr h="545325">
                <a:tc>
                  <a:txBody>
                    <a:bodyPr/>
                    <a:lstStyle/>
                    <a:p>
                      <a:pPr indent="0" lvl="0" marL="91440" marR="0" rtl="0" algn="l">
                        <a:spcBef>
                          <a:spcPts val="0"/>
                        </a:spcBef>
                        <a:spcAft>
                          <a:spcPts val="0"/>
                        </a:spcAft>
                        <a:buClr>
                          <a:srgbClr val="2C2C2C"/>
                        </a:buClr>
                        <a:buSzPts val="1150"/>
                        <a:buFont typeface="Calibri"/>
                        <a:buNone/>
                      </a:pPr>
                      <a:r>
                        <a:rPr lang="vi-VN" sz="1150">
                          <a:solidFill>
                            <a:srgbClr val="2C2C2C"/>
                          </a:solidFill>
                          <a:latin typeface="Calibri"/>
                          <a:ea typeface="Calibri"/>
                          <a:cs typeface="Calibri"/>
                          <a:sym typeface="Calibri"/>
                        </a:rPr>
                        <a:t>KPI / Summary metrics</a:t>
                      </a:r>
                      <a:endParaRPr sz="115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c>
                  <a:txBody>
                    <a:bodyPr/>
                    <a:lstStyle/>
                    <a:p>
                      <a:pPr indent="0" lvl="0" marL="0" marR="0" rtl="0" algn="l">
                        <a:spcBef>
                          <a:spcPts val="0"/>
                        </a:spcBef>
                        <a:spcAft>
                          <a:spcPts val="0"/>
                        </a:spcAft>
                        <a:buNone/>
                      </a:pPr>
                      <a:r>
                        <a:rPr lang="vi-VN" sz="1400">
                          <a:solidFill>
                            <a:srgbClr val="1F3A5F"/>
                          </a:solidFill>
                          <a:latin typeface="Calibri"/>
                          <a:ea typeface="Calibri"/>
                          <a:cs typeface="Calibri"/>
                          <a:sym typeface="Calibri"/>
                        </a:rPr>
                        <a:t>Held-out profit, incremental conversions, Qini AUC, and Revenue Capture@10%.</a:t>
                      </a:r>
                      <a:endParaRPr sz="14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r>
              <a:tr h="545325">
                <a:tc>
                  <a:txBody>
                    <a:bodyPr/>
                    <a:lstStyle/>
                    <a:p>
                      <a:pPr indent="0" lvl="0" marL="91440" marR="0" rtl="0" algn="l">
                        <a:spcBef>
                          <a:spcPts val="0"/>
                        </a:spcBef>
                        <a:spcAft>
                          <a:spcPts val="0"/>
                        </a:spcAft>
                        <a:buClr>
                          <a:srgbClr val="2C2C2C"/>
                        </a:buClr>
                        <a:buSzPts val="1150"/>
                        <a:buFont typeface="Calibri"/>
                        <a:buNone/>
                      </a:pPr>
                      <a:r>
                        <a:rPr lang="vi-VN" sz="1150">
                          <a:solidFill>
                            <a:srgbClr val="2C2C2C"/>
                          </a:solidFill>
                          <a:latin typeface="Calibri"/>
                          <a:ea typeface="Calibri"/>
                          <a:cs typeface="Calibri"/>
                          <a:sym typeface="Calibri"/>
                        </a:rPr>
                        <a:t>Filter / Slicer function</a:t>
                      </a:r>
                      <a:endParaRPr sz="115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vi-VN">
                          <a:solidFill>
                            <a:srgbClr val="1F3A5F"/>
                          </a:solidFill>
                          <a:latin typeface="Calibri"/>
                          <a:ea typeface="Calibri"/>
                          <a:cs typeface="Calibri"/>
                          <a:sym typeface="Calibri"/>
                        </a:rPr>
                        <a:t>Targeting depth K (10 / 20 / 30%), margin m, and contact cost c sensitivity sweep.</a:t>
                      </a:r>
                      <a:endParaRPr b="0" sz="14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r>
              <a:tr h="545325">
                <a:tc>
                  <a:txBody>
                    <a:bodyPr/>
                    <a:lstStyle/>
                    <a:p>
                      <a:pPr indent="0" lvl="0" marL="91440" marR="0" rtl="0" algn="l">
                        <a:spcBef>
                          <a:spcPts val="0"/>
                        </a:spcBef>
                        <a:spcAft>
                          <a:spcPts val="0"/>
                        </a:spcAft>
                        <a:buClr>
                          <a:srgbClr val="2C2C2C"/>
                        </a:buClr>
                        <a:buSzPts val="1150"/>
                        <a:buFont typeface="Calibri"/>
                        <a:buNone/>
                      </a:pPr>
                      <a:r>
                        <a:rPr lang="vi-VN" sz="1150">
                          <a:solidFill>
                            <a:srgbClr val="2C2C2C"/>
                          </a:solidFill>
                          <a:latin typeface="Calibri"/>
                          <a:ea typeface="Calibri"/>
                          <a:cs typeface="Calibri"/>
                          <a:sym typeface="Calibri"/>
                        </a:rPr>
                        <a:t>Link to RQ</a:t>
                      </a:r>
                      <a:endParaRPr sz="115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c>
                  <a:txBody>
                    <a:bodyPr/>
                    <a:lstStyle/>
                    <a:p>
                      <a:pPr indent="0" lvl="0" marL="0" marR="0" rtl="0" algn="l">
                        <a:spcBef>
                          <a:spcPts val="0"/>
                        </a:spcBef>
                        <a:spcAft>
                          <a:spcPts val="0"/>
                        </a:spcAft>
                        <a:buNone/>
                      </a:pPr>
                      <a:r>
                        <a:rPr b="0" lang="vi-VN" sz="1400">
                          <a:solidFill>
                            <a:srgbClr val="1F3A5F"/>
                          </a:solidFill>
                          <a:latin typeface="Calibri"/>
                          <a:ea typeface="Calibri"/>
                          <a:cs typeface="Calibri"/>
                          <a:sym typeface="Calibri"/>
                        </a:rPr>
                        <a:t>Profit-versus-depth → RQ4; Qini → RQ3; revenue capture → RQ1.</a:t>
                      </a:r>
                      <a:endParaRPr b="0" sz="14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r>
              <a:tr h="545325">
                <a:tc>
                  <a:txBody>
                    <a:bodyPr/>
                    <a:lstStyle/>
                    <a:p>
                      <a:pPr indent="0" lvl="0" marL="91440" marR="0" rtl="0" algn="l">
                        <a:spcBef>
                          <a:spcPts val="0"/>
                        </a:spcBef>
                        <a:spcAft>
                          <a:spcPts val="0"/>
                        </a:spcAft>
                        <a:buClr>
                          <a:srgbClr val="2C2C2C"/>
                        </a:buClr>
                        <a:buSzPts val="1150"/>
                        <a:buFont typeface="Calibri"/>
                        <a:buNone/>
                      </a:pPr>
                      <a:r>
                        <a:rPr lang="vi-VN" sz="1150">
                          <a:solidFill>
                            <a:srgbClr val="2C2C2C"/>
                          </a:solidFill>
                          <a:latin typeface="Calibri"/>
                          <a:ea typeface="Calibri"/>
                          <a:cs typeface="Calibri"/>
                          <a:sym typeface="Calibri"/>
                        </a:rPr>
                        <a:t>AI Audit Log</a:t>
                      </a:r>
                      <a:endParaRPr sz="115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vi-VN" sz="1400">
                          <a:solidFill>
                            <a:srgbClr val="1F3A5F"/>
                          </a:solidFill>
                          <a:latin typeface="Calibri"/>
                          <a:ea typeface="Calibri"/>
                          <a:cs typeface="Calibri"/>
                          <a:sym typeface="Calibri"/>
                        </a:rPr>
                        <a:t>Report and figure-generation prompts logged (P2-14–P2-18).</a:t>
                      </a:r>
                      <a:endParaRPr b="0" sz="14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4"/>
          <p:cNvSpPr txBox="1"/>
          <p:nvPr/>
        </p:nvSpPr>
        <p:spPr>
          <a:xfrm>
            <a:off x="457200" y="256032"/>
            <a:ext cx="8229600" cy="477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vi-VN" sz="2500">
                <a:solidFill>
                  <a:srgbClr val="1F3A5F"/>
                </a:solidFill>
                <a:latin typeface="Calibri"/>
                <a:ea typeface="Calibri"/>
                <a:cs typeface="Calibri"/>
                <a:sym typeface="Calibri"/>
              </a:rPr>
              <a:t>Dashboard — Features &amp; Demo</a:t>
            </a:r>
            <a:endParaRPr/>
          </a:p>
        </p:txBody>
      </p:sp>
      <p:sp>
        <p:nvSpPr>
          <p:cNvPr id="157" name="Google Shape;157;p24"/>
          <p:cNvSpPr txBox="1"/>
          <p:nvPr/>
        </p:nvSpPr>
        <p:spPr>
          <a:xfrm>
            <a:off x="457200" y="2761488"/>
            <a:ext cx="3886200" cy="2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vi-VN" sz="850">
                <a:solidFill>
                  <a:srgbClr val="333333"/>
                </a:solidFill>
                <a:latin typeface="Calibri"/>
                <a:ea typeface="Calibri"/>
                <a:cs typeface="Calibri"/>
                <a:sym typeface="Calibri"/>
              </a:rPr>
              <a:t>1 · Revenue capture — e-commerce (Online Retail II)</a:t>
            </a:r>
            <a:endParaRPr/>
          </a:p>
        </p:txBody>
      </p:sp>
      <p:sp>
        <p:nvSpPr>
          <p:cNvPr id="159" name="Google Shape;159;p24"/>
          <p:cNvSpPr txBox="1"/>
          <p:nvPr/>
        </p:nvSpPr>
        <p:spPr>
          <a:xfrm>
            <a:off x="4617720" y="2761488"/>
            <a:ext cx="3886200" cy="2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vi-VN" sz="850">
                <a:solidFill>
                  <a:srgbClr val="333333"/>
                </a:solidFill>
                <a:latin typeface="Calibri"/>
                <a:ea typeface="Calibri"/>
                <a:cs typeface="Calibri"/>
                <a:sym typeface="Calibri"/>
              </a:rPr>
              <a:t>2 · Revenue capture — grocery (Dunnhumby)</a:t>
            </a:r>
            <a:endParaRPr/>
          </a:p>
        </p:txBody>
      </p:sp>
      <p:sp>
        <p:nvSpPr>
          <p:cNvPr id="161" name="Google Shape;161;p24"/>
          <p:cNvSpPr txBox="1"/>
          <p:nvPr/>
        </p:nvSpPr>
        <p:spPr>
          <a:xfrm>
            <a:off x="457200" y="4773168"/>
            <a:ext cx="3886200" cy="2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vi-VN" sz="850">
                <a:solidFill>
                  <a:srgbClr val="333333"/>
                </a:solidFill>
                <a:latin typeface="Calibri"/>
                <a:ea typeface="Calibri"/>
                <a:cs typeface="Calibri"/>
                <a:sym typeface="Calibri"/>
              </a:rPr>
              <a:t>3 · Value-adjusted uplift targeting (X5)</a:t>
            </a:r>
            <a:endParaRPr/>
          </a:p>
        </p:txBody>
      </p:sp>
      <p:sp>
        <p:nvSpPr>
          <p:cNvPr id="163" name="Google Shape;163;p24"/>
          <p:cNvSpPr txBox="1"/>
          <p:nvPr/>
        </p:nvSpPr>
        <p:spPr>
          <a:xfrm>
            <a:off x="4617720" y="4773168"/>
            <a:ext cx="3886200" cy="2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vi-VN" sz="850">
                <a:solidFill>
                  <a:srgbClr val="333333"/>
                </a:solidFill>
                <a:latin typeface="Calibri"/>
                <a:ea typeface="Calibri"/>
                <a:cs typeface="Calibri"/>
                <a:sym typeface="Calibri"/>
              </a:rPr>
              <a:t>4 · Decile calibration on held-out data</a:t>
            </a:r>
            <a:endParaRPr/>
          </a:p>
        </p:txBody>
      </p:sp>
      <p:cxnSp>
        <p:nvCxnSpPr>
          <p:cNvPr id="164" name="Google Shape;164;p24"/>
          <p:cNvCxnSpPr/>
          <p:nvPr/>
        </p:nvCxnSpPr>
        <p:spPr>
          <a:xfrm>
            <a:off x="457200" y="960120"/>
            <a:ext cx="8229600" cy="0"/>
          </a:xfrm>
          <a:prstGeom prst="straightConnector1">
            <a:avLst/>
          </a:prstGeom>
          <a:noFill/>
          <a:ln cap="flat" cmpd="sng" w="19050">
            <a:solidFill>
              <a:srgbClr val="4472C4"/>
            </a:solidFill>
            <a:prstDash val="solid"/>
            <a:round/>
            <a:headEnd len="sm" w="sm" type="none"/>
            <a:tailEnd len="sm" w="sm" type="none"/>
          </a:ln>
        </p:spPr>
      </p:cxnSp>
      <p:pic>
        <p:nvPicPr>
          <p:cNvPr id="165" name="Picture 164" descr="online_retail_revenue_capture.png"/>
          <p:cNvPicPr>
            <a:picLocks noChangeAspect="1"/>
          </p:cNvPicPr>
          <p:nvPr/>
        </p:nvPicPr>
        <p:blipFill>
          <a:blip r:embed="rId7"/>
          <a:stretch>
            <a:fillRect/>
          </a:stretch>
        </p:blipFill>
        <p:spPr>
          <a:xfrm>
            <a:off x="457200" y="1188720"/>
            <a:ext cx="3886201" cy="1521831"/>
          </a:xfrm>
          <a:prstGeom prst="rect">
            <a:avLst/>
          </a:prstGeom>
        </p:spPr>
      </p:pic>
      <p:pic>
        <p:nvPicPr>
          <p:cNvPr id="166" name="Picture 165" descr="dunnhumby_revenue_capture.png"/>
          <p:cNvPicPr>
            <a:picLocks noChangeAspect="1"/>
          </p:cNvPicPr>
          <p:nvPr/>
        </p:nvPicPr>
        <p:blipFill>
          <a:blip r:embed="rId8"/>
          <a:stretch>
            <a:fillRect/>
          </a:stretch>
        </p:blipFill>
        <p:spPr>
          <a:xfrm>
            <a:off x="5303143" y="1188720"/>
            <a:ext cx="2515354" cy="1554480"/>
          </a:xfrm>
          <a:prstGeom prst="rect">
            <a:avLst/>
          </a:prstGeom>
        </p:spPr>
      </p:pic>
      <p:pic>
        <p:nvPicPr>
          <p:cNvPr id="167" name="Picture 166" descr="x5_value_adjusted_uplift.png"/>
          <p:cNvPicPr>
            <a:picLocks noChangeAspect="1"/>
          </p:cNvPicPr>
          <p:nvPr/>
        </p:nvPicPr>
        <p:blipFill>
          <a:blip r:embed="rId9"/>
          <a:stretch>
            <a:fillRect/>
          </a:stretch>
        </p:blipFill>
        <p:spPr>
          <a:xfrm>
            <a:off x="821230" y="3200400"/>
            <a:ext cx="3158136" cy="1554480"/>
          </a:xfrm>
          <a:prstGeom prst="rect">
            <a:avLst/>
          </a:prstGeom>
        </p:spPr>
      </p:pic>
      <p:pic>
        <p:nvPicPr>
          <p:cNvPr id="168" name="Picture 167" descr="dunnhumby_decile_calibration.png"/>
          <p:cNvPicPr>
            <a:picLocks noChangeAspect="1"/>
          </p:cNvPicPr>
          <p:nvPr/>
        </p:nvPicPr>
        <p:blipFill>
          <a:blip r:embed="rId10"/>
          <a:stretch>
            <a:fillRect/>
          </a:stretch>
        </p:blipFill>
        <p:spPr>
          <a:xfrm>
            <a:off x="5250944" y="3200400"/>
            <a:ext cx="2619751" cy="155448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5"/>
          <p:cNvSpPr txBox="1"/>
          <p:nvPr/>
        </p:nvSpPr>
        <p:spPr>
          <a:xfrm>
            <a:off x="457200" y="256032"/>
            <a:ext cx="8229600" cy="477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vi-VN" sz="2500">
                <a:solidFill>
                  <a:srgbClr val="1F3A5F"/>
                </a:solidFill>
                <a:latin typeface="Calibri"/>
                <a:ea typeface="Calibri"/>
                <a:cs typeface="Calibri"/>
                <a:sym typeface="Calibri"/>
              </a:rPr>
              <a:t>AI Audit Log</a:t>
            </a:r>
            <a:endParaRPr/>
          </a:p>
        </p:txBody>
      </p:sp>
      <p:sp>
        <p:nvSpPr>
          <p:cNvPr id="170" name="Google Shape;170;p25"/>
          <p:cNvSpPr txBox="1"/>
          <p:nvPr/>
        </p:nvSpPr>
        <p:spPr>
          <a:xfrm>
            <a:off x="502920" y="1325880"/>
            <a:ext cx="8138100" cy="1528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vi-VN" sz="1400">
                <a:solidFill>
                  <a:srgbClr val="1F3A5F"/>
                </a:solidFill>
                <a:latin typeface="Calibri"/>
                <a:ea typeface="Calibri"/>
                <a:cs typeface="Calibri"/>
                <a:sym typeface="Calibri"/>
              </a:rPr>
              <a:t>20 logged sessions (P2-01 – P2-20), each documenting the full interaction:</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  Prompt structure · AI response · evaluation (correct / incorrect) · refinement · resolution.</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  Covered: dataset selection, walk-forward design, leakage check, uplift-learner choice, policy evaluation, SHAP / CQR, significance testing, and paper revisions.</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  Key validations: replaced a leaky random split that had inflated the CLV numbers; confirmed every cited reference is real and actually cited in the text.</a:t>
            </a:r>
            <a:endParaRPr/>
          </a:p>
        </p:txBody>
      </p:sp>
      <p:cxnSp>
        <p:nvCxnSpPr>
          <p:cNvPr id="171" name="Google Shape;171;p25"/>
          <p:cNvCxnSpPr/>
          <p:nvPr/>
        </p:nvCxnSpPr>
        <p:spPr>
          <a:xfrm>
            <a:off x="457200" y="960120"/>
            <a:ext cx="8229600" cy="0"/>
          </a:xfrm>
          <a:prstGeom prst="straightConnector1">
            <a:avLst/>
          </a:prstGeom>
          <a:noFill/>
          <a:ln cap="flat" cmpd="sng" w="19050">
            <a:solidFill>
              <a:srgbClr val="4472C4"/>
            </a:solidFill>
            <a:prstDash val="solid"/>
            <a:round/>
            <a:headEnd len="sm" w="sm" type="none"/>
            <a:tailEnd len="sm" w="sm" type="non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6"/>
          <p:cNvSpPr txBox="1"/>
          <p:nvPr/>
        </p:nvSpPr>
        <p:spPr>
          <a:xfrm>
            <a:off x="457200" y="256032"/>
            <a:ext cx="8229600" cy="477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vi-VN" sz="2500">
                <a:solidFill>
                  <a:srgbClr val="1F3A5F"/>
                </a:solidFill>
                <a:latin typeface="Calibri"/>
                <a:ea typeface="Calibri"/>
                <a:cs typeface="Calibri"/>
                <a:sym typeface="Calibri"/>
              </a:rPr>
              <a:t>Human Delta — What the Team Did Beyond AI</a:t>
            </a:r>
            <a:endParaRPr/>
          </a:p>
        </p:txBody>
      </p:sp>
      <p:sp>
        <p:nvSpPr>
          <p:cNvPr id="177" name="Google Shape;177;p26"/>
          <p:cNvSpPr txBox="1"/>
          <p:nvPr/>
        </p:nvSpPr>
        <p:spPr>
          <a:xfrm>
            <a:off x="502920" y="1325880"/>
            <a:ext cx="8138100" cy="1834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vi-VN" sz="1400">
                <a:solidFill>
                  <a:srgbClr val="1F3A5F"/>
                </a:solidFill>
                <a:latin typeface="Calibri"/>
                <a:ea typeface="Calibri"/>
                <a:cs typeface="Calibri"/>
                <a:sym typeface="Calibri"/>
              </a:rPr>
              <a:t>Domain decisions and corrections made independently of AI:</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  Reused the Phase 1 walk-forward windows to keep numbers temporally valid and comparable, replacing an inflated random-split estimate.</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  Calibrated every claim to the statistical evidence: “competitive, mechanism shifts” rather than “framework transfers”; reported p-values, not adjectives.</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  Designed the value-adjusted policy (uplift × value) and the overlap metric showing that value is not the same as persuadability.</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  Fixed a LaTeX sanitiser bug that mis-rendered math (±, &lt;, &gt;) in the auto-generated tables.</a:t>
            </a:r>
            <a:endParaRPr/>
          </a:p>
        </p:txBody>
      </p:sp>
      <p:cxnSp>
        <p:nvCxnSpPr>
          <p:cNvPr id="178" name="Google Shape;178;p26"/>
          <p:cNvCxnSpPr/>
          <p:nvPr/>
        </p:nvCxnSpPr>
        <p:spPr>
          <a:xfrm>
            <a:off x="457200" y="960120"/>
            <a:ext cx="8229600" cy="0"/>
          </a:xfrm>
          <a:prstGeom prst="straightConnector1">
            <a:avLst/>
          </a:prstGeom>
          <a:noFill/>
          <a:ln cap="flat" cmpd="sng" w="19050">
            <a:solidFill>
              <a:srgbClr val="4472C4"/>
            </a:solidFill>
            <a:prstDash val="solid"/>
            <a:round/>
            <a:headEnd len="sm" w="sm" type="none"/>
            <a:tailEnd len="sm" w="sm"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7"/>
          <p:cNvSpPr txBox="1"/>
          <p:nvPr/>
        </p:nvSpPr>
        <p:spPr>
          <a:xfrm>
            <a:off x="457200" y="256032"/>
            <a:ext cx="8229600" cy="477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vi-VN" sz="2500">
                <a:solidFill>
                  <a:srgbClr val="1F3A5F"/>
                </a:solidFill>
                <a:latin typeface="Calibri"/>
                <a:ea typeface="Calibri"/>
                <a:cs typeface="Calibri"/>
                <a:sym typeface="Calibri"/>
              </a:rPr>
              <a:t>Hallucination Detection</a:t>
            </a:r>
            <a:endParaRPr/>
          </a:p>
        </p:txBody>
      </p:sp>
      <p:sp>
        <p:nvSpPr>
          <p:cNvPr id="184" name="Google Shape;184;p27"/>
          <p:cNvSpPr txBox="1"/>
          <p:nvPr/>
        </p:nvSpPr>
        <p:spPr>
          <a:xfrm>
            <a:off x="502950" y="1112200"/>
            <a:ext cx="8138100" cy="4233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vi-VN" sz="1400">
                <a:solidFill>
                  <a:srgbClr val="1F3A5F"/>
                </a:solidFill>
                <a:latin typeface="Calibri"/>
                <a:ea typeface="Calibri"/>
                <a:cs typeface="Calibri"/>
                <a:sym typeface="Calibri"/>
              </a:rPr>
              <a:t>AI outputs that were wrong or inaccurate and how the team caught them:</a:t>
            </a:r>
            <a:endParaRPr>
              <a:solidFill>
                <a:srgbClr val="333333"/>
              </a:solidFill>
              <a:latin typeface="Calibri"/>
              <a:ea typeface="Calibri"/>
              <a:cs typeface="Calibri"/>
              <a:sym typeface="Calibri"/>
            </a:endParaRPr>
          </a:p>
          <a:p>
            <a:pPr indent="0" lvl="0" marL="0" rtl="0" algn="l">
              <a:lnSpc>
                <a:spcPct val="115000"/>
              </a:lnSpc>
              <a:spcBef>
                <a:spcPts val="1200"/>
              </a:spcBef>
              <a:spcAft>
                <a:spcPts val="0"/>
              </a:spcAft>
              <a:buSzPts val="1100"/>
              <a:buNone/>
            </a:pPr>
            <a:r>
              <a:rPr lang="vi-VN">
                <a:solidFill>
                  <a:srgbClr val="333333"/>
                </a:solidFill>
                <a:latin typeface="Calibri"/>
                <a:ea typeface="Calibri"/>
                <a:cs typeface="Calibri"/>
                <a:sym typeface="Calibri"/>
              </a:rPr>
              <a:t>•  Inflated random-split CLV (NG ≈ 0.92) → caught with walk-forward validation; corrected to NG ≈ 0.83.</a:t>
            </a:r>
            <a:endParaRPr>
              <a:solidFill>
                <a:srgbClr val="333333"/>
              </a:solidFill>
              <a:latin typeface="Calibri"/>
              <a:ea typeface="Calibri"/>
              <a:cs typeface="Calibri"/>
              <a:sym typeface="Calibri"/>
            </a:endParaRPr>
          </a:p>
          <a:p>
            <a:pPr indent="0" lvl="0" marL="0" rtl="0" algn="l">
              <a:lnSpc>
                <a:spcPct val="115000"/>
              </a:lnSpc>
              <a:spcBef>
                <a:spcPts val="1200"/>
              </a:spcBef>
              <a:spcAft>
                <a:spcPts val="0"/>
              </a:spcAft>
              <a:buSzPts val="1100"/>
              <a:buNone/>
            </a:pPr>
            <a:r>
              <a:rPr lang="vi-VN">
                <a:solidFill>
                  <a:srgbClr val="333333"/>
                </a:solidFill>
                <a:latin typeface="Calibri"/>
                <a:ea typeface="Calibri"/>
                <a:cs typeface="Calibri"/>
                <a:sym typeface="Calibri"/>
              </a:rPr>
              <a:t>•  Over-claim “framework transfers across contexts” → corrected to “remains competitive; the driving mechanism shifts.”</a:t>
            </a:r>
            <a:endParaRPr>
              <a:solidFill>
                <a:srgbClr val="333333"/>
              </a:solidFill>
              <a:latin typeface="Calibri"/>
              <a:ea typeface="Calibri"/>
              <a:cs typeface="Calibri"/>
              <a:sym typeface="Calibri"/>
            </a:endParaRPr>
          </a:p>
          <a:p>
            <a:pPr indent="0" lvl="0" marL="0" rtl="0" algn="l">
              <a:lnSpc>
                <a:spcPct val="115000"/>
              </a:lnSpc>
              <a:spcBef>
                <a:spcPts val="1200"/>
              </a:spcBef>
              <a:spcAft>
                <a:spcPts val="0"/>
              </a:spcAft>
              <a:buSzPts val="1100"/>
              <a:buNone/>
            </a:pPr>
            <a:r>
              <a:rPr lang="vi-VN">
                <a:solidFill>
                  <a:srgbClr val="333333"/>
                </a:solidFill>
                <a:latin typeface="Calibri"/>
                <a:ea typeface="Calibri"/>
                <a:cs typeface="Calibri"/>
                <a:sym typeface="Calibri"/>
              </a:rPr>
              <a:t>•  “Value-adjusted policy wins all nine settings” → softened to “highest point estimate; not statistically significant.”</a:t>
            </a:r>
            <a:endParaRPr>
              <a:solidFill>
                <a:srgbClr val="333333"/>
              </a:solidFill>
              <a:latin typeface="Calibri"/>
              <a:ea typeface="Calibri"/>
              <a:cs typeface="Calibri"/>
              <a:sym typeface="Calibri"/>
            </a:endParaRPr>
          </a:p>
          <a:p>
            <a:pPr indent="0" lvl="0" marL="0" rtl="0" algn="l">
              <a:lnSpc>
                <a:spcPct val="115000"/>
              </a:lnSpc>
              <a:spcBef>
                <a:spcPts val="1200"/>
              </a:spcBef>
              <a:spcAft>
                <a:spcPts val="0"/>
              </a:spcAft>
              <a:buSzPts val="1100"/>
              <a:buNone/>
            </a:pPr>
            <a:r>
              <a:rPr lang="vi-VN">
                <a:solidFill>
                  <a:srgbClr val="333333"/>
                </a:solidFill>
                <a:latin typeface="Calibri"/>
                <a:ea typeface="Calibri"/>
                <a:cs typeface="Calibri"/>
                <a:sym typeface="Calibri"/>
              </a:rPr>
              <a:t>•  Sanitiser stripped backslashes, rendering ± as the literal text “pm” → detected in proofreading; the regex was rewritten to protect math spans.</a:t>
            </a:r>
            <a:endParaRPr>
              <a:solidFill>
                <a:srgbClr val="333333"/>
              </a:solidFill>
              <a:latin typeface="Calibri"/>
              <a:ea typeface="Calibri"/>
              <a:cs typeface="Calibri"/>
              <a:sym typeface="Calibri"/>
            </a:endParaRPr>
          </a:p>
        </p:txBody>
      </p:sp>
      <p:cxnSp>
        <p:nvCxnSpPr>
          <p:cNvPr id="185" name="Google Shape;185;p27"/>
          <p:cNvCxnSpPr/>
          <p:nvPr/>
        </p:nvCxnSpPr>
        <p:spPr>
          <a:xfrm>
            <a:off x="457200" y="960120"/>
            <a:ext cx="8229600" cy="0"/>
          </a:xfrm>
          <a:prstGeom prst="straightConnector1">
            <a:avLst/>
          </a:prstGeom>
          <a:noFill/>
          <a:ln cap="flat" cmpd="sng" w="19050">
            <a:solidFill>
              <a:srgbClr val="4472C4"/>
            </a:solidFill>
            <a:prstDash val="solid"/>
            <a:round/>
            <a:headEnd len="sm" w="sm" type="none"/>
            <a:tailEnd len="sm" w="sm" type="non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8"/>
          <p:cNvSpPr txBox="1"/>
          <p:nvPr/>
        </p:nvSpPr>
        <p:spPr>
          <a:xfrm>
            <a:off x="457200" y="256032"/>
            <a:ext cx="8229600" cy="477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vi-VN" sz="2500">
                <a:solidFill>
                  <a:srgbClr val="1F3A5F"/>
                </a:solidFill>
                <a:latin typeface="Calibri"/>
                <a:ea typeface="Calibri"/>
                <a:cs typeface="Calibri"/>
                <a:sym typeface="Calibri"/>
              </a:rPr>
              <a:t>Q&amp;A + AI Reflection  (20 points)</a:t>
            </a:r>
            <a:endParaRPr/>
          </a:p>
        </p:txBody>
      </p:sp>
      <p:sp>
        <p:nvSpPr>
          <p:cNvPr id="191" name="Google Shape;191;p28"/>
          <p:cNvSpPr txBox="1"/>
          <p:nvPr/>
        </p:nvSpPr>
        <p:spPr>
          <a:xfrm>
            <a:off x="502920" y="1325880"/>
            <a:ext cx="8138100" cy="1834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vi-VN" sz="1400">
                <a:solidFill>
                  <a:srgbClr val="1F3A5F"/>
                </a:solidFill>
                <a:latin typeface="Calibri"/>
                <a:ea typeface="Calibri"/>
                <a:cs typeface="Calibri"/>
                <a:sym typeface="Calibri"/>
              </a:rPr>
              <a:t>Reflection summary:</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  AI assisted drafting code / SQL / figures / prose — every output was reviewed and validated (audit log P2-01–P2-20).</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  Human Delta documented; hallucinations detected and corrected with evidence (walk-forward, p-values).</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  Claims calibrated to statistical evidence: no overclaiming, no first-person, results temporally valid.</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  The team understands every step and can justify each modeling and evaluation choice.</a:t>
            </a:r>
            <a:endParaRPr>
              <a:solidFill>
                <a:srgbClr val="333333"/>
              </a:solidFill>
              <a:latin typeface="Calibri"/>
              <a:ea typeface="Calibri"/>
              <a:cs typeface="Calibri"/>
              <a:sym typeface="Calibri"/>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  Q&amp;A — thank you.</a:t>
            </a:r>
            <a:endParaRPr/>
          </a:p>
        </p:txBody>
      </p:sp>
      <p:cxnSp>
        <p:nvCxnSpPr>
          <p:cNvPr id="192" name="Google Shape;192;p28"/>
          <p:cNvCxnSpPr/>
          <p:nvPr/>
        </p:nvCxnSpPr>
        <p:spPr>
          <a:xfrm>
            <a:off x="457200" y="960120"/>
            <a:ext cx="8229600" cy="0"/>
          </a:xfrm>
          <a:prstGeom prst="straightConnector1">
            <a:avLst/>
          </a:prstGeom>
          <a:noFill/>
          <a:ln cap="flat" cmpd="sng" w="19050">
            <a:solidFill>
              <a:srgbClr val="4472C4"/>
            </a:solidFill>
            <a:prstDash val="solid"/>
            <a:round/>
            <a:headEnd len="sm" w="sm" type="none"/>
            <a:tailEnd len="sm" w="sm" type="none"/>
          </a:ln>
        </p:spPr>
      </p:cxnSp>
      <p:cxnSp>
        <p:nvCxnSpPr>
          <p:cNvPr id="193" name="Google Shape;193;p28"/>
          <p:cNvCxnSpPr/>
          <p:nvPr/>
        </p:nvCxnSpPr>
        <p:spPr>
          <a:xfrm>
            <a:off x="457200" y="960120"/>
            <a:ext cx="8229600" cy="0"/>
          </a:xfrm>
          <a:prstGeom prst="straightConnector1">
            <a:avLst/>
          </a:prstGeom>
          <a:noFill/>
          <a:ln cap="flat" cmpd="sng" w="19050">
            <a:solidFill>
              <a:srgbClr val="4472C4"/>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fake-beamer">
  <a:themeElements>
    <a:clrScheme name="BeamerBlue">
      <a:dk1>
        <a:srgbClr val="000000"/>
      </a:dk1>
      <a:lt1>
        <a:srgbClr val="FFFFFF"/>
      </a:lt1>
      <a:dk2>
        <a:srgbClr val="44546A"/>
      </a:dk2>
      <a:lt2>
        <a:srgbClr val="E7E6E6"/>
      </a:lt2>
      <a:accent1>
        <a:srgbClr val="3331B4"/>
      </a:accent1>
      <a:accent2>
        <a:srgbClr val="26268C"/>
      </a:accent2>
      <a:accent3>
        <a:srgbClr val="1C1B67"/>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
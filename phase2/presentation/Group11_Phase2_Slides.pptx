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From CLV Ranking to Uplift-Aware Targeting</a:t>
            </a:r>
            <a:br/>
            <a:r>
              <a:t>Cross-Context Evidence from Online Retail, Grocery &amp; Supermarket Campaign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BBDDEE"/>
                </a:solidFill>
              </a:defRPr>
            </a:pPr>
            <a:r>
              <a:t>Vu Minh Anh Nguyen · Linh Hoang Nguyen (corresponding)</a:t>
            </a:r>
          </a:p>
          <a:p>
            <a:pPr algn="ctr">
              <a:defRPr sz="1500">
                <a:solidFill>
                  <a:srgbClr val="BBDDEE"/>
                </a:solidFill>
              </a:defRPr>
            </a:pPr>
            <a:r>
              <a:t>FPT University · ADY201m — Phase 2</a:t>
            </a:r>
          </a:p>
          <a:p>
            <a:pPr algn="ctr">
              <a:defRPr sz="1500">
                <a:solidFill>
                  <a:srgbClr val="BBDDEE"/>
                </a:solidFill>
              </a:defRPr>
            </a:pPr>
            <a:r>
              <a:t>CLV tells who is valuable · Uplift tells who is responsive · Value-adjusted uplift tells who is worth targeting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555555"/>
                </a:solidFill>
              </a:defRPr>
            </a:pPr>
            <a:r>
              <a:t>1. Motivation — value vs persuadability (sure buyer vs persuadable)</a:t>
            </a:r>
          </a:p>
          <a:p>
            <a:pPr>
              <a:spcAft>
                <a:spcPts val="900"/>
              </a:spcAft>
              <a:defRPr sz="2000">
                <a:solidFill>
                  <a:srgbClr val="555555"/>
                </a:solidFill>
              </a:defRPr>
            </a:pPr>
            <a:r>
              <a:t>2. Research questions &amp; three datasets with separated roles</a:t>
            </a:r>
          </a:p>
          <a:p>
            <a:pPr>
              <a:spcAft>
                <a:spcPts val="900"/>
              </a:spcAft>
              <a:defRPr sz="2000">
                <a:solidFill>
                  <a:srgbClr val="555555"/>
                </a:solidFill>
              </a:defRPr>
            </a:pPr>
            <a:r>
              <a:t>3. Methodology — Hurdle-Semantic CLV, uplift learners, value-adjusted policy</a:t>
            </a:r>
          </a:p>
          <a:p>
            <a:pPr>
              <a:spcAft>
                <a:spcPts val="900"/>
              </a:spcAft>
              <a:defRPr sz="2000">
                <a:solidFill>
                  <a:srgbClr val="555555"/>
                </a:solidFill>
              </a:defRPr>
            </a:pPr>
            <a:r>
              <a:t>4. Results — cross-context CLV, uplift &gt; response, value-adjusted profit</a:t>
            </a:r>
          </a:p>
          <a:p>
            <a:pPr>
              <a:spcAft>
                <a:spcPts val="900"/>
              </a:spcAft>
              <a:defRPr sz="2000">
                <a:solidFill>
                  <a:srgbClr val="555555"/>
                </a:solidFill>
              </a:defRPr>
            </a:pPr>
            <a:r>
              <a:t>5. Honest significance, discussion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007A87"/>
                </a:solidFill>
              </a:defRPr>
            </a:pPr>
            <a:r>
              <a:t>Applied decision-support framework — integration + honest evaluation, not a new estimator.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Motivation: Value ≠ Persuadability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555555"/>
                </a:solidFill>
              </a:defRPr>
            </a:pPr>
            <a:r>
              <a:t>CLV ranks the most valuable customers — often already-loyal sure buyers.</a:t>
            </a:r>
          </a:p>
          <a:p>
            <a:pPr>
              <a:spcAft>
                <a:spcPts val="900"/>
              </a:spcAft>
              <a:defRPr sz="1800">
                <a:solidFill>
                  <a:srgbClr val="555555"/>
                </a:solidFill>
              </a:defRPr>
            </a:pPr>
            <a:r>
              <a:t>Uplift ranks the campaign-responsive — the persuadables.</a:t>
            </a:r>
          </a:p>
          <a:p>
            <a:pPr>
              <a:spcAft>
                <a:spcPts val="900"/>
              </a:spcAft>
              <a:defRPr sz="1800">
                <a:solidFill>
                  <a:srgbClr val="555555"/>
                </a:solidFill>
              </a:defRPr>
            </a:pPr>
            <a:r>
              <a:t>A high-value sure buyer returns anyway → wasted budget.</a:t>
            </a:r>
          </a:p>
          <a:p>
            <a:pPr>
              <a:spcAft>
                <a:spcPts val="900"/>
              </a:spcAft>
              <a:defRPr sz="1800">
                <a:solidFill>
                  <a:srgbClr val="555555"/>
                </a:solidFill>
              </a:defRPr>
            </a:pPr>
            <a:r>
              <a:t>A mid-value persuadable only buys when prompted → invisible to value models.</a:t>
            </a:r>
          </a:p>
          <a:p>
            <a:pPr>
              <a:spcAft>
                <a:spcPts val="900"/>
              </a:spcAft>
              <a:defRPr sz="1800">
                <a:solidFill>
                  <a:srgbClr val="555555"/>
                </a:solidFill>
              </a:defRPr>
            </a:pPr>
            <a:r>
              <a:t>Question: who is BOTH valuable AND incrementally persuadable?</a:t>
            </a:r>
          </a:p>
        </p:txBody>
      </p:sp>
      <p:pic>
        <p:nvPicPr>
          <p:cNvPr id="5" name="Picture 4" descr="x5_policy_overl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303520" cy="4419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007A87"/>
                </a:solidFill>
              </a:defRPr>
            </a:pPr>
            <a:r>
              <a:t>Top-10% chosen by value vs by uplift overlap only 0.7% — near-disjoint customers.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Fit with ADY201m Requirements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86868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3400"/>
                <a:gridCol w="4343400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Requirement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Phase 2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555"/>
                          </a:solidFill>
                        </a:defRPr>
                      </a:pPr>
                      <a:r>
                        <a:t>Python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555"/>
                          </a:solidFill>
                        </a:defRPr>
                      </a:pPr>
                      <a:r>
                        <a:t>Ingest → shared features → 14 models → evaluation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555"/>
                          </a:solidFill>
                        </a:defRPr>
                      </a:pPr>
                      <a:r>
                        <a:t>SQL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555"/>
                          </a:solidFill>
                        </a:defRPr>
                      </a:pPr>
                      <a:r>
                        <a:t>DuckDB: RFM, segments, balance, overlap queries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555"/>
                          </a:solidFill>
                        </a:defRPr>
                      </a:pPr>
                      <a:r>
                        <a:t>&gt;5 ML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555"/>
                          </a:solidFill>
                        </a:defRPr>
                      </a:pPr>
                      <a:r>
                        <a:t>8 CLV regressors + 6 uplift learners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555"/>
                          </a:solidFill>
                        </a:defRPr>
                      </a:pPr>
                      <a:r>
                        <a:t>Dashboard /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555"/>
                          </a:solidFill>
                        </a:defRPr>
                      </a:pPr>
                      <a:r>
                        <a:t>Targeting dashboard + Springer PDF (12 pp.)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555"/>
                          </a:solidFill>
                        </a:defRPr>
                      </a:pPr>
                      <a:r>
                        <a:t>AI Audit 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555"/>
                          </a:solidFill>
                        </a:defRPr>
                      </a:pPr>
                      <a:r>
                        <a:t>P2-01..P2-20, Human Delta + honest reporting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007A87"/>
                </a:solidFill>
              </a:defRPr>
            </a:pPr>
            <a:r>
              <a:t>Three datasets, deliberately separated roles — causal-clean design.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Research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555555"/>
                </a:solidFill>
              </a:defRPr>
            </a:pPr>
            <a:r>
              <a:t>RQ1 — How robust is the Hurdle-Semantic CLV framework across e-commerce and grocery?</a:t>
            </a:r>
          </a:p>
          <a:p>
            <a:pPr>
              <a:spcAft>
                <a:spcPts val="900"/>
              </a:spcAft>
              <a:defRPr sz="1900">
                <a:solidFill>
                  <a:srgbClr val="555555"/>
                </a:solidFill>
              </a:defRPr>
            </a:pPr>
            <a:r>
              <a:t>RQ2 — Do behavioural, sequence, semantic features add value beyond RFM?</a:t>
            </a:r>
          </a:p>
          <a:p>
            <a:pPr>
              <a:spcAft>
                <a:spcPts val="900"/>
              </a:spcAft>
              <a:defRPr sz="1900">
                <a:solidFill>
                  <a:srgbClr val="555555"/>
                </a:solidFill>
              </a:defRPr>
            </a:pPr>
            <a:r>
              <a:t>RQ3 — Does uplift-aware targeting beat response- and value-based targeting?</a:t>
            </a:r>
          </a:p>
          <a:p>
            <a:pPr>
              <a:spcAft>
                <a:spcPts val="900"/>
              </a:spcAft>
              <a:defRPr sz="1900">
                <a:solidFill>
                  <a:srgbClr val="555555"/>
                </a:solidFill>
              </a:defRPr>
            </a:pPr>
            <a:r>
              <a:t>RQ4 — Does value-adjusted uplift (τ̂·V̂) improve budget-constrained efficiency?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007A87"/>
                </a:solidFill>
              </a:defRPr>
            </a:pPr>
            <a:r>
              <a:t>RQ1–RQ2: CLV ranking | RQ3: uplift | RQ4: the fusion (central contribution).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Three Datasets, Separated Roles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2560320" cy="1371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91639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0.8M</a:t>
            </a:r>
          </a:p>
          <a:p>
            <a:pPr algn="ctr">
              <a:defRPr sz="1200">
                <a:solidFill>
                  <a:srgbClr val="BBDDEE"/>
                </a:solidFill>
              </a:defRPr>
            </a:pPr>
            <a:r>
              <a:t>Online Retail II tx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554480"/>
            <a:ext cx="2560320" cy="1371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691639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2,500</a:t>
            </a:r>
          </a:p>
          <a:p>
            <a:pPr algn="ctr">
              <a:defRPr sz="1200">
                <a:solidFill>
                  <a:srgbClr val="BBDDEE"/>
                </a:solidFill>
              </a:defRPr>
            </a:pPr>
            <a:r>
              <a:t>Dunnhumby hh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554480"/>
            <a:ext cx="2560320" cy="1371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691639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200,039</a:t>
            </a:r>
          </a:p>
          <a:p>
            <a:pPr algn="ctr">
              <a:defRPr sz="1200">
                <a:solidFill>
                  <a:srgbClr val="BBDDEE"/>
                </a:solidFill>
              </a:defRPr>
            </a:pPr>
            <a:r>
              <a:t>X5 clients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1554480"/>
            <a:ext cx="2560320" cy="1371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691639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45.7M</a:t>
            </a:r>
          </a:p>
          <a:p>
            <a:pPr algn="ctr">
              <a:defRPr sz="1200">
                <a:solidFill>
                  <a:srgbClr val="BBDDEE"/>
                </a:solidFill>
              </a:defRPr>
            </a:pPr>
            <a:r>
              <a:t>X5 purchase 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555555"/>
                </a:solidFill>
              </a:defRPr>
            </a:pPr>
            <a:r>
              <a:t>Online Retail II (UK e-commerce) — baseline CLV (read-only reuse).</a:t>
            </a:r>
          </a:p>
          <a:p>
            <a:pPr>
              <a:spcAft>
                <a:spcPts val="900"/>
              </a:spcAft>
              <a:defRPr sz="1700">
                <a:solidFill>
                  <a:srgbClr val="555555"/>
                </a:solidFill>
              </a:defRPr>
            </a:pPr>
            <a:r>
              <a:t>Dunnhumby (US grocery) — external CLV validation.</a:t>
            </a:r>
          </a:p>
          <a:p>
            <a:pPr>
              <a:spcAft>
                <a:spcPts val="900"/>
              </a:spcAft>
              <a:defRPr sz="1700">
                <a:solidFill>
                  <a:srgbClr val="555555"/>
                </a:solidFill>
              </a:defRPr>
            </a:pPr>
            <a:r>
              <a:t>X5 RetailHero (randomised SMS) — the only source of treatment-control uplift.</a:t>
            </a:r>
          </a:p>
          <a:p>
            <a:pPr>
              <a:spcAft>
                <a:spcPts val="900"/>
              </a:spcAft>
              <a:defRPr sz="1700">
                <a:solidFill>
                  <a:srgbClr val="555555"/>
                </a:solidFill>
              </a:defRPr>
            </a:pPr>
            <a:r>
              <a:t>Coupon redemption deliberately NOT used as treatment (post-campaign outcome).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Methodology — Four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555555"/>
                </a:solidFill>
              </a:defRPr>
            </a:pPr>
            <a:r>
              <a:t>A. Hurdle CLV:  CLV̂ = p(return) × E[spend | return], lognormal correction.</a:t>
            </a:r>
          </a:p>
          <a:p>
            <a:pPr>
              <a:spcAft>
                <a:spcPts val="900"/>
              </a:spcAft>
              <a:defRPr sz="1900">
                <a:solidFill>
                  <a:srgbClr val="555555"/>
                </a:solidFill>
              </a:defRPr>
            </a:pPr>
            <a:r>
              <a:t>B. Semantic profiling:  PPMI co-occurrence → SVD product embeddings → taste vectors.</a:t>
            </a:r>
          </a:p>
          <a:p>
            <a:pPr>
              <a:spcAft>
                <a:spcPts val="900"/>
              </a:spcAft>
              <a:defRPr sz="1900">
                <a:solidFill>
                  <a:srgbClr val="555555"/>
                </a:solidFill>
              </a:defRPr>
            </a:pPr>
            <a:r>
              <a:t>C. Uplift learners:  S- / T- / X-Learner, class transformation vs response &amp; random.</a:t>
            </a:r>
          </a:p>
          <a:p>
            <a:pPr>
              <a:spcAft>
                <a:spcPts val="900"/>
              </a:spcAft>
              <a:defRPr sz="1900">
                <a:solidFill>
                  <a:srgbClr val="555555"/>
                </a:solidFill>
              </a:defRPr>
            </a:pPr>
            <a:r>
              <a:t>D. Value-adjusted uplift (central):  Score = τ̂ᵢ · V̂ᵢ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007A87"/>
                </a:solidFill>
              </a:defRPr>
            </a:pPr>
            <a:r>
              <a:t>CLV = forecasting (walk-forward). Uplift = randomised cross-section (RCT).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Cross-Context Structure (RQ1)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7A87"/>
                </a:solidFill>
              </a:defRPr>
            </a:pPr>
            <a:r>
              <a:t>Two opposite retail regimes</a:t>
            </a:r>
          </a:p>
        </p:txBody>
      </p:sp>
      <p:pic>
        <p:nvPicPr>
          <p:cNvPr id="5" name="Picture 4" descr="contex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1064240" cy="42245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007A87"/>
                </a:solidFill>
              </a:defRPr>
            </a:pPr>
            <a:r>
              <a:t>E-commerce: 50% zero, skew 16.7 (heavy-tailed). Grocery: 7% zero, skew 2.5 (dense).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Cross-Context CLV Benchmark (RQ1, RQ2)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7A87"/>
                </a:solidFill>
              </a:defRPr>
            </a:pPr>
            <a:r>
              <a:t>Walk-forward, mean ± std — aligned with Phase 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75895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9840"/>
                <a:gridCol w="2529840"/>
                <a:gridCol w="2529840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NG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RC@10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555"/>
                          </a:solidFill>
                        </a:defRPr>
                      </a:pPr>
                      <a:r>
                        <a:t>Online Retail II — Hurdle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555"/>
                          </a:solidFill>
                        </a:defRPr>
                      </a:pPr>
                      <a:r>
                        <a:t>0.825 ± 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555"/>
                          </a:solidFill>
                        </a:defRPr>
                      </a:pPr>
                      <a:r>
                        <a:t>59.0%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555"/>
                          </a:solidFill>
                        </a:defRPr>
                      </a:pPr>
                      <a:r>
                        <a:t>Online Retail II — Monetary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555"/>
                          </a:solidFill>
                        </a:defRPr>
                      </a:pPr>
                      <a:r>
                        <a:t>0.822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555"/>
                          </a:solidFill>
                        </a:defRPr>
                      </a:pPr>
                      <a:r>
                        <a:t>60.0%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555"/>
                          </a:solidFill>
                        </a:defRPr>
                      </a:pPr>
                      <a:r>
                        <a:t>Dunnhumby — RandomForest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555"/>
                          </a:solidFill>
                        </a:defRPr>
                      </a:pPr>
                      <a:r>
                        <a:t>0.862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555"/>
                          </a:solidFill>
                        </a:defRPr>
                      </a:pPr>
                      <a:r>
                        <a:t>34.3%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555"/>
                          </a:solidFill>
                        </a:defRPr>
                      </a:pPr>
                      <a:r>
                        <a:t>Dunnhumby — Hurdle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555"/>
                          </a:solidFill>
                        </a:defRPr>
                      </a:pPr>
                      <a:r>
                        <a:t>0.855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555"/>
                          </a:solidFill>
                        </a:defRPr>
                      </a:pPr>
                      <a:r>
                        <a:t>34.3%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863840" y="164592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555555"/>
                </a:solidFill>
              </a:defRPr>
            </a:pPr>
            <a:r>
              <a:t>Hurdle competitive, not dominant — ties Monetary (p=0.55) / RF.</a:t>
            </a:r>
          </a:p>
          <a:p>
            <a:pPr>
              <a:spcAft>
                <a:spcPts val="900"/>
              </a:spcAft>
              <a:defRPr sz="1400">
                <a:solidFill>
                  <a:srgbClr val="555555"/>
                </a:solidFill>
              </a:defRPr>
            </a:pPr>
            <a:r>
              <a:t>Mechanism shifts: incidence (e-com) vs sequence/magnitude (grocery).</a:t>
            </a:r>
          </a:p>
          <a:p>
            <a:pPr>
              <a:spcAft>
                <a:spcPts val="900"/>
              </a:spcAft>
              <a:defRPr sz="1400">
                <a:solidFill>
                  <a:srgbClr val="555555"/>
                </a:solidFill>
              </a:defRPr>
            </a:pPr>
            <a:r>
              <a:t>Extra features &gt; RFM significant in grocery (p=0.002), not e-com (p=0.17).</a:t>
            </a:r>
          </a:p>
          <a:p>
            <a:pPr>
              <a:spcAft>
                <a:spcPts val="900"/>
              </a:spcAft>
              <a:defRPr sz="1400">
                <a:solidFill>
                  <a:srgbClr val="555555"/>
                </a:solidFill>
              </a:defRPr>
            </a:pPr>
            <a:r>
              <a:t>Semantic: interpretation, not a ranking driver (ns both contexts).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Explainability — Stage-2 SHAP (RQ2)</a:t>
            </a:r>
          </a:p>
        </p:txBody>
      </p:sp>
      <p:pic>
        <p:nvPicPr>
          <p:cNvPr id="4" name="Picture 3" descr="shap_cross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698480" cy="36924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007A87"/>
                </a:solidFill>
              </a:defRPr>
            </a:pPr>
            <a:r>
              <a:t>Monetary dominates spend in e-commerce; recent-sequence spend dominates in grocery.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Uplift-Aware Targeting (RQ3)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7A87"/>
                </a:solidFill>
              </a:defRPr>
            </a:pPr>
            <a:r>
              <a:t>Response model ranks BELOW random</a:t>
            </a:r>
          </a:p>
        </p:txBody>
      </p:sp>
      <p:pic>
        <p:nvPicPr>
          <p:cNvPr id="5" name="Picture 4" descr="qi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943600" cy="31760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55448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555555"/>
                </a:solidFill>
              </a:defRPr>
            </a:pPr>
            <a:r>
              <a:t>Response model ("who will buy") Qini −0.007 — worse than random.</a:t>
            </a:r>
          </a:p>
          <a:p>
            <a:pPr>
              <a:spcAft>
                <a:spcPts val="900"/>
              </a:spcAft>
              <a:defRPr sz="1600">
                <a:solidFill>
                  <a:srgbClr val="555555"/>
                </a:solidFill>
              </a:defRPr>
            </a:pPr>
            <a:r>
              <a:t>Uplift learners positive: S-Learner Qini 0.014.</a:t>
            </a:r>
          </a:p>
          <a:p>
            <a:pPr>
              <a:spcAft>
                <a:spcPts val="900"/>
              </a:spcAft>
              <a:defRPr sz="1600">
                <a:solidFill>
                  <a:srgbClr val="555555"/>
                </a:solidFill>
              </a:defRPr>
            </a:pPr>
            <a:r>
              <a:t>Top-decile uplift ≈ 11% — ~3× the average effect.</a:t>
            </a:r>
          </a:p>
          <a:p>
            <a:pPr>
              <a:spcAft>
                <a:spcPts val="900"/>
              </a:spcAft>
              <a:defRPr sz="1600">
                <a:solidFill>
                  <a:srgbClr val="555555"/>
                </a:solidFill>
              </a:defRPr>
            </a:pPr>
            <a:r>
              <a:t>“Likely to buy” ≠ “persuadable” (paired bootstrap p &lt; 0.001).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Value-Adjusted Targeting &amp; Profit (RQ4)</a:t>
            </a:r>
          </a:p>
        </p:txBody>
      </p:sp>
      <p:pic>
        <p:nvPicPr>
          <p:cNvPr id="4" name="Picture 3" descr="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943600" cy="31760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55448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555555"/>
                </a:solidFill>
              </a:defRPr>
            </a:pPr>
            <a:r>
              <a:t>Value &amp; uplift top-10% overlap only 0.007 — different customers.</a:t>
            </a:r>
          </a:p>
          <a:p>
            <a:pPr>
              <a:spcAft>
                <a:spcPts val="900"/>
              </a:spcAft>
              <a:defRPr sz="1500">
                <a:solidFill>
                  <a:srgbClr val="555555"/>
                </a:solidFill>
              </a:defRPr>
            </a:pPr>
            <a:r>
              <a:t>Value-only can LOSE money at 10% (sure buyers, low uplift).</a:t>
            </a:r>
          </a:p>
          <a:p>
            <a:pPr>
              <a:spcAft>
                <a:spcPts val="900"/>
              </a:spcAft>
              <a:defRPr sz="1500">
                <a:solidFill>
                  <a:srgbClr val="555555"/>
                </a:solidFill>
              </a:defRPr>
            </a:pPr>
            <a:r>
              <a:t>Uplift-only maximises incremental conversions.</a:t>
            </a:r>
          </a:p>
          <a:p>
            <a:pPr>
              <a:spcAft>
                <a:spcPts val="900"/>
              </a:spcAft>
              <a:defRPr sz="1500">
                <a:solidFill>
                  <a:srgbClr val="555555"/>
                </a:solidFill>
              </a:defRPr>
            </a:pPr>
            <a:r>
              <a:t>Value-adjusted: highest point-estimate profit at tight budgets</a:t>
            </a:r>
          </a:p>
          <a:p>
            <a:pPr>
              <a:spcAft>
                <a:spcPts val="900"/>
              </a:spcAft>
              <a:defRPr sz="1500">
                <a:solidFill>
                  <a:srgbClr val="555555"/>
                </a:solidFill>
              </a:defRPr>
            </a:pPr>
            <a:r>
              <a:t>   (wins all 9 cost×margin settings; differences NOT significant).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Honest Significance — What Holds Up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859536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Claim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ΔNG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555"/>
                          </a:solidFill>
                        </a:defRPr>
                      </a:pPr>
                      <a:r>
                        <a:t>Extra features &gt; RFM (grocery)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555"/>
                          </a:solidFill>
                        </a:defRPr>
                      </a:pPr>
                      <a:r>
                        <a:t>+0.044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555"/>
                          </a:solidFill>
                        </a:defRPr>
                      </a:pPr>
                      <a:r>
                        <a:t>p &lt; 0.01  ✓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555"/>
                          </a:solidFill>
                        </a:defRPr>
                      </a:pPr>
                      <a:r>
                        <a:t>Extra features &gt; RFM (e-com)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555"/>
                          </a:solidFill>
                        </a:defRPr>
                      </a:pPr>
                      <a:r>
                        <a:t>+0.009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555"/>
                          </a:solidFill>
                        </a:defRPr>
                      </a:pPr>
                      <a:r>
                        <a:t>p = 0.17  (ns)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555"/>
                          </a:solidFill>
                        </a:defRPr>
                      </a:pPr>
                      <a:r>
                        <a:t>Semantic adds ranking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555"/>
                          </a:solidFill>
                        </a:defRPr>
                      </a:pPr>
                      <a:r>
                        <a:t>~0.001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555"/>
                          </a:solidFill>
                        </a:defRPr>
                      </a:pPr>
                      <a:r>
                        <a:t>ns (both)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555"/>
                          </a:solidFill>
                        </a:defRPr>
                      </a:pPr>
                      <a:r>
                        <a:t>Sequence adds ranking (grocery)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555"/>
                          </a:solidFill>
                        </a:defRPr>
                      </a:pPr>
                      <a:r>
                        <a:t>+0.021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555"/>
                          </a:solidFill>
                        </a:defRPr>
                      </a:pPr>
                      <a:r>
                        <a:t>p &lt; 0.01  ✓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555"/>
                          </a:solidFill>
                        </a:defRPr>
                      </a:pPr>
                      <a:r>
                        <a:t>Uplift &gt; response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555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555"/>
                          </a:solidFill>
                        </a:defRPr>
                      </a:pPr>
                      <a:r>
                        <a:t>p &lt; 0.001  ✓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555"/>
                          </a:solidFill>
                        </a:defRPr>
                      </a:pPr>
                      <a:r>
                        <a:t>Policy dollar profit differences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555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55555"/>
                          </a:solidFill>
                        </a:defRPr>
                      </a:pPr>
                      <a:r>
                        <a:t>not significant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007A87"/>
                </a:solidFill>
              </a:defRPr>
            </a:pPr>
            <a:r>
              <a:t>Reported transparently: ranking-level claims significant; dollar-level profit is directional.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Discussion — Transferable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555555"/>
                </a:solidFill>
              </a:defRPr>
            </a:pPr>
            <a:r>
              <a:t>Do not target on CLV alone — selects sure buyers, can lose money.</a:t>
            </a:r>
          </a:p>
          <a:p>
            <a:pPr>
              <a:spcAft>
                <a:spcPts val="900"/>
              </a:spcAft>
              <a:defRPr sz="1800">
                <a:solidFill>
                  <a:srgbClr val="555555"/>
                </a:solidFill>
              </a:defRPr>
            </a:pPr>
            <a:r>
              <a:t>Do not target on response alone — can underperform random.</a:t>
            </a:r>
          </a:p>
          <a:p>
            <a:pPr>
              <a:spcAft>
                <a:spcPts val="900"/>
              </a:spcAft>
              <a:defRPr sz="1800">
                <a:solidFill>
                  <a:srgbClr val="555555"/>
                </a:solidFill>
              </a:defRPr>
            </a:pPr>
            <a:r>
              <a:t>Value-adjusted uplift suits budget-constrained settings.</a:t>
            </a:r>
          </a:p>
          <a:p>
            <a:pPr>
              <a:spcAft>
                <a:spcPts val="900"/>
              </a:spcAft>
              <a:defRPr sz="1800">
                <a:solidFill>
                  <a:srgbClr val="555555"/>
                </a:solidFill>
              </a:defRPr>
            </a:pPr>
            <a:r>
              <a:t>Explainability (SHAP) + calibrated uncertainty (CQR, 90%→90.2%/89.0%) build trust.</a:t>
            </a:r>
          </a:p>
          <a:p>
            <a:pPr>
              <a:spcAft>
                <a:spcPts val="900"/>
              </a:spcAft>
              <a:defRPr sz="1800">
                <a:solidFill>
                  <a:srgbClr val="555555"/>
                </a:solidFill>
              </a:defRPr>
            </a:pPr>
            <a:r>
              <a:t>0.7% overlap → a single objective leads to suboptimal / loss-making targeting.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007A87"/>
                </a:solidFill>
              </a:defRPr>
            </a:pPr>
            <a:r>
              <a:t>Transferable principles for budget-constrained emerging markets — not numerical transfer.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555555"/>
                </a:solidFill>
              </a:defRPr>
            </a:pPr>
            <a:r>
              <a:t>Framework transfers but mechanism is context-dependent.</a:t>
            </a:r>
          </a:p>
          <a:p>
            <a:pPr>
              <a:spcAft>
                <a:spcPts val="900"/>
              </a:spcAft>
              <a:defRPr sz="1800">
                <a:solidFill>
                  <a:srgbClr val="555555"/>
                </a:solidFill>
              </a:defRPr>
            </a:pPr>
            <a:r>
              <a:t>Response-based targeting is worse than random for incremental campaigns.</a:t>
            </a:r>
          </a:p>
          <a:p>
            <a:pPr>
              <a:spcAft>
                <a:spcPts val="900"/>
              </a:spcAft>
              <a:defRPr sz="1800">
                <a:solidFill>
                  <a:srgbClr val="555555"/>
                </a:solidFill>
              </a:defRPr>
            </a:pPr>
            <a:r>
              <a:t>Value-adjusted uplift = most promising rule under tight budgets (honest caveats).</a:t>
            </a:r>
          </a:p>
          <a:p>
            <a:pPr>
              <a:spcAft>
                <a:spcPts val="900"/>
              </a:spcAft>
              <a:defRPr sz="1800">
                <a:solidFill>
                  <a:srgbClr val="555555"/>
                </a:solidFill>
              </a:defRPr>
            </a:pPr>
            <a:r>
              <a:t>Limitations: small grocery sample, single campaign, value proxy, modest signal.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120640"/>
            <a:ext cx="11247120" cy="12801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303520"/>
            <a:ext cx="108813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CLV identifies who is valuable · uplift identifies who is responsive · value-adjusted uplift identifies who is worth targeting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
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5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8E70CB-6C22-48F3-857E-4DB29880E99C}">
  <a:tblStyle styleId="{9D8E70CB-6C22-48F3-857E-4DB29880E9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>
                <a:solidFill>
                  <a:schemeClr val="dk1"/>
                </a:solidFill>
              </a:rPr>
              <a:t>Kính chào thầy/cô.Em là Nguyễn Vũ Minh Ánh, mã số sinh viên SE203412.Hôm nay em xin trình bày project Phase 2 với chủ đề: From CLV Ranking to Uplift-Aware Targeting.Nếu Phase 1 chủ yếu trả lời câu hỏi: khách hàng nào có giá trị cao trong tương lai, thì Phase 2 đi thêm một bước thực tế hơn: khách hàng nào thật sự đáng được target trong một campaign.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3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Problem &amp; Data</a:t>
            </a:r>
            <a:r>
              <a:rPr lang="en-US" dirty="0"/>
              <a:t>. Em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dataset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Analysis &amp; Results</a:t>
            </a:r>
            <a:r>
              <a:rPr lang="en-US" dirty="0"/>
              <a:t>. Ở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pipeline Python,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CLV, uplift learners,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value-adjusted targeting.</a:t>
            </a:r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Tool &amp; AI Reflection</a:t>
            </a:r>
            <a:r>
              <a:rPr lang="en-US" dirty="0"/>
              <a:t>. Em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dashboard </a:t>
            </a:r>
            <a:r>
              <a:rPr lang="en-US" dirty="0" err="1"/>
              <a:t>hoặc</a:t>
            </a:r>
            <a:r>
              <a:rPr lang="en-US" dirty="0"/>
              <a:t> targeting report, AI Audit Log, Human Delta,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hallucination </a:t>
            </a:r>
            <a:r>
              <a:rPr lang="en-US" dirty="0" err="1"/>
              <a:t>từ</a:t>
            </a:r>
            <a:r>
              <a:rPr lang="en-US" dirty="0"/>
              <a:t> AI.</a:t>
            </a:r>
          </a:p>
          <a:p>
            <a:r>
              <a:rPr lang="en-US" dirty="0"/>
              <a:t>Thông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</a:t>
            </a:r>
            <a:r>
              <a:rPr lang="en-US" b="1" dirty="0"/>
              <a:t>CLV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biết</a:t>
            </a:r>
            <a:r>
              <a:rPr lang="en-US" b="1" dirty="0"/>
              <a:t> ai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trị</a:t>
            </a:r>
            <a:r>
              <a:rPr lang="en-US" b="1" dirty="0"/>
              <a:t>, uplift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biết</a:t>
            </a:r>
            <a:r>
              <a:rPr lang="en-US" b="1" dirty="0"/>
              <a:t> ai </a:t>
            </a:r>
            <a:r>
              <a:rPr lang="en-US" b="1" dirty="0" err="1"/>
              <a:t>phản</a:t>
            </a:r>
            <a:r>
              <a:rPr lang="en-US" b="1" dirty="0"/>
              <a:t> </a:t>
            </a:r>
            <a:r>
              <a:rPr lang="en-US" b="1" dirty="0" err="1"/>
              <a:t>hồi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campaign, </a:t>
            </a:r>
            <a:r>
              <a:rPr lang="en-US" b="1" dirty="0" err="1"/>
              <a:t>còn</a:t>
            </a:r>
            <a:r>
              <a:rPr lang="en-US" b="1" dirty="0"/>
              <a:t> value-adjusted uplift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biết</a:t>
            </a:r>
            <a:r>
              <a:rPr lang="en-US" b="1" dirty="0"/>
              <a:t> ai </a:t>
            </a:r>
            <a:r>
              <a:rPr lang="en-US" b="1" dirty="0" err="1"/>
              <a:t>đáng</a:t>
            </a:r>
            <a:r>
              <a:rPr lang="en-US" b="1" dirty="0"/>
              <a:t> target </a:t>
            </a:r>
            <a:r>
              <a:rPr lang="en-US" b="1" dirty="0" err="1"/>
              <a:t>nhất</a:t>
            </a:r>
            <a:r>
              <a:rPr lang="en-US" b="1" dirty="0"/>
              <a:t>.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project </a:t>
            </a:r>
            <a:r>
              <a:rPr lang="en-US" dirty="0" err="1"/>
              <a:t>là</a:t>
            </a:r>
            <a:r>
              <a:rPr lang="en-US" dirty="0"/>
              <a:t>: </a:t>
            </a:r>
            <a:r>
              <a:rPr lang="en-US" b="1" dirty="0"/>
              <a:t>high-value customers are not always the best campaign targets</a:t>
            </a:r>
            <a:r>
              <a:rPr lang="en-US" dirty="0"/>
              <a:t>.</a:t>
            </a:r>
          </a:p>
          <a:p>
            <a:r>
              <a:rPr lang="en-US" dirty="0"/>
              <a:t>Trong marketing,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quay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dù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coupon hay SMS.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đãi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campaign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.</a:t>
            </a:r>
          </a:p>
          <a:p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quay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nhắc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đãi</a:t>
            </a:r>
            <a:r>
              <a:rPr lang="en-US" dirty="0"/>
              <a:t>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b="1" dirty="0"/>
              <a:t>persuadable</a:t>
            </a:r>
            <a:r>
              <a:rPr lang="en-US" dirty="0"/>
              <a:t>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campaign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,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CLV,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CLV </a:t>
            </a:r>
            <a:r>
              <a:rPr lang="en-US" dirty="0" err="1"/>
              <a:t>với</a:t>
            </a:r>
            <a:r>
              <a:rPr lang="en-US" dirty="0"/>
              <a:t> uplift. Nói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: </a:t>
            </a:r>
            <a:r>
              <a:rPr lang="en-US" b="1" dirty="0"/>
              <a:t>CLV ranks who is valuable, uplift estimates who is persuadable, and value-adjusted uplift targets customers who are both.</a:t>
            </a:r>
            <a:endParaRPr lang="en-US" dirty="0"/>
          </a:p>
        </p:txBody>
      </p:sp>
      <p:sp>
        <p:nvSpPr>
          <p:cNvPr id="38" name="Google Shape;3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Project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4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.</a:t>
            </a:r>
          </a:p>
          <a:p>
            <a:r>
              <a:rPr lang="en-US" b="1" dirty="0"/>
              <a:t>RQ1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: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Hurdle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semantic features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competitive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e-commerce sang grocery hay </a:t>
            </a:r>
            <a:r>
              <a:rPr lang="en-US" dirty="0" err="1"/>
              <a:t>không</a:t>
            </a:r>
            <a:r>
              <a:rPr lang="en-US" dirty="0"/>
              <a:t>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robust </a:t>
            </a:r>
            <a:r>
              <a:rPr lang="en-US" dirty="0" err="1"/>
              <a:t>của</a:t>
            </a:r>
            <a:r>
              <a:rPr lang="en-US" dirty="0"/>
              <a:t> CLV framework.</a:t>
            </a:r>
          </a:p>
          <a:p>
            <a:r>
              <a:rPr lang="en-US" b="1" dirty="0"/>
              <a:t>RQ2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: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feature </a:t>
            </a:r>
            <a:r>
              <a:rPr lang="en-US" dirty="0" err="1"/>
              <a:t>như</a:t>
            </a:r>
            <a:r>
              <a:rPr lang="en-US" dirty="0"/>
              <a:t> RFM, sequence </a:t>
            </a:r>
            <a:r>
              <a:rPr lang="en-US" dirty="0" err="1"/>
              <a:t>và</a:t>
            </a:r>
            <a:r>
              <a:rPr lang="en-US" dirty="0"/>
              <a:t> semantic,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ranking,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.</a:t>
            </a:r>
          </a:p>
          <a:p>
            <a:r>
              <a:rPr lang="en-US" b="1" dirty="0"/>
              <a:t>RQ3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sang campaign targeting: uplift models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persuadable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response model hay </a:t>
            </a:r>
            <a:r>
              <a:rPr lang="en-US" dirty="0" err="1"/>
              <a:t>không</a:t>
            </a:r>
            <a:r>
              <a:rPr lang="en-US" dirty="0"/>
              <a:t>.</a:t>
            </a:r>
          </a:p>
          <a:p>
            <a:r>
              <a:rPr lang="en-US" b="1" dirty="0"/>
              <a:t>RQ4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uplift </a:t>
            </a:r>
            <a:r>
              <a:rPr lang="en-US" dirty="0" err="1"/>
              <a:t>với</a:t>
            </a:r>
            <a:r>
              <a:rPr lang="en-US" dirty="0"/>
              <a:t> value,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value-adjusted uplift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held-out targeting profit so </a:t>
            </a:r>
            <a:r>
              <a:rPr lang="en-US" dirty="0" err="1"/>
              <a:t>với</a:t>
            </a:r>
            <a:r>
              <a:rPr lang="en-US" dirty="0"/>
              <a:t> value-only </a:t>
            </a:r>
            <a:r>
              <a:rPr lang="en-US" dirty="0" err="1"/>
              <a:t>hoặc</a:t>
            </a:r>
            <a:r>
              <a:rPr lang="en-US" dirty="0"/>
              <a:t> uplift-only hay </a:t>
            </a:r>
            <a:r>
              <a:rPr lang="en-US" dirty="0" err="1"/>
              <a:t>không</a:t>
            </a:r>
            <a:r>
              <a:rPr lang="en-US" dirty="0"/>
              <a:t>.</a:t>
            </a:r>
          </a:p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RQ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: CLV benchmark, feature ablation, uplift benchmark </a:t>
            </a:r>
            <a:r>
              <a:rPr lang="en-US" dirty="0" err="1"/>
              <a:t>và</a:t>
            </a:r>
            <a:r>
              <a:rPr lang="en-US" dirty="0"/>
              <a:t> profit simulation.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45" name="Google Shape;4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Project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dataset,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dataset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.</a:t>
            </a:r>
          </a:p>
          <a:p>
            <a:r>
              <a:rPr lang="en-US" dirty="0"/>
              <a:t>Dataset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Online Retail II</a:t>
            </a:r>
            <a:r>
              <a:rPr lang="en-US" dirty="0"/>
              <a:t>,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e-commerce. Dataset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baseline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CLV.</a:t>
            </a:r>
          </a:p>
          <a:p>
            <a:r>
              <a:rPr lang="en-US" dirty="0"/>
              <a:t>Dataset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Dunnhumby Complete Journey</a:t>
            </a:r>
            <a:r>
              <a:rPr lang="en-US" dirty="0"/>
              <a:t>,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grocery panel. Dataset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CLV framework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.</a:t>
            </a:r>
          </a:p>
          <a:p>
            <a:r>
              <a:rPr lang="en-US" dirty="0"/>
              <a:t>Dataset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X5 </a:t>
            </a:r>
            <a:r>
              <a:rPr lang="en-US" b="1" dirty="0" err="1"/>
              <a:t>RetailHero</a:t>
            </a:r>
            <a:r>
              <a:rPr lang="en-US" dirty="0"/>
              <a:t>,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dataset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uplift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treatment-control </a:t>
            </a:r>
            <a:r>
              <a:rPr lang="en-US" dirty="0" err="1"/>
              <a:t>từ</a:t>
            </a:r>
            <a:r>
              <a:rPr lang="en-US" dirty="0"/>
              <a:t> campaign SMS.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incremental </a:t>
            </a:r>
            <a:r>
              <a:rPr lang="en-US" dirty="0" err="1"/>
              <a:t>của</a:t>
            </a:r>
            <a:r>
              <a:rPr lang="en-US" dirty="0"/>
              <a:t> campaign.</a:t>
            </a:r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r>
              <a:rPr lang="en-US" b="1" dirty="0"/>
              <a:t> coupon redemption </a:t>
            </a:r>
            <a:r>
              <a:rPr lang="en-US" b="1" dirty="0" err="1"/>
              <a:t>trong</a:t>
            </a:r>
            <a:r>
              <a:rPr lang="en-US" b="1" dirty="0"/>
              <a:t> Dunnhumby </a:t>
            </a:r>
            <a:r>
              <a:rPr lang="en-US" b="1" dirty="0" err="1"/>
              <a:t>làm</a:t>
            </a:r>
            <a:r>
              <a:rPr lang="en-US" b="1" dirty="0"/>
              <a:t> treatment</a:t>
            </a:r>
            <a:r>
              <a:rPr lang="en-US" dirty="0"/>
              <a:t>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outcome </a:t>
            </a:r>
            <a:r>
              <a:rPr lang="en-US" dirty="0" err="1"/>
              <a:t>sau</a:t>
            </a:r>
            <a:r>
              <a:rPr lang="en-US" dirty="0"/>
              <a:t> campaign,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treatment assignment </a:t>
            </a:r>
            <a:r>
              <a:rPr lang="en-US" dirty="0" err="1"/>
              <a:t>sạch</a:t>
            </a:r>
            <a:r>
              <a:rPr lang="en-US" dirty="0"/>
              <a:t>. Uplift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X5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causal scope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. Slide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</p:txBody>
      </p:sp>
      <p:sp>
        <p:nvSpPr>
          <p:cNvPr id="53" name="Google Shape;5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8e00d7cb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e8e00d7cb4_0_3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Ở </a:t>
            </a:r>
            <a:r>
              <a:rPr lang="en-US" dirty="0" err="1"/>
              <a:t>bước</a:t>
            </a:r>
            <a:r>
              <a:rPr lang="en-US" dirty="0"/>
              <a:t> EDA,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EDA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context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Online Retail II</a:t>
            </a:r>
            <a:r>
              <a:rPr lang="en-US" dirty="0"/>
              <a:t>,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e-commerce </a:t>
            </a:r>
            <a:r>
              <a:rPr lang="en-US" dirty="0" err="1"/>
              <a:t>thường</a:t>
            </a:r>
            <a:r>
              <a:rPr lang="en-US" dirty="0"/>
              <a:t> sparse </a:t>
            </a:r>
            <a:r>
              <a:rPr lang="en-US" dirty="0" err="1"/>
              <a:t>và</a:t>
            </a:r>
            <a:r>
              <a:rPr lang="en-US" dirty="0"/>
              <a:t> zero-inflated. Nghĩa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.</a:t>
            </a:r>
          </a:p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Dunnhumby</a:t>
            </a:r>
            <a:r>
              <a:rPr lang="en-US" dirty="0"/>
              <a:t>, grocery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dense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sequence features,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X5</a:t>
            </a:r>
            <a:r>
              <a:rPr lang="en-US" dirty="0"/>
              <a:t>,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treatment </a:t>
            </a:r>
            <a:r>
              <a:rPr lang="en-US" dirty="0" err="1"/>
              <a:t>và</a:t>
            </a:r>
            <a:r>
              <a:rPr lang="en-US" dirty="0"/>
              <a:t> control. Raw uplift </a:t>
            </a:r>
            <a:r>
              <a:rPr lang="en-US" dirty="0" err="1"/>
              <a:t>khoảng</a:t>
            </a:r>
            <a:r>
              <a:rPr lang="en-US" dirty="0"/>
              <a:t> 3.3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trăm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campaign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, </a:t>
            </a:r>
            <a:r>
              <a:rPr lang="en-US" dirty="0" err="1"/>
              <a:t>dù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.</a:t>
            </a:r>
          </a:p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, EDA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model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dataset,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framework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retail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</p:txBody>
      </p:sp>
      <p:sp>
        <p:nvSpPr>
          <p:cNvPr id="61" name="Google Shape;61;g3e8e00d7cb4_0_3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dirty="0"/>
              <a:t>SQL </a:t>
            </a:r>
            <a:r>
              <a:rPr lang="en-US" sz="1200" dirty="0" err="1"/>
              <a:t>trong</a:t>
            </a:r>
            <a:r>
              <a:rPr lang="en-US" sz="1200" dirty="0"/>
              <a:t> project </a:t>
            </a:r>
            <a:r>
              <a:rPr lang="en-US" sz="1200" dirty="0" err="1"/>
              <a:t>này</a:t>
            </a:r>
            <a:r>
              <a:rPr lang="en-US" sz="1200" dirty="0"/>
              <a:t> </a:t>
            </a:r>
            <a:r>
              <a:rPr lang="en-US" sz="1200" dirty="0" err="1"/>
              <a:t>không</a:t>
            </a:r>
            <a:r>
              <a:rPr lang="en-US" sz="1200" dirty="0"/>
              <a:t> </a:t>
            </a:r>
            <a:r>
              <a:rPr lang="en-US" sz="1200" dirty="0" err="1"/>
              <a:t>chỉ</a:t>
            </a:r>
            <a:r>
              <a:rPr lang="en-US" sz="1200" dirty="0"/>
              <a:t> </a:t>
            </a: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đáp</a:t>
            </a:r>
            <a:r>
              <a:rPr lang="en-US" sz="1200" dirty="0"/>
              <a:t> </a:t>
            </a:r>
            <a:r>
              <a:rPr lang="en-US" sz="1200" dirty="0" err="1"/>
              <a:t>ứng</a:t>
            </a:r>
            <a:r>
              <a:rPr lang="en-US" sz="1200" dirty="0"/>
              <a:t> </a:t>
            </a:r>
            <a:r>
              <a:rPr lang="en-US" sz="1200" dirty="0" err="1"/>
              <a:t>yêu</a:t>
            </a:r>
            <a:r>
              <a:rPr lang="en-US" sz="1200" dirty="0"/>
              <a:t> </a:t>
            </a:r>
            <a:r>
              <a:rPr lang="en-US" sz="1200" dirty="0" err="1"/>
              <a:t>cầu</a:t>
            </a:r>
            <a:r>
              <a:rPr lang="en-US" sz="1200" dirty="0"/>
              <a:t> </a:t>
            </a:r>
            <a:r>
              <a:rPr lang="en-US" sz="1200" dirty="0" err="1"/>
              <a:t>môn</a:t>
            </a:r>
            <a:r>
              <a:rPr lang="en-US" sz="1200" dirty="0"/>
              <a:t> </a:t>
            </a:r>
            <a:r>
              <a:rPr lang="en-US" sz="1200" dirty="0" err="1"/>
              <a:t>học</a:t>
            </a:r>
            <a:r>
              <a:rPr lang="en-US" sz="1200" dirty="0"/>
              <a:t>, </a:t>
            </a:r>
            <a:r>
              <a:rPr lang="en-US" sz="1200" dirty="0" err="1"/>
              <a:t>mà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bước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bảng</a:t>
            </a:r>
            <a:r>
              <a:rPr lang="en-US" sz="1200" dirty="0"/>
              <a:t> </a:t>
            </a:r>
            <a:r>
              <a:rPr lang="en-US" sz="1200" dirty="0" err="1"/>
              <a:t>phân</a:t>
            </a:r>
            <a:r>
              <a:rPr lang="en-US" sz="1200" dirty="0"/>
              <a:t> </a:t>
            </a:r>
            <a:r>
              <a:rPr lang="en-US" sz="1200" dirty="0" err="1"/>
              <a:t>tích</a:t>
            </a:r>
            <a:r>
              <a:rPr lang="en-US" sz="1200" dirty="0"/>
              <a:t> </a:t>
            </a:r>
            <a:r>
              <a:rPr lang="en-US" sz="1200" dirty="0" err="1"/>
              <a:t>trước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 modeling.</a:t>
            </a:r>
          </a:p>
          <a:p>
            <a:r>
              <a:rPr lang="en-US" sz="1200" dirty="0" err="1"/>
              <a:t>Nhóm</a:t>
            </a:r>
            <a:r>
              <a:rPr lang="en-US" sz="1200" dirty="0"/>
              <a:t> </a:t>
            </a: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DuckDB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bảng</a:t>
            </a:r>
            <a:r>
              <a:rPr lang="en-US" sz="1200" dirty="0"/>
              <a:t> customer-level </a:t>
            </a:r>
            <a:r>
              <a:rPr lang="en-US" sz="1200" dirty="0" err="1"/>
              <a:t>như</a:t>
            </a:r>
            <a:r>
              <a:rPr lang="en-US" sz="1200" dirty="0"/>
              <a:t> RFM </a:t>
            </a:r>
            <a:r>
              <a:rPr lang="en-US" sz="1200" dirty="0" err="1"/>
              <a:t>và</a:t>
            </a:r>
            <a:r>
              <a:rPr lang="en-US" sz="1200" dirty="0"/>
              <a:t> historical value. SQL </a:t>
            </a:r>
            <a:r>
              <a:rPr lang="en-US" sz="1200" dirty="0" err="1"/>
              <a:t>cũng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walk-forward windows, </a:t>
            </a:r>
            <a:r>
              <a:rPr lang="en-US" sz="1200" dirty="0" err="1"/>
              <a:t>tức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tách</a:t>
            </a:r>
            <a:r>
              <a:rPr lang="en-US" sz="1200" dirty="0"/>
              <a:t>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quá</a:t>
            </a:r>
            <a:r>
              <a:rPr lang="en-US" sz="1200" dirty="0"/>
              <a:t> </a:t>
            </a:r>
            <a:r>
              <a:rPr lang="en-US" sz="1200" dirty="0" err="1"/>
              <a:t>khứ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feature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tương</a:t>
            </a:r>
            <a:r>
              <a:rPr lang="en-US" sz="1200" dirty="0"/>
              <a:t> lai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label.</a:t>
            </a:r>
          </a:p>
          <a:p>
            <a:r>
              <a:rPr lang="en-US" sz="1200" dirty="0" err="1"/>
              <a:t>Đối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X5, SQL </a:t>
            </a:r>
            <a:r>
              <a:rPr lang="en-US" sz="1200" dirty="0" err="1"/>
              <a:t>còn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treatment-control cohorts. </a:t>
            </a:r>
            <a:r>
              <a:rPr lang="en-US" sz="1200" dirty="0" err="1"/>
              <a:t>Đây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phần</a:t>
            </a:r>
            <a:r>
              <a:rPr lang="en-US" sz="1200" dirty="0"/>
              <a:t> </a:t>
            </a:r>
            <a:r>
              <a:rPr lang="en-US" sz="1200" dirty="0" err="1"/>
              <a:t>rất</a:t>
            </a:r>
            <a:r>
              <a:rPr lang="en-US" sz="1200" dirty="0"/>
              <a:t> </a:t>
            </a:r>
            <a:r>
              <a:rPr lang="en-US" sz="1200" dirty="0" err="1"/>
              <a:t>quan</a:t>
            </a:r>
            <a:r>
              <a:rPr lang="en-US" sz="1200" dirty="0"/>
              <a:t> </a:t>
            </a:r>
            <a:r>
              <a:rPr lang="en-US" sz="1200" dirty="0" err="1"/>
              <a:t>trọng</a:t>
            </a:r>
            <a:r>
              <a:rPr lang="en-US" sz="1200" dirty="0"/>
              <a:t> </a:t>
            </a:r>
            <a:r>
              <a:rPr lang="en-US" sz="1200" dirty="0" err="1"/>
              <a:t>vì</a:t>
            </a:r>
            <a:r>
              <a:rPr lang="en-US" sz="1200" dirty="0"/>
              <a:t> uplift </a:t>
            </a:r>
            <a:r>
              <a:rPr lang="en-US" sz="1200" dirty="0" err="1"/>
              <a:t>không</a:t>
            </a:r>
            <a:r>
              <a:rPr lang="en-US" sz="1200" dirty="0"/>
              <a:t> </a:t>
            </a:r>
            <a:r>
              <a:rPr lang="en-US" sz="1200" dirty="0" err="1"/>
              <a:t>đo</a:t>
            </a:r>
            <a:r>
              <a:rPr lang="en-US" sz="1200" dirty="0"/>
              <a:t> “ai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khả</a:t>
            </a:r>
            <a:r>
              <a:rPr lang="en-US" sz="1200" dirty="0"/>
              <a:t> </a:t>
            </a:r>
            <a:r>
              <a:rPr lang="en-US" sz="1200" dirty="0" err="1"/>
              <a:t>năng</a:t>
            </a:r>
            <a:r>
              <a:rPr lang="en-US" sz="1200" dirty="0"/>
              <a:t> </a:t>
            </a:r>
            <a:r>
              <a:rPr lang="en-US" sz="1200" dirty="0" err="1"/>
              <a:t>mua</a:t>
            </a:r>
            <a:r>
              <a:rPr lang="en-US" sz="1200" dirty="0"/>
              <a:t> </a:t>
            </a:r>
            <a:r>
              <a:rPr lang="en-US" sz="1200" dirty="0" err="1"/>
              <a:t>cao</a:t>
            </a:r>
            <a:r>
              <a:rPr lang="en-US" sz="1200" dirty="0"/>
              <a:t>”, </a:t>
            </a:r>
            <a:r>
              <a:rPr lang="en-US" sz="1200" dirty="0" err="1"/>
              <a:t>mà</a:t>
            </a:r>
            <a:r>
              <a:rPr lang="en-US" sz="1200" dirty="0"/>
              <a:t> </a:t>
            </a:r>
            <a:r>
              <a:rPr lang="en-US" sz="1200" dirty="0" err="1"/>
              <a:t>đo</a:t>
            </a:r>
            <a:r>
              <a:rPr lang="en-US" sz="1200" dirty="0"/>
              <a:t> “ai </a:t>
            </a:r>
            <a:r>
              <a:rPr lang="en-US" sz="1200" dirty="0" err="1"/>
              <a:t>mua</a:t>
            </a:r>
            <a:r>
              <a:rPr lang="en-US" sz="1200" dirty="0"/>
              <a:t> </a:t>
            </a:r>
            <a:r>
              <a:rPr lang="en-US" sz="1200" dirty="0" err="1"/>
              <a:t>thêm</a:t>
            </a:r>
            <a:r>
              <a:rPr lang="en-US" sz="1200" dirty="0"/>
              <a:t> do campaign”.</a:t>
            </a:r>
          </a:p>
          <a:p>
            <a:r>
              <a:rPr lang="en-US" sz="1200" dirty="0" err="1"/>
              <a:t>Ngoài</a:t>
            </a:r>
            <a:r>
              <a:rPr lang="en-US" sz="1200" dirty="0"/>
              <a:t> </a:t>
            </a:r>
            <a:r>
              <a:rPr lang="en-US" sz="1200" dirty="0" err="1"/>
              <a:t>ra</a:t>
            </a:r>
            <a:r>
              <a:rPr lang="en-US" sz="1200" dirty="0"/>
              <a:t>, SQL </a:t>
            </a:r>
            <a:r>
              <a:rPr lang="en-US" sz="1200" dirty="0" err="1"/>
              <a:t>cũng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bảng</a:t>
            </a:r>
            <a:r>
              <a:rPr lang="en-US" sz="1200" dirty="0"/>
              <a:t> aggregation </a:t>
            </a:r>
            <a:r>
              <a:rPr lang="en-US" sz="1200" dirty="0" err="1"/>
              <a:t>theo</a:t>
            </a:r>
            <a:r>
              <a:rPr lang="en-US" sz="1200" dirty="0"/>
              <a:t> product </a:t>
            </a:r>
            <a:r>
              <a:rPr lang="en-US" sz="1200" dirty="0" err="1"/>
              <a:t>hoặc</a:t>
            </a:r>
            <a:r>
              <a:rPr lang="en-US" sz="1200" dirty="0"/>
              <a:t> category,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bảng</a:t>
            </a:r>
            <a:r>
              <a:rPr lang="en-US" sz="1200" dirty="0"/>
              <a:t> output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phục</a:t>
            </a:r>
            <a:r>
              <a:rPr lang="en-US" sz="1200" dirty="0"/>
              <a:t> </a:t>
            </a:r>
            <a:r>
              <a:rPr lang="en-US" sz="1200" dirty="0" err="1"/>
              <a:t>vụ</a:t>
            </a:r>
            <a:r>
              <a:rPr lang="en-US" sz="1200" dirty="0"/>
              <a:t> dashboard </a:t>
            </a:r>
            <a:r>
              <a:rPr lang="en-US" sz="1200" dirty="0" err="1"/>
              <a:t>hoặc</a:t>
            </a:r>
            <a:r>
              <a:rPr lang="en-US" sz="1200" dirty="0"/>
              <a:t> report.</a:t>
            </a:r>
          </a:p>
          <a:p>
            <a:r>
              <a:rPr lang="en-US" sz="1200" dirty="0"/>
              <a:t>Thông </a:t>
            </a:r>
            <a:r>
              <a:rPr lang="en-US" sz="1200" dirty="0" err="1"/>
              <a:t>điệp</a:t>
            </a:r>
            <a:r>
              <a:rPr lang="en-US" sz="1200" dirty="0"/>
              <a:t> </a:t>
            </a:r>
            <a:r>
              <a:rPr lang="en-US" sz="1200" dirty="0" err="1"/>
              <a:t>chính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: SQL </a:t>
            </a:r>
            <a:r>
              <a:rPr lang="en-US" sz="1200" dirty="0" err="1"/>
              <a:t>giúp</a:t>
            </a:r>
            <a:r>
              <a:rPr lang="en-US" sz="1200" dirty="0"/>
              <a:t> pipeline </a:t>
            </a:r>
            <a:r>
              <a:rPr lang="en-US" sz="1200" dirty="0" err="1"/>
              <a:t>minh</a:t>
            </a:r>
            <a:r>
              <a:rPr lang="en-US" sz="1200" dirty="0"/>
              <a:t> </a:t>
            </a:r>
            <a:r>
              <a:rPr lang="en-US" sz="1200" dirty="0" err="1"/>
              <a:t>bạch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tái</a:t>
            </a:r>
            <a:r>
              <a:rPr lang="en-US" sz="1200" dirty="0"/>
              <a:t> </a:t>
            </a:r>
            <a:r>
              <a:rPr lang="en-US" sz="1200" dirty="0" err="1"/>
              <a:t>lập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trước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 </a:t>
            </a:r>
            <a:r>
              <a:rPr lang="en-US" sz="1200" dirty="0" err="1"/>
              <a:t>đưa</a:t>
            </a:r>
            <a:r>
              <a:rPr lang="en-US" sz="1200" dirty="0"/>
              <a:t>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vào</a:t>
            </a:r>
            <a:r>
              <a:rPr lang="en-US" sz="1200" dirty="0"/>
              <a:t> Python.</a:t>
            </a:r>
          </a:p>
        </p:txBody>
      </p:sp>
      <p:sp>
        <p:nvSpPr>
          <p:cNvPr id="74" name="Google Shape;7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vi-VN" dirty="0">
                <a:solidFill>
                  <a:schemeClr val="dk1"/>
                </a:solidFill>
              </a:rPr>
              <a:t>S</a:t>
            </a:r>
            <a:r>
              <a:rPr lang="en-US" dirty="0" err="1"/>
              <a:t>lide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query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.</a:t>
            </a:r>
          </a:p>
          <a:p>
            <a:r>
              <a:rPr lang="en-US" dirty="0"/>
              <a:t>Query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Customer RFM / value proxy</a:t>
            </a:r>
            <a:r>
              <a:rPr lang="en-US" dirty="0"/>
              <a:t>. Query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gom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recency, frequency </a:t>
            </a:r>
            <a:r>
              <a:rPr lang="en-US" dirty="0" err="1"/>
              <a:t>và</a:t>
            </a:r>
            <a:r>
              <a:rPr lang="en-US" dirty="0"/>
              <a:t> monetary.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CLV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value proxy </a:t>
            </a:r>
            <a:r>
              <a:rPr lang="en-US" dirty="0" err="1"/>
              <a:t>khi</a:t>
            </a:r>
            <a:r>
              <a:rPr lang="en-US" dirty="0"/>
              <a:t> sang </a:t>
            </a:r>
            <a:r>
              <a:rPr lang="en-US" dirty="0" err="1"/>
              <a:t>phần</a:t>
            </a:r>
            <a:r>
              <a:rPr lang="en-US" dirty="0"/>
              <a:t> targeting.</a:t>
            </a:r>
          </a:p>
          <a:p>
            <a:r>
              <a:rPr lang="en-US" dirty="0"/>
              <a:t>Query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walk-forward CLV windows</a:t>
            </a:r>
            <a:r>
              <a:rPr lang="en-US" dirty="0"/>
              <a:t>.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cutoff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feature,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cutoff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label.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leakage,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tương</a:t>
            </a:r>
            <a:r>
              <a:rPr lang="en-US" dirty="0"/>
              <a:t> lai.</a:t>
            </a:r>
          </a:p>
          <a:p>
            <a:r>
              <a:rPr lang="en-US" dirty="0"/>
              <a:t>Query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X5 treatment-control cohorts</a:t>
            </a:r>
            <a:r>
              <a:rPr lang="en-US" dirty="0"/>
              <a:t>. Query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treatment flag </a:t>
            </a:r>
            <a:r>
              <a:rPr lang="en-US" dirty="0" err="1"/>
              <a:t>và</a:t>
            </a:r>
            <a:r>
              <a:rPr lang="en-US" dirty="0"/>
              <a:t> conversion outcome.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input </a:t>
            </a:r>
            <a:r>
              <a:rPr lang="en-US" dirty="0" err="1"/>
              <a:t>cho</a:t>
            </a:r>
            <a:r>
              <a:rPr lang="en-US" dirty="0"/>
              <a:t> uplift models </a:t>
            </a:r>
            <a:r>
              <a:rPr lang="en-US" dirty="0" err="1"/>
              <a:t>và</a:t>
            </a:r>
            <a:r>
              <a:rPr lang="en-US" dirty="0"/>
              <a:t> policy evaluation.</a:t>
            </a:r>
          </a:p>
          <a:p>
            <a:r>
              <a:rPr lang="en-US" dirty="0"/>
              <a:t>Ba query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RQ1/RQ2 </a:t>
            </a:r>
            <a:r>
              <a:rPr lang="en-US" dirty="0" err="1"/>
              <a:t>cho</a:t>
            </a:r>
            <a:r>
              <a:rPr lang="en-US" dirty="0"/>
              <a:t> CLV </a:t>
            </a:r>
            <a:r>
              <a:rPr lang="en-US" dirty="0" err="1"/>
              <a:t>và</a:t>
            </a:r>
            <a:r>
              <a:rPr lang="en-US" dirty="0"/>
              <a:t> RQ3/RQ4 </a:t>
            </a:r>
            <a:r>
              <a:rPr lang="en-US" dirty="0" err="1"/>
              <a:t>cho</a:t>
            </a:r>
            <a:r>
              <a:rPr lang="en-US" dirty="0"/>
              <a:t> uplift </a:t>
            </a:r>
            <a:r>
              <a:rPr lang="en-US" dirty="0" err="1"/>
              <a:t>và</a:t>
            </a:r>
            <a:r>
              <a:rPr lang="en-US" dirty="0"/>
              <a:t> targeting.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81" name="Google Shape;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SQL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sạch</a:t>
            </a:r>
            <a:r>
              <a:rPr lang="en-US" dirty="0"/>
              <a:t>, Python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pipeline modeling end-to-end.</a:t>
            </a:r>
          </a:p>
          <a:p>
            <a:r>
              <a:rPr lang="en-US" dirty="0"/>
              <a:t>Pipeline </a:t>
            </a:r>
            <a:r>
              <a:rPr lang="en-US" dirty="0" err="1"/>
              <a:t>có</a:t>
            </a:r>
            <a:r>
              <a:rPr lang="en-US" dirty="0"/>
              <a:t> 5 </a:t>
            </a:r>
            <a:r>
              <a:rPr lang="en-US" dirty="0" err="1"/>
              <a:t>bước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sạch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validate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thiếu</a:t>
            </a:r>
            <a:r>
              <a:rPr lang="en-US" dirty="0"/>
              <a:t> ID, quantity </a:t>
            </a:r>
            <a:r>
              <a:rPr lang="en-US" dirty="0" err="1"/>
              <a:t>hoặc</a:t>
            </a:r>
            <a:r>
              <a:rPr lang="en-US" dirty="0"/>
              <a:t> price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feature.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RFM, </a:t>
            </a:r>
            <a:r>
              <a:rPr lang="en-US" dirty="0" err="1"/>
              <a:t>behavioural</a:t>
            </a:r>
            <a:r>
              <a:rPr lang="en-US" dirty="0"/>
              <a:t> features, recent-sequence features </a:t>
            </a:r>
            <a:r>
              <a:rPr lang="en-US" dirty="0" err="1"/>
              <a:t>và</a:t>
            </a:r>
            <a:r>
              <a:rPr lang="en-US" dirty="0"/>
              <a:t> semantic taste features.</a:t>
            </a:r>
          </a:p>
          <a:p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walk-forward windows </a:t>
            </a:r>
            <a:r>
              <a:rPr lang="en-US" dirty="0" err="1"/>
              <a:t>cho</a:t>
            </a:r>
            <a:r>
              <a:rPr lang="en-US" dirty="0"/>
              <a:t> CLV.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khứ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random split.</a:t>
            </a:r>
          </a:p>
          <a:p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bốn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train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: Hurdle </a:t>
            </a:r>
            <a:r>
              <a:rPr lang="en-US" dirty="0" err="1"/>
              <a:t>cho</a:t>
            </a:r>
            <a:r>
              <a:rPr lang="en-US" dirty="0"/>
              <a:t> customer value, </a:t>
            </a:r>
            <a:r>
              <a:rPr lang="en-US" dirty="0" err="1"/>
              <a:t>và</a:t>
            </a:r>
            <a:r>
              <a:rPr lang="en-US" dirty="0"/>
              <a:t> S/T/X-Learners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persuadability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evaluation: CLV </a:t>
            </a:r>
            <a:r>
              <a:rPr lang="en-US" dirty="0" err="1"/>
              <a:t>dùng</a:t>
            </a:r>
            <a:r>
              <a:rPr lang="en-US" dirty="0"/>
              <a:t> NG </a:t>
            </a:r>
            <a:r>
              <a:rPr lang="en-US" dirty="0" err="1"/>
              <a:t>và</a:t>
            </a:r>
            <a:r>
              <a:rPr lang="en-US" dirty="0"/>
              <a:t> RC@10%, uplift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Qini</a:t>
            </a:r>
            <a:r>
              <a:rPr lang="en-US" dirty="0"/>
              <a:t>, AUUC, </a:t>
            </a:r>
            <a:r>
              <a:rPr lang="en-US" dirty="0" err="1"/>
              <a:t>uplift@K</a:t>
            </a:r>
            <a:r>
              <a:rPr lang="en-US" dirty="0"/>
              <a:t>; policy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profit@K</a:t>
            </a:r>
            <a:r>
              <a:rPr lang="en-US" dirty="0"/>
              <a:t>, </a:t>
            </a:r>
            <a:r>
              <a:rPr lang="en-US" dirty="0" err="1"/>
              <a:t>kèm</a:t>
            </a:r>
            <a:r>
              <a:rPr lang="en-US" dirty="0"/>
              <a:t> SHAP </a:t>
            </a:r>
            <a:r>
              <a:rPr lang="en-US" dirty="0" err="1"/>
              <a:t>và</a:t>
            </a:r>
            <a:r>
              <a:rPr lang="en-US" dirty="0"/>
              <a:t> CQR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uncertainty.</a:t>
            </a:r>
          </a:p>
        </p:txBody>
      </p:sp>
      <p:sp>
        <p:nvSpPr>
          <p:cNvPr id="89" name="Google Shape;8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Ở </a:t>
            </a:r>
            <a:r>
              <a:rPr lang="en-US" dirty="0" err="1"/>
              <a:t>phần</a:t>
            </a:r>
            <a:r>
              <a:rPr lang="en-US" dirty="0"/>
              <a:t> Python analysis,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CLV ranking</a:t>
            </a:r>
            <a:r>
              <a:rPr lang="en-US" dirty="0"/>
              <a:t>.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Hurdle model, RFM baseline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tree-based models </a:t>
            </a:r>
            <a:r>
              <a:rPr lang="en-US" dirty="0" err="1"/>
              <a:t>dưới</a:t>
            </a:r>
            <a:r>
              <a:rPr lang="en-US" dirty="0"/>
              <a:t> walk-forward validation.</a:t>
            </a:r>
          </a:p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uplift analysis</a:t>
            </a:r>
            <a:r>
              <a:rPr lang="en-US" dirty="0"/>
              <a:t>.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ai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ai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campaign.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S-Learner, T-Learner, X-Learner </a:t>
            </a:r>
            <a:r>
              <a:rPr lang="en-US" dirty="0" err="1"/>
              <a:t>với</a:t>
            </a:r>
            <a:r>
              <a:rPr lang="en-US" dirty="0"/>
              <a:t> response model </a:t>
            </a:r>
            <a:r>
              <a:rPr lang="en-US" dirty="0" err="1"/>
              <a:t>và</a:t>
            </a:r>
            <a:r>
              <a:rPr lang="en-US" dirty="0"/>
              <a:t> random baseline.</a:t>
            </a:r>
          </a:p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metric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CLV ranking </a:t>
            </a:r>
            <a:r>
              <a:rPr lang="en-US" dirty="0" err="1"/>
              <a:t>dùng</a:t>
            </a:r>
            <a:r>
              <a:rPr lang="en-US" dirty="0"/>
              <a:t> Normalized Gini </a:t>
            </a:r>
            <a:r>
              <a:rPr lang="en-US" dirty="0" err="1"/>
              <a:t>và</a:t>
            </a:r>
            <a:r>
              <a:rPr lang="en-US" dirty="0"/>
              <a:t> Revenue Capture@10%. Uplift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Qini</a:t>
            </a:r>
            <a:r>
              <a:rPr lang="en-US" dirty="0"/>
              <a:t>, AUUC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uplift@K</a:t>
            </a:r>
            <a:r>
              <a:rPr lang="en-US" dirty="0"/>
              <a:t>. Policy targeting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profit@K</a:t>
            </a:r>
            <a:r>
              <a:rPr lang="en-US" dirty="0"/>
              <a:t>.</a:t>
            </a:r>
          </a:p>
        </p:txBody>
      </p:sp>
      <p:sp>
        <p:nvSpPr>
          <p:cNvPr id="106" name="Google Shape;106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slide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  <a:p>
            <a:r>
              <a:rPr lang="en-US" dirty="0"/>
              <a:t>Insight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response model performs worse than random for incremental targeting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Qini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ai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ai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campaign.</a:t>
            </a:r>
          </a:p>
          <a:p>
            <a:r>
              <a:rPr lang="en-US" dirty="0"/>
              <a:t>Insight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uplift learners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recover </a:t>
            </a:r>
            <a:r>
              <a:rPr lang="en-US" dirty="0" err="1"/>
              <a:t>nhóm</a:t>
            </a:r>
            <a:r>
              <a:rPr lang="en-US" dirty="0"/>
              <a:t> persuadable.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S-Learner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Qini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uplift@10% </a:t>
            </a:r>
            <a:r>
              <a:rPr lang="en-US" dirty="0" err="1"/>
              <a:t>khoảng</a:t>
            </a:r>
            <a:r>
              <a:rPr lang="en-US" dirty="0"/>
              <a:t> 11%.</a:t>
            </a:r>
          </a:p>
          <a:p>
            <a:r>
              <a:rPr lang="en-US" dirty="0"/>
              <a:t>Insight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top-value </a:t>
            </a:r>
            <a:r>
              <a:rPr lang="en-US" dirty="0" err="1"/>
              <a:t>và</a:t>
            </a:r>
            <a:r>
              <a:rPr lang="en-US" dirty="0"/>
              <a:t> top-uplift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Overlap ở top 10%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0.007.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b="1" dirty="0"/>
              <a:t>value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persuadability</a:t>
            </a:r>
            <a:r>
              <a:rPr lang="en-US" b="1" dirty="0"/>
              <a:t>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hai</a:t>
            </a:r>
            <a:r>
              <a:rPr lang="en-US" b="1" dirty="0"/>
              <a:t> </a:t>
            </a:r>
            <a:r>
              <a:rPr lang="en-US" b="1" dirty="0" err="1"/>
              <a:t>khái</a:t>
            </a:r>
            <a:r>
              <a:rPr lang="en-US" b="1" dirty="0"/>
              <a:t> </a:t>
            </a:r>
            <a:r>
              <a:rPr lang="en-US" b="1" dirty="0" err="1"/>
              <a:t>niệm</a:t>
            </a:r>
            <a:r>
              <a:rPr lang="en-US" b="1" dirty="0"/>
              <a:t> </a:t>
            </a:r>
            <a:r>
              <a:rPr lang="en-US" b="1" dirty="0" err="1"/>
              <a:t>khác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dirty="0"/>
              <a:t>.</a:t>
            </a:r>
          </a:p>
          <a:p>
            <a:r>
              <a:rPr lang="en-US" dirty="0"/>
              <a:t>Insight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value-adjusted uplift </a:t>
            </a:r>
            <a:r>
              <a:rPr lang="en-US" dirty="0" err="1"/>
              <a:t>có</a:t>
            </a:r>
            <a:r>
              <a:rPr lang="en-US" dirty="0"/>
              <a:t> highest point-estimate profit ở tight budgets.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profit difference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statistically significant.</a:t>
            </a:r>
          </a:p>
          <a:p>
            <a:r>
              <a:rPr lang="en-US" dirty="0"/>
              <a:t>Thông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</a:t>
            </a:r>
            <a:r>
              <a:rPr lang="en-US" b="1" dirty="0" err="1"/>
              <a:t>doanh</a:t>
            </a:r>
            <a:r>
              <a:rPr lang="en-US" b="1" dirty="0"/>
              <a:t> </a:t>
            </a:r>
            <a:r>
              <a:rPr lang="en-US" b="1" dirty="0" err="1"/>
              <a:t>nghiệp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nên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target </a:t>
            </a:r>
            <a:r>
              <a:rPr lang="en-US" b="1" dirty="0" err="1"/>
              <a:t>khách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trị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b="1" dirty="0"/>
              <a:t>, </a:t>
            </a:r>
            <a:r>
              <a:rPr lang="en-US" b="1" dirty="0" err="1"/>
              <a:t>mà</a:t>
            </a:r>
            <a:r>
              <a:rPr lang="en-US" b="1" dirty="0"/>
              <a:t> </a:t>
            </a:r>
            <a:r>
              <a:rPr lang="en-US" b="1" dirty="0" err="1"/>
              <a:t>nên</a:t>
            </a:r>
            <a:r>
              <a:rPr lang="en-US" b="1" dirty="0"/>
              <a:t> target </a:t>
            </a:r>
            <a:r>
              <a:rPr lang="en-US" b="1" dirty="0" err="1"/>
              <a:t>khách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b="1" dirty="0" err="1"/>
              <a:t>vừa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value </a:t>
            </a:r>
            <a:r>
              <a:rPr lang="en-US" b="1" dirty="0" err="1"/>
              <a:t>vừa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uplift</a:t>
            </a:r>
            <a:endParaRPr lang="en-US" dirty="0"/>
          </a:p>
        </p:txBody>
      </p:sp>
      <p:sp>
        <p:nvSpPr>
          <p:cNvPr id="114" name="Google Shape;11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8e00d7cb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Google Shape;124;g3e8e00d7cb4_0_5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4350" y="4343400"/>
                <a:ext cx="41148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Slide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thích</a:t>
                </a:r>
                <a:r>
                  <a:rPr lang="en-US" dirty="0"/>
                  <a:t> </a:t>
                </a:r>
                <a:r>
                  <a:rPr lang="en-US" dirty="0" err="1"/>
                  <a:t>trực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mô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Ở </a:t>
                </a:r>
                <a:r>
                  <a:rPr lang="en-US" dirty="0" err="1"/>
                  <a:t>phía</a:t>
                </a:r>
                <a:r>
                  <a:rPr lang="en-US" dirty="0"/>
                  <a:t> CLV, </a:t>
                </a:r>
                <a:r>
                  <a:rPr lang="en-US" dirty="0" err="1"/>
                  <a:t>nhóm</a:t>
                </a:r>
                <a:r>
                  <a:rPr lang="en-US" dirty="0"/>
                  <a:t> </a:t>
                </a:r>
                <a:r>
                  <a:rPr lang="en-US" dirty="0" err="1"/>
                  <a:t>dùng</a:t>
                </a:r>
                <a:r>
                  <a:rPr lang="en-US" dirty="0"/>
                  <a:t> Hurdle model </a:t>
                </a:r>
                <a:r>
                  <a:rPr lang="en-US" dirty="0" err="1"/>
                  <a:t>vì</a:t>
                </a:r>
                <a:r>
                  <a:rPr lang="en-US" dirty="0"/>
                  <a:t> CLV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 </a:t>
                </a:r>
                <a:r>
                  <a:rPr lang="en-US" dirty="0" err="1"/>
                  <a:t>nhiên</a:t>
                </a:r>
                <a:r>
                  <a:rPr lang="en-US" dirty="0"/>
                  <a:t>.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quay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mua</a:t>
                </a:r>
                <a:r>
                  <a:rPr lang="en-US" dirty="0"/>
                  <a:t> hay </a:t>
                </a:r>
                <a:r>
                  <a:rPr lang="en-US" dirty="0" err="1"/>
                  <a:t>không</a:t>
                </a:r>
                <a:r>
                  <a:rPr lang="en-US" dirty="0"/>
                  <a:t>.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</a:t>
                </a:r>
                <a:r>
                  <a:rPr lang="en-US" dirty="0" err="1"/>
                  <a:t>nếu</a:t>
                </a:r>
                <a:r>
                  <a:rPr lang="en-US" dirty="0"/>
                  <a:t> quay </a:t>
                </a:r>
                <a:r>
                  <a:rPr lang="en-US" dirty="0" err="1"/>
                  <a:t>lại</a:t>
                </a:r>
                <a:r>
                  <a:rPr lang="en-US" dirty="0"/>
                  <a:t>, </a:t>
                </a:r>
                <a:r>
                  <a:rPr lang="en-US" dirty="0" err="1"/>
                  <a:t>họ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chi bao </a:t>
                </a:r>
                <a:r>
                  <a:rPr lang="en-US" dirty="0" err="1"/>
                  <a:t>nhiêu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:r>
                  <a:rPr lang="en-US" dirty="0" err="1"/>
                  <a:t>vậy</a:t>
                </a:r>
                <a:r>
                  <a:rPr lang="en-US" dirty="0"/>
                  <a:t> Stage 1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suất</a:t>
                </a:r>
                <a:r>
                  <a:rPr lang="en-US" dirty="0"/>
                  <a:t> quay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𝑝</m:t>
                    </m:r>
                  </m:oMath>
                </a14:m>
                <a:r>
                  <a:rPr lang="en-US" dirty="0"/>
                  <a:t>, Stage 2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mức</a:t>
                </a:r>
                <a:r>
                  <a:rPr lang="en-US" dirty="0"/>
                  <a:t> chi </a:t>
                </a:r>
                <a:r>
                  <a:rPr lang="en-US" dirty="0" err="1"/>
                  <a:t>tiêu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𝑚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và</a:t>
                </a:r>
                <a:r>
                  <a:rPr lang="en-US" dirty="0"/>
                  <a:t> CLV </a:t>
                </a:r>
                <a:r>
                  <a:rPr lang="en-US" dirty="0" err="1"/>
                  <a:t>dự</a:t>
                </a:r>
                <a:r>
                  <a:rPr lang="en-US" dirty="0"/>
                  <a:t> </a:t>
                </a:r>
                <a:r>
                  <a:rPr lang="en-US" dirty="0" err="1"/>
                  <a:t>đoán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gần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𝑝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×</m:t>
                    </m:r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𝑚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Ở </a:t>
                </a:r>
                <a:r>
                  <a:rPr lang="en-US" dirty="0" err="1"/>
                  <a:t>phía</a:t>
                </a:r>
                <a:r>
                  <a:rPr lang="en-US" dirty="0"/>
                  <a:t> uplift, meta-learners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tác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incremental </a:t>
                </a:r>
                <a:r>
                  <a:rPr lang="en-US" dirty="0" err="1"/>
                  <a:t>của</a:t>
                </a:r>
                <a:r>
                  <a:rPr lang="en-US" dirty="0"/>
                  <a:t> campaign. Nói </a:t>
                </a:r>
                <a:r>
                  <a:rPr lang="en-US" dirty="0" err="1"/>
                  <a:t>đơn</a:t>
                </a:r>
                <a:r>
                  <a:rPr lang="en-US" dirty="0"/>
                  <a:t> </a:t>
                </a:r>
                <a:r>
                  <a:rPr lang="en-US" dirty="0" err="1"/>
                  <a:t>giản</a:t>
                </a:r>
                <a:r>
                  <a:rPr lang="en-US" dirty="0"/>
                  <a:t>, uplift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chênh</a:t>
                </a:r>
                <a:r>
                  <a:rPr lang="en-US" dirty="0"/>
                  <a:t> </a:t>
                </a:r>
                <a:r>
                  <a:rPr lang="en-US" dirty="0" err="1"/>
                  <a:t>lệch</a:t>
                </a:r>
                <a:r>
                  <a:rPr lang="en-US" dirty="0"/>
                  <a:t>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:r>
                  <a:rPr lang="en-US" dirty="0" err="1"/>
                  <a:t>vọng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treatment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treatment.</a:t>
                </a:r>
              </a:p>
              <a:p>
                <a:r>
                  <a:rPr lang="en-US" dirty="0"/>
                  <a:t>Hai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bổ</a:t>
                </a:r>
                <a:r>
                  <a:rPr lang="en-US" dirty="0"/>
                  <a:t> sung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: CLV </a:t>
                </a:r>
                <a:r>
                  <a:rPr lang="en-US" dirty="0" err="1"/>
                  <a:t>nói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expected value, </a:t>
                </a:r>
                <a:r>
                  <a:rPr lang="en-US" dirty="0" err="1"/>
                  <a:t>còn</a:t>
                </a:r>
                <a:r>
                  <a:rPr lang="en-US" dirty="0"/>
                  <a:t> uplift </a:t>
                </a:r>
                <a:r>
                  <a:rPr lang="en-US" dirty="0" err="1"/>
                  <a:t>nói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campaign responsiveness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>
          <p:sp>
            <p:nvSpPr>
              <p:cNvPr id="124" name="Google Shape;124;g3e8e00d7cb4_0_5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14350" y="4343400"/>
                <a:ext cx="41148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-US" dirty="0"/>
                  <a:t>Slide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thích</a:t>
                </a:r>
                <a:r>
                  <a:rPr lang="en-US" dirty="0"/>
                  <a:t> </a:t>
                </a:r>
                <a:r>
                  <a:rPr lang="en-US" dirty="0" err="1"/>
                  <a:t>trực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mô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Ở </a:t>
                </a:r>
                <a:r>
                  <a:rPr lang="en-US" dirty="0" err="1"/>
                  <a:t>phía</a:t>
                </a:r>
                <a:r>
                  <a:rPr lang="en-US" dirty="0"/>
                  <a:t> CLV, </a:t>
                </a:r>
                <a:r>
                  <a:rPr lang="en-US" dirty="0" err="1"/>
                  <a:t>nhóm</a:t>
                </a:r>
                <a:r>
                  <a:rPr lang="en-US" dirty="0"/>
                  <a:t> </a:t>
                </a:r>
                <a:r>
                  <a:rPr lang="en-US" dirty="0" err="1"/>
                  <a:t>dùng</a:t>
                </a:r>
                <a:r>
                  <a:rPr lang="en-US" dirty="0"/>
                  <a:t> Hurdle model </a:t>
                </a:r>
                <a:r>
                  <a:rPr lang="en-US" dirty="0" err="1"/>
                  <a:t>vì</a:t>
                </a:r>
                <a:r>
                  <a:rPr lang="en-US" dirty="0"/>
                  <a:t> CLV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 </a:t>
                </a:r>
                <a:r>
                  <a:rPr lang="en-US" dirty="0" err="1"/>
                  <a:t>nhiên</a:t>
                </a:r>
                <a:r>
                  <a:rPr lang="en-US" dirty="0"/>
                  <a:t>.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quay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mua</a:t>
                </a:r>
                <a:r>
                  <a:rPr lang="en-US" dirty="0"/>
                  <a:t> hay </a:t>
                </a:r>
                <a:r>
                  <a:rPr lang="en-US" dirty="0" err="1"/>
                  <a:t>không</a:t>
                </a:r>
                <a:r>
                  <a:rPr lang="en-US" dirty="0"/>
                  <a:t>.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</a:t>
                </a:r>
                <a:r>
                  <a:rPr lang="en-US" dirty="0" err="1"/>
                  <a:t>nếu</a:t>
                </a:r>
                <a:r>
                  <a:rPr lang="en-US" dirty="0"/>
                  <a:t> quay </a:t>
                </a:r>
                <a:r>
                  <a:rPr lang="en-US" dirty="0" err="1"/>
                  <a:t>lại</a:t>
                </a:r>
                <a:r>
                  <a:rPr lang="en-US" dirty="0"/>
                  <a:t>, </a:t>
                </a:r>
                <a:r>
                  <a:rPr lang="en-US" dirty="0" err="1"/>
                  <a:t>họ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chi bao </a:t>
                </a:r>
                <a:r>
                  <a:rPr lang="en-US" dirty="0" err="1"/>
                  <a:t>nhiêu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:r>
                  <a:rPr lang="en-US" dirty="0" err="1"/>
                  <a:t>vậy</a:t>
                </a:r>
                <a:r>
                  <a:rPr lang="en-US" dirty="0"/>
                  <a:t> Stage 1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suất</a:t>
                </a:r>
                <a:r>
                  <a:rPr lang="en-US" dirty="0"/>
                  <a:t> quay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𝑝</a:t>
                </a:r>
                <a:r>
                  <a:rPr lang="en-US" dirty="0"/>
                  <a:t>, Stage 2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mức</a:t>
                </a:r>
                <a:r>
                  <a:rPr lang="en-US" dirty="0"/>
                  <a:t> chi </a:t>
                </a:r>
                <a:r>
                  <a:rPr lang="en-US" dirty="0" err="1"/>
                  <a:t>tiêu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𝑚</a:t>
                </a:r>
                <a:r>
                  <a:rPr lang="en-US" dirty="0"/>
                  <a:t>, </a:t>
                </a:r>
                <a:r>
                  <a:rPr lang="en-US" dirty="0" err="1"/>
                  <a:t>và</a:t>
                </a:r>
                <a:r>
                  <a:rPr lang="en-US" dirty="0"/>
                  <a:t> CLV </a:t>
                </a:r>
                <a:r>
                  <a:rPr lang="en-US" dirty="0" err="1"/>
                  <a:t>dự</a:t>
                </a:r>
                <a:r>
                  <a:rPr lang="en-US" dirty="0"/>
                  <a:t> </a:t>
                </a:r>
                <a:r>
                  <a:rPr lang="en-US" dirty="0" err="1"/>
                  <a:t>đoán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gần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𝑝×𝑚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Ở </a:t>
                </a:r>
                <a:r>
                  <a:rPr lang="en-US" dirty="0" err="1"/>
                  <a:t>phía</a:t>
                </a:r>
                <a:r>
                  <a:rPr lang="en-US" dirty="0"/>
                  <a:t> uplift, meta-learners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tác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incremental </a:t>
                </a:r>
                <a:r>
                  <a:rPr lang="en-US" dirty="0" err="1"/>
                  <a:t>của</a:t>
                </a:r>
                <a:r>
                  <a:rPr lang="en-US" dirty="0"/>
                  <a:t> campaign. Nói </a:t>
                </a:r>
                <a:r>
                  <a:rPr lang="en-US" dirty="0" err="1"/>
                  <a:t>đơn</a:t>
                </a:r>
                <a:r>
                  <a:rPr lang="en-US" dirty="0"/>
                  <a:t> </a:t>
                </a:r>
                <a:r>
                  <a:rPr lang="en-US" dirty="0" err="1"/>
                  <a:t>giản</a:t>
                </a:r>
                <a:r>
                  <a:rPr lang="en-US" dirty="0"/>
                  <a:t>, uplift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chênh</a:t>
                </a:r>
                <a:r>
                  <a:rPr lang="en-US" dirty="0"/>
                  <a:t> </a:t>
                </a:r>
                <a:r>
                  <a:rPr lang="en-US" dirty="0" err="1"/>
                  <a:t>lệch</a:t>
                </a:r>
                <a:r>
                  <a:rPr lang="en-US" dirty="0"/>
                  <a:t>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:r>
                  <a:rPr lang="en-US" dirty="0" err="1"/>
                  <a:t>vọng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khách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treatment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treatment.</a:t>
                </a:r>
              </a:p>
              <a:p>
                <a:r>
                  <a:rPr lang="en-US" dirty="0"/>
                  <a:t>Hai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bổ</a:t>
                </a:r>
                <a:r>
                  <a:rPr lang="en-US" dirty="0"/>
                  <a:t> sung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: CLV </a:t>
                </a:r>
                <a:r>
                  <a:rPr lang="en-US" dirty="0" err="1"/>
                  <a:t>nói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expected value, </a:t>
                </a:r>
                <a:r>
                  <a:rPr lang="en-US" dirty="0" err="1"/>
                  <a:t>còn</a:t>
                </a:r>
                <a:r>
                  <a:rPr lang="en-US" dirty="0"/>
                  <a:t> uplift </a:t>
                </a:r>
                <a:r>
                  <a:rPr lang="en-US" dirty="0" err="1"/>
                  <a:t>nói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campaign responsiveness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5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 Trong Phase 2, </a:t>
            </a:r>
            <a:r>
              <a:rPr lang="en-US" dirty="0" err="1"/>
              <a:t>nhóm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.</a:t>
            </a:r>
          </a:p>
          <a:p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CLV models,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baseline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Monetary </a:t>
            </a:r>
            <a:r>
              <a:rPr lang="en-US" dirty="0" err="1"/>
              <a:t>và</a:t>
            </a:r>
            <a:r>
              <a:rPr lang="en-US" dirty="0"/>
              <a:t> RFM,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regularized </a:t>
            </a:r>
            <a:r>
              <a:rPr lang="en-US" dirty="0" err="1"/>
              <a:t>hoặc</a:t>
            </a:r>
            <a:r>
              <a:rPr lang="en-US" dirty="0"/>
              <a:t> tree-based </a:t>
            </a:r>
            <a:r>
              <a:rPr lang="en-US" dirty="0" err="1"/>
              <a:t>như</a:t>
            </a:r>
            <a:r>
              <a:rPr lang="en-US" dirty="0"/>
              <a:t> Ridge, Random Forest,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Hurdle.</a:t>
            </a:r>
          </a:p>
          <a:p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uplift models, </a:t>
            </a:r>
            <a:r>
              <a:rPr lang="en-US" dirty="0" err="1"/>
              <a:t>gồm</a:t>
            </a:r>
            <a:r>
              <a:rPr lang="en-US" dirty="0"/>
              <a:t> Random baseline, Response model, S-Learner, T-Learner </a:t>
            </a:r>
            <a:r>
              <a:rPr lang="en-US" dirty="0" err="1"/>
              <a:t>và</a:t>
            </a:r>
            <a:r>
              <a:rPr lang="en-US" dirty="0"/>
              <a:t> X-Learner.</a:t>
            </a:r>
          </a:p>
          <a:p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baseline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machine learning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baseline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. </a:t>
            </a:r>
            <a:r>
              <a:rPr lang="en-US" dirty="0" err="1"/>
              <a:t>Nhưng</a:t>
            </a:r>
            <a:r>
              <a:rPr lang="en-US" dirty="0"/>
              <a:t> ở </a:t>
            </a:r>
            <a:r>
              <a:rPr lang="en-US" dirty="0" err="1"/>
              <a:t>đây</a:t>
            </a:r>
            <a:r>
              <a:rPr lang="en-US" dirty="0"/>
              <a:t>, Hurdle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baseline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cẩn</a:t>
            </a:r>
            <a:r>
              <a:rPr lang="en-US" dirty="0"/>
              <a:t> </a:t>
            </a:r>
            <a:r>
              <a:rPr lang="en-US" dirty="0" err="1"/>
              <a:t>thận</a:t>
            </a:r>
            <a:r>
              <a:rPr lang="en-US" dirty="0"/>
              <a:t>: Hurdle </a:t>
            </a:r>
            <a:r>
              <a:rPr lang="en-US" b="1" dirty="0"/>
              <a:t>competitive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dominant.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overclaim.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31" name="Google Shape;1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8e00d7cb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8e00d7cb4_0_1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Slide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Hurdle model </a:t>
            </a:r>
            <a:r>
              <a:rPr lang="en-US" dirty="0" err="1"/>
              <a:t>vẫn</a:t>
            </a:r>
            <a:r>
              <a:rPr lang="en-US" dirty="0"/>
              <a:t> competitive ở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context,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. </a:t>
            </a:r>
            <a:r>
              <a:rPr lang="en-US" dirty="0" err="1"/>
              <a:t>Trên</a:t>
            </a:r>
            <a:r>
              <a:rPr lang="en-US" dirty="0"/>
              <a:t> e-commerce, Hurdle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NG 0.825; </a:t>
            </a:r>
            <a:r>
              <a:rPr lang="en-US" dirty="0" err="1"/>
              <a:t>trên</a:t>
            </a:r>
            <a:r>
              <a:rPr lang="en-US" dirty="0"/>
              <a:t> grocery </a:t>
            </a:r>
            <a:r>
              <a:rPr lang="en-US" dirty="0" err="1"/>
              <a:t>khoảng</a:t>
            </a:r>
            <a:r>
              <a:rPr lang="en-US" dirty="0"/>
              <a:t> 0.855.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model top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significant.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,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context. E-commerce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zero future spend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incidence,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quay </a:t>
            </a:r>
            <a:r>
              <a:rPr lang="en-US" dirty="0" err="1"/>
              <a:t>lại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,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Grocery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recent sequence features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, semantic features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interpretation,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ranking lift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overclaim semantic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performance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, SHAP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feature drivers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context.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framework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ở </a:t>
            </a:r>
            <a:r>
              <a:rPr lang="en-US" dirty="0" err="1"/>
              <a:t>nhiều</a:t>
            </a:r>
            <a:r>
              <a:rPr lang="en-US" dirty="0"/>
              <a:t> context,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Sau </a:t>
            </a:r>
            <a:r>
              <a:rPr lang="en-US" dirty="0" err="1"/>
              <a:t>phần</a:t>
            </a:r>
            <a:r>
              <a:rPr lang="en-US" dirty="0"/>
              <a:t> modeling, output </a:t>
            </a:r>
            <a:r>
              <a:rPr lang="en-US" dirty="0" err="1"/>
              <a:t>của</a:t>
            </a:r>
            <a:r>
              <a:rPr lang="en-US" dirty="0"/>
              <a:t> project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metric.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targeting-decision report </a:t>
            </a:r>
            <a:r>
              <a:rPr lang="en-US" dirty="0" err="1"/>
              <a:t>hoặc</a:t>
            </a:r>
            <a:r>
              <a:rPr lang="en-US" dirty="0"/>
              <a:t> dashboard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marketing.</a:t>
            </a:r>
          </a:p>
          <a:p>
            <a:r>
              <a:rPr lang="en-US" dirty="0"/>
              <a:t>Dashboard/report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bốn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output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CLV ranking,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r>
              <a:rPr lang="en-US" dirty="0"/>
              <a:t>Hai </a:t>
            </a:r>
            <a:r>
              <a:rPr lang="en-US" dirty="0" err="1"/>
              <a:t>là</a:t>
            </a:r>
            <a:r>
              <a:rPr lang="en-US" dirty="0"/>
              <a:t> uplift ranking,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campaign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r>
              <a:rPr lang="en-US" dirty="0"/>
              <a:t>Ba </a:t>
            </a:r>
            <a:r>
              <a:rPr lang="en-US" dirty="0" err="1"/>
              <a:t>là</a:t>
            </a:r>
            <a:r>
              <a:rPr lang="en-US" dirty="0"/>
              <a:t> value-adjusted targeting list,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uplift </a:t>
            </a:r>
            <a:r>
              <a:rPr lang="en-US" dirty="0" err="1"/>
              <a:t>và</a:t>
            </a:r>
            <a:r>
              <a:rPr lang="en-US" dirty="0"/>
              <a:t> value.</a:t>
            </a:r>
          </a:p>
          <a:p>
            <a:r>
              <a:rPr lang="en-US" dirty="0" err="1"/>
              <a:t>Bốn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policy comparison, </a:t>
            </a:r>
            <a:r>
              <a:rPr lang="en-US" dirty="0" err="1"/>
              <a:t>giúp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value-only, uplift-only, random </a:t>
            </a:r>
            <a:r>
              <a:rPr lang="en-US" dirty="0" err="1"/>
              <a:t>và</a:t>
            </a:r>
            <a:r>
              <a:rPr lang="en-US" dirty="0"/>
              <a:t> value-adjusted uplift.</a:t>
            </a:r>
          </a:p>
          <a:p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, dashboard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SHAP drivers </a:t>
            </a:r>
            <a:r>
              <a:rPr lang="en-US" dirty="0" err="1"/>
              <a:t>và</a:t>
            </a:r>
            <a:r>
              <a:rPr lang="en-US" dirty="0"/>
              <a:t> CQR uncertainty intervals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endParaRPr lang="en-US" dirty="0"/>
          </a:p>
        </p:txBody>
      </p:sp>
      <p:sp>
        <p:nvSpPr>
          <p:cNvPr id="146" name="Google Shape;1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8e00d7cb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8e00d7cb4_0_1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Slide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dashboard </a:t>
            </a:r>
            <a:r>
              <a:rPr lang="en-US" dirty="0" err="1"/>
              <a:t>hoặc</a:t>
            </a:r>
            <a:r>
              <a:rPr lang="en-US" dirty="0"/>
              <a:t> report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dirty="0"/>
              <a:t>View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Customer ranking</a:t>
            </a:r>
            <a:r>
              <a:rPr lang="en-US" dirty="0"/>
              <a:t>,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CLV, uplift </a:t>
            </a:r>
            <a:r>
              <a:rPr lang="en-US" dirty="0" err="1"/>
              <a:t>hoặc</a:t>
            </a:r>
            <a:r>
              <a:rPr lang="en-US" dirty="0"/>
              <a:t> value-adjusted score.</a:t>
            </a:r>
          </a:p>
          <a:p>
            <a:r>
              <a:rPr lang="en-US" dirty="0"/>
              <a:t>View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Policy comparison</a:t>
            </a:r>
            <a:r>
              <a:rPr lang="en-US" dirty="0"/>
              <a:t>, </a:t>
            </a:r>
            <a:r>
              <a:rPr lang="en-US" dirty="0" err="1"/>
              <a:t>giúp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r>
              <a:rPr lang="en-US" dirty="0"/>
              <a:t>View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Profit simulation</a:t>
            </a:r>
            <a:r>
              <a:rPr lang="en-US" dirty="0"/>
              <a:t>,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targeting depth, margin </a:t>
            </a:r>
            <a:r>
              <a:rPr lang="en-US" dirty="0" err="1"/>
              <a:t>và</a:t>
            </a:r>
            <a:r>
              <a:rPr lang="en-US" dirty="0"/>
              <a:t> contact cost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r>
              <a:rPr lang="en-US" dirty="0"/>
              <a:t>View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Explainability and uncertainty</a:t>
            </a:r>
            <a:r>
              <a:rPr lang="en-US" dirty="0"/>
              <a:t>,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: </a:t>
            </a:r>
            <a:r>
              <a:rPr lang="en-US" dirty="0" err="1"/>
              <a:t>chọn</a:t>
            </a:r>
            <a:r>
              <a:rPr lang="en-US" dirty="0"/>
              <a:t> ai,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chắc</a:t>
            </a:r>
            <a:r>
              <a:rPr lang="en-US" dirty="0"/>
              <a:t> </a:t>
            </a:r>
            <a:r>
              <a:rPr lang="en-US" dirty="0" err="1"/>
              <a:t>chắn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dashboard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machine learning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model output.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8e00d7cb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8e00d7cb4_0_1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Phần</a:t>
            </a:r>
            <a:r>
              <a:rPr lang="en-US" dirty="0"/>
              <a:t> AI Audit Log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AI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project.</a:t>
            </a:r>
          </a:p>
          <a:p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20 logged sessions, </a:t>
            </a:r>
            <a:r>
              <a:rPr lang="en-US" dirty="0" err="1"/>
              <a:t>từ</a:t>
            </a:r>
            <a:r>
              <a:rPr lang="en-US" dirty="0"/>
              <a:t> P2-01 </a:t>
            </a:r>
            <a:r>
              <a:rPr lang="en-US" dirty="0" err="1"/>
              <a:t>đến</a:t>
            </a:r>
            <a:r>
              <a:rPr lang="en-US" dirty="0"/>
              <a:t> P2-20. </a:t>
            </a:r>
            <a:r>
              <a:rPr lang="en-US" dirty="0" err="1"/>
              <a:t>Mỗi</a:t>
            </a:r>
            <a:r>
              <a:rPr lang="en-US" dirty="0"/>
              <a:t> log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prompt,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AI,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.</a:t>
            </a:r>
          </a:p>
          <a:p>
            <a:r>
              <a:rPr lang="en-US" dirty="0"/>
              <a:t>Các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dataset,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causal scope,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download X5 purchases, </a:t>
            </a:r>
            <a:r>
              <a:rPr lang="en-US" dirty="0" err="1"/>
              <a:t>chọn</a:t>
            </a:r>
            <a:r>
              <a:rPr lang="en-US" dirty="0"/>
              <a:t> metric </a:t>
            </a:r>
            <a:r>
              <a:rPr lang="en-US" dirty="0" err="1"/>
              <a:t>cho</a:t>
            </a:r>
            <a:r>
              <a:rPr lang="en-US" dirty="0"/>
              <a:t> ranking </a:t>
            </a:r>
            <a:r>
              <a:rPr lang="en-US" dirty="0" err="1"/>
              <a:t>và</a:t>
            </a:r>
            <a:r>
              <a:rPr lang="en-US" dirty="0"/>
              <a:t> incremental targeting, </a:t>
            </a:r>
            <a:r>
              <a:rPr lang="en-US" dirty="0" err="1"/>
              <a:t>sửa</a:t>
            </a:r>
            <a:r>
              <a:rPr lang="en-US" dirty="0"/>
              <a:t> profit simulation,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slide/script.</a:t>
            </a:r>
          </a:p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AI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tuyệt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. AI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ý,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code, data, metric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.</a:t>
            </a:r>
          </a:p>
          <a:p>
            <a:r>
              <a:rPr lang="en-US" dirty="0"/>
              <a:t>Thông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slide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</a:t>
            </a:r>
            <a:r>
              <a:rPr lang="en-US" b="1" dirty="0"/>
              <a:t>AI supported the workflow, but every output was verified.</a:t>
            </a:r>
            <a:r>
              <a:rPr lang="en-US" dirty="0"/>
              <a:t> Slide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log </a:t>
            </a:r>
            <a:r>
              <a:rPr lang="en-US" dirty="0" err="1"/>
              <a:t>như</a:t>
            </a:r>
            <a:r>
              <a:rPr lang="en-US" dirty="0"/>
              <a:t> X5 download issue, metric selection </a:t>
            </a:r>
            <a:r>
              <a:rPr lang="en-US" dirty="0" err="1"/>
              <a:t>và</a:t>
            </a:r>
            <a:r>
              <a:rPr lang="en-US" dirty="0"/>
              <a:t> causal-scope correction.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8e00d7cb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8e00d7cb4_0_2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Human Delta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AI.</a:t>
            </a:r>
          </a:p>
          <a:p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Dunnhumby coupon redemption </a:t>
            </a:r>
            <a:r>
              <a:rPr lang="en-US" dirty="0" err="1"/>
              <a:t>làm</a:t>
            </a:r>
            <a:r>
              <a:rPr lang="en-US" dirty="0"/>
              <a:t> treatment.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,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selection bias.</a:t>
            </a:r>
          </a:p>
          <a:p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X5 </a:t>
            </a:r>
            <a:r>
              <a:rPr lang="en-US" dirty="0" err="1"/>
              <a:t>cho</a:t>
            </a:r>
            <a:r>
              <a:rPr lang="en-US" dirty="0"/>
              <a:t> uplift, </a:t>
            </a:r>
            <a:r>
              <a:rPr lang="en-US" dirty="0" err="1"/>
              <a:t>vì</a:t>
            </a:r>
            <a:r>
              <a:rPr lang="en-US" dirty="0"/>
              <a:t> X5 </a:t>
            </a:r>
            <a:r>
              <a:rPr lang="en-US" dirty="0" err="1"/>
              <a:t>có</a:t>
            </a:r>
            <a:r>
              <a:rPr lang="en-US" dirty="0"/>
              <a:t> randomized campaign.</a:t>
            </a:r>
          </a:p>
          <a:p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random split </a:t>
            </a:r>
            <a:r>
              <a:rPr lang="en-US" dirty="0" err="1"/>
              <a:t>bằng</a:t>
            </a:r>
            <a:r>
              <a:rPr lang="en-US" dirty="0"/>
              <a:t> walk-forward validation. </a:t>
            </a:r>
            <a:r>
              <a:rPr lang="en-US" dirty="0" err="1"/>
              <a:t>Vì</a:t>
            </a:r>
            <a:r>
              <a:rPr lang="en-US" dirty="0"/>
              <a:t> CLV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lai, random split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rò</a:t>
            </a:r>
            <a:r>
              <a:rPr lang="en-US" dirty="0"/>
              <a:t> </a:t>
            </a:r>
            <a:r>
              <a:rPr lang="en-US" dirty="0" err="1"/>
              <a:t>rỉ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tin.</a:t>
            </a:r>
          </a:p>
          <a:p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profit difference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. Khi difference </a:t>
            </a:r>
            <a:r>
              <a:rPr lang="en-US" dirty="0" err="1"/>
              <a:t>không</a:t>
            </a:r>
            <a:r>
              <a:rPr lang="en-US" dirty="0"/>
              <a:t> significant,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“highest point estimate”,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“wins”.</a:t>
            </a:r>
          </a:p>
          <a:p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reframing semantic features: semantic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interpretation,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claim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chắc</a:t>
            </a:r>
            <a:r>
              <a:rPr lang="en-US" dirty="0"/>
              <a:t> </a:t>
            </a:r>
            <a:r>
              <a:rPr lang="en-US" dirty="0" err="1"/>
              <a:t>chắn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performance.</a:t>
            </a:r>
          </a:p>
          <a:p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AI,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biện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8e00d7cb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8e00d7cb4_0_26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Slide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AI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draft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.</a:t>
            </a:r>
          </a:p>
          <a:p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overclaim </a:t>
            </a:r>
            <a:r>
              <a:rPr lang="en-US" dirty="0" err="1"/>
              <a:t>rằng</a:t>
            </a:r>
            <a:r>
              <a:rPr lang="en-US" dirty="0"/>
              <a:t> CLV framework “transfers”.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“remains competitive, but mechanism shifts”, </a:t>
            </a:r>
            <a:r>
              <a:rPr lang="en-US" dirty="0" err="1"/>
              <a:t>vì</a:t>
            </a:r>
            <a:r>
              <a:rPr lang="en-US" dirty="0"/>
              <a:t> Hurdle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ở </a:t>
            </a:r>
            <a:r>
              <a:rPr lang="en-US" dirty="0" err="1"/>
              <a:t>mọi</a:t>
            </a:r>
            <a:r>
              <a:rPr lang="en-US" dirty="0"/>
              <a:t> context.</a:t>
            </a:r>
          </a:p>
          <a:p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overclaim value-adjusted uplift “wins”.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“highest point estimate, not statistically significant”,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bootstrap.</a:t>
            </a:r>
          </a:p>
          <a:p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nhầm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response prediction </a:t>
            </a:r>
            <a:r>
              <a:rPr lang="en-US" dirty="0" err="1"/>
              <a:t>và</a:t>
            </a:r>
            <a:r>
              <a:rPr lang="en-US" dirty="0"/>
              <a:t> uplift. Response model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ai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uplift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ai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campaign.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response model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random </a:t>
            </a:r>
            <a:r>
              <a:rPr lang="en-US" dirty="0" err="1"/>
              <a:t>về</a:t>
            </a:r>
            <a:r>
              <a:rPr lang="en-US" dirty="0"/>
              <a:t> incremental targeting.</a:t>
            </a:r>
          </a:p>
          <a:p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Phase 1 </a:t>
            </a:r>
            <a:r>
              <a:rPr lang="en-US" dirty="0" err="1"/>
              <a:t>trong</a:t>
            </a:r>
            <a:r>
              <a:rPr lang="en-US" dirty="0"/>
              <a:t> Phase 2.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recompute </a:t>
            </a:r>
            <a:r>
              <a:rPr lang="en-US" dirty="0" err="1"/>
              <a:t>bằng</a:t>
            </a:r>
            <a:r>
              <a:rPr lang="en-US" dirty="0"/>
              <a:t> walk-forward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inflated metrics.</a:t>
            </a:r>
          </a:p>
          <a:p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format LaTeX,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± </a:t>
            </a:r>
            <a:r>
              <a:rPr lang="en-US" dirty="0" err="1"/>
              <a:t>bị</a:t>
            </a:r>
            <a:r>
              <a:rPr lang="en-US" dirty="0"/>
              <a:t> render </a:t>
            </a:r>
            <a:r>
              <a:rPr lang="en-US" dirty="0" err="1"/>
              <a:t>thành</a:t>
            </a:r>
            <a:r>
              <a:rPr lang="en-US" dirty="0"/>
              <a:t> “pm”.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report </a:t>
            </a:r>
            <a:r>
              <a:rPr lang="en-US" dirty="0" err="1"/>
              <a:t>sạch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r>
              <a:rPr lang="en-US" dirty="0"/>
              <a:t>Thông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project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AI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mù</a:t>
            </a:r>
            <a:r>
              <a:rPr lang="en-US" dirty="0"/>
              <a:t> </a:t>
            </a:r>
            <a:r>
              <a:rPr lang="en-US" dirty="0" err="1"/>
              <a:t>quáng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evidence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8e00d7cb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8e00d7cb4_0_3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takeaway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b="1" dirty="0"/>
              <a:t>CLV identifies who is valuable</a:t>
            </a:r>
            <a:r>
              <a:rPr lang="en-US" dirty="0"/>
              <a:t>. CLV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, </a:t>
            </a:r>
            <a:r>
              <a:rPr lang="en-US" b="1" dirty="0"/>
              <a:t>uplift identifies who is responsive</a:t>
            </a:r>
            <a:r>
              <a:rPr lang="en-US" dirty="0"/>
              <a:t>. Uplift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campaign.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, </a:t>
            </a:r>
            <a:r>
              <a:rPr lang="en-US" b="1" dirty="0"/>
              <a:t>value-adjusted uplift identifies who is worth targeting</a:t>
            </a:r>
            <a:r>
              <a:rPr lang="en-US" dirty="0"/>
              <a:t>. Khi </a:t>
            </a:r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incremental.</a:t>
            </a:r>
          </a:p>
          <a:p>
            <a:r>
              <a:rPr lang="en-US" dirty="0"/>
              <a:t>Thông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project </a:t>
            </a:r>
            <a:r>
              <a:rPr lang="en-US" dirty="0" err="1"/>
              <a:t>là</a:t>
            </a:r>
            <a:r>
              <a:rPr lang="en-US" dirty="0"/>
              <a:t>: marketing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target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high-value. Doanh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target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b="1" dirty="0"/>
              <a:t>both valuable and incrementally persuadable</a:t>
            </a:r>
            <a:r>
              <a:rPr lang="en-US" dirty="0"/>
              <a:t>.</a:t>
            </a:r>
          </a:p>
          <a:p>
            <a:r>
              <a:rPr lang="en-US" dirty="0"/>
              <a:t>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/</a:t>
            </a:r>
            <a:r>
              <a:rPr lang="en-US" dirty="0" err="1"/>
              <a:t>cô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sàng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/>
        </p:nvSpPr>
        <p:spPr>
          <a:xfrm>
            <a:off x="1142999" y="2667001"/>
            <a:ext cx="6858000" cy="43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Noto Sans Symbols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>
            <a:spLocks noGrp="1"/>
          </p:cNvSpPr>
          <p:nvPr>
            <p:ph type="title"/>
          </p:nvPr>
        </p:nvSpPr>
        <p:spPr>
          <a:xfrm>
            <a:off x="483008" y="584669"/>
            <a:ext cx="8177981" cy="117295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152400" dist="177800" dir="2700000" algn="t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body" idx="1"/>
          </p:nvPr>
        </p:nvSpPr>
        <p:spPr>
          <a:xfrm>
            <a:off x="1560909" y="2156870"/>
            <a:ext cx="6022181" cy="666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just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147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147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2"/>
          </p:nvPr>
        </p:nvSpPr>
        <p:spPr>
          <a:xfrm>
            <a:off x="1560908" y="3012689"/>
            <a:ext cx="6022181" cy="87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just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147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147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3"/>
          </p:nvPr>
        </p:nvSpPr>
        <p:spPr>
          <a:xfrm>
            <a:off x="1560908" y="4084776"/>
            <a:ext cx="6022181" cy="605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5760" algn="just" rtl="0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147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1470" algn="l" rtl="0">
              <a:lnSpc>
                <a:spcPct val="11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>
            <a:spLocks noGrp="1"/>
          </p:cNvSpPr>
          <p:nvPr>
            <p:ph type="title"/>
          </p:nvPr>
        </p:nvSpPr>
        <p:spPr>
          <a:xfrm>
            <a:off x="336925" y="640199"/>
            <a:ext cx="8178000" cy="8466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152400" dist="177800" dir="2700000" algn="tl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vi-VN" sz="2600" dirty="0"/>
              <a:t>From CLV Ranking to Uplift-Aware Targeting: A Cross-Context Study Across Three Retail Datasets</a:t>
            </a:r>
            <a:endParaRPr sz="2600"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1333234" y="4160770"/>
            <a:ext cx="60222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2000" dirty="0"/>
              <a:t>Ho Chi Minh City, 2026</a:t>
            </a:r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255335" y="2306188"/>
            <a:ext cx="36045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2000"/>
              <a:t>Students:</a:t>
            </a:r>
            <a:endParaRPr/>
          </a:p>
          <a:p>
            <a:pPr marL="0" lvl="0" indent="0" algn="ctr" rtl="0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vi-VN" sz="2000"/>
              <a:t>Nguyễn Vũ Minh Ánh - SE203412</a:t>
            </a:r>
            <a:endParaRPr/>
          </a:p>
        </p:txBody>
      </p:sp>
      <p:pic>
        <p:nvPicPr>
          <p:cNvPr id="25" name="Google Shape;25;p9" descr="Tập tin:Logo Trường Đại học FPT.svg – Wikipedia tiếng Việ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15" y="9"/>
            <a:ext cx="944650" cy="36826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9"/>
          <p:cNvSpPr txBox="1"/>
          <p:nvPr/>
        </p:nvSpPr>
        <p:spPr>
          <a:xfrm>
            <a:off x="5206400" y="2318738"/>
            <a:ext cx="3000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>
                <a:solidFill>
                  <a:schemeClr val="dk1"/>
                </a:solidFill>
              </a:rPr>
              <a:t>Supervisor:</a:t>
            </a:r>
            <a:endParaRPr sz="20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>
                <a:solidFill>
                  <a:schemeClr val="dk1"/>
                </a:solidFill>
              </a:rPr>
              <a:t>Nguyễn Hoàng Linh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10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10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endParaRPr sz="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A2E6B"/>
              </a:buClr>
              <a:buSzPts val="2400"/>
              <a:buFont typeface="Calibri"/>
              <a:buNone/>
            </a:pPr>
            <a:r>
              <a:rPr lang="vi-VN" sz="2300" b="1" i="0" u="none" strike="noStrike" cap="none">
                <a:solidFill>
                  <a:srgbClr val="1A2E6B"/>
                </a:solidFill>
                <a:latin typeface="Calibri"/>
                <a:ea typeface="Calibri"/>
                <a:cs typeface="Calibri"/>
                <a:sym typeface="Calibri"/>
              </a:rPr>
              <a:t>PART 1 — Problem &amp; Data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25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vi-V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· Research Questions · Three datasets · SQL setup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065F46"/>
              </a:buClr>
              <a:buSzPts val="2400"/>
              <a:buFont typeface="Calibri"/>
              <a:buNone/>
            </a:pPr>
            <a:r>
              <a:rPr lang="vi-VN" sz="23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PART 2 — Analysis &amp; Results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vi-V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CLV benchmark · Uplift learners · Value-adjusted policy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vi-VN" sz="2300" b="1" i="0" u="none" strike="noStrike" cap="none">
                <a:solidFill>
                  <a:srgbClr val="6B21A8"/>
                </a:solidFill>
                <a:latin typeface="Calibri"/>
                <a:ea typeface="Calibri"/>
                <a:cs typeface="Calibri"/>
                <a:sym typeface="Calibri"/>
              </a:rPr>
              <a:t>PART 3 — Tool &amp; AI Reflection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vi-VN"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/ report · AI Audit Log · Human Delta · Hallucination detection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1" y="212190"/>
            <a:ext cx="8085015" cy="60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" name="Google Shape;41;p11"/>
          <p:cNvGraphicFramePr/>
          <p:nvPr>
            <p:extLst>
              <p:ext uri="{D42A27DB-BD31-4B8C-83A1-F6EECF244321}">
                <p14:modId xmlns:p14="http://schemas.microsoft.com/office/powerpoint/2010/main" val="4282114151"/>
              </p:ext>
            </p:extLst>
          </p:nvPr>
        </p:nvGraphicFramePr>
        <p:xfrm>
          <a:off x="601784" y="820616"/>
          <a:ext cx="8085000" cy="3363010"/>
        </p:xfrm>
        <a:graphic>
          <a:graphicData uri="http://schemas.openxmlformats.org/drawingml/2006/table">
            <a:tbl>
              <a:tblPr>
                <a:noFill/>
                <a:tableStyleId>{9D8E70CB-6C22-48F3-857E-4DB29880E99C}</a:tableStyleId>
              </a:tblPr>
              <a:tblGrid>
                <a:gridCol w="29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875"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lang="vi-VN" sz="1400" b="1" u="none" strike="noStrike" cap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Evaluation Criteria</a:t>
                      </a:r>
                      <a:endParaRPr sz="14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sz="1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 — From Value to Worth-Targeting</a:t>
                      </a:r>
                      <a:endParaRPr sz="1400" b="1" u="none" strike="noStrike" cap="none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5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 u="none" strike="noStrike" cap="none" dirty="0">
                          <a:solidFill>
                            <a:srgbClr val="2C2C2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Describe the problem</a:t>
                      </a:r>
                      <a:endParaRPr sz="1400" u="none" strike="noStrike" cap="none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High-value customers are not always the best campaign targets; some high-CLV customers are already loyal and would purchase without incentives.</a:t>
                      </a:r>
                      <a:endParaRPr sz="1400" dirty="0">
                        <a:solidFill>
                          <a:srgbClr val="1F3A5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9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State the analysis objective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Connect CLV ranking with uplift-aware targeting so the campaign reaches customers who are both valuable and persuadable.</a:t>
                      </a:r>
                      <a:endParaRPr sz="1400" dirty="0">
                        <a:solidFill>
                          <a:srgbClr val="1F3A5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9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Justify the approach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CLV ranks who is valuable, uplift estimates who is persuadable, and value-adjusted uplift combines the two; all validated walk-forward.</a:t>
                      </a:r>
                      <a:endParaRPr sz="1400" dirty="0">
                        <a:solidFill>
                          <a:srgbClr val="1F3A5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9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Cite 1–2 reliable sources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Ascarza (2018, JMR); Künzel et al. (2019, PNAS). Data: UCI Online Retail II, Dunnhumby Complete Journey, X5 RetailHero.</a:t>
                      </a:r>
                      <a:endParaRPr sz="1400" dirty="0">
                        <a:solidFill>
                          <a:srgbClr val="1F3A5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9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AI Audit Log required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20 logged sessions (P2-01–P2-20) documenting prompts, validation, and corrections.</a:t>
                      </a:r>
                      <a:endParaRPr sz="1400" dirty="0">
                        <a:solidFill>
                          <a:srgbClr val="1F3A5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29484" y="432288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>
                <a:solidFill>
                  <a:srgbClr val="007A87"/>
                </a:solidFill>
                <a:latin typeface="Calibri"/>
              </a:rPr>
              <a:t>Core logic:  CLV ranks who is valuable  ·  Uplift estimates who is persuadable  ·  Value-adjusted uplift targets customers who are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12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49;p12"/>
          <p:cNvSpPr/>
          <p:nvPr/>
        </p:nvSpPr>
        <p:spPr>
          <a:xfrm>
            <a:off x="457200" y="1051550"/>
            <a:ext cx="79335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Research Questions (each linked to a SQL query / Python analysis):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vi-VN" sz="1600" b="1">
                <a:solidFill>
                  <a:srgbClr val="0D6EFD"/>
                </a:solidFill>
                <a:latin typeface="Calibri"/>
                <a:ea typeface="Calibri"/>
                <a:cs typeface="Calibri"/>
                <a:sym typeface="Calibri"/>
              </a:rPr>
              <a:t>[RQ1] Does the Hurdle + semantic CLV framework remain competitive across e-commerce and grocery?</a:t>
            </a:r>
            <a:endParaRPr sz="1600"/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vi-VN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   Link to: CLV walk-forward benchmark; SQL RFM and window tables.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vi-VN" sz="1600" b="1">
                <a:solidFill>
                  <a:srgbClr val="0D6EFD"/>
                </a:solidFill>
                <a:latin typeface="Calibri"/>
                <a:ea typeface="Calibri"/>
                <a:cs typeface="Calibri"/>
                <a:sym typeface="Calibri"/>
              </a:rPr>
              <a:t>[RQ2] Which feature groups improve ranking — RFM, sequence, or semantic?</a:t>
            </a:r>
            <a:endParaRPr sz="1600"/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vi-VN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   Link to: leave-one-group-out feature ablation.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vi-VN" sz="1600" b="1">
                <a:solidFill>
                  <a:srgbClr val="0D6EFD"/>
                </a:solidFill>
                <a:latin typeface="Calibri"/>
                <a:ea typeface="Calibri"/>
                <a:cs typeface="Calibri"/>
                <a:sym typeface="Calibri"/>
              </a:rPr>
              <a:t>[RQ3] Can uplift models identify persuadable customers better than response models?</a:t>
            </a:r>
            <a:endParaRPr sz="1600"/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lang="vi-VN"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   Link to: X5 uplift benchmark (Qini / AUUC / uplift@K).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Clr>
                <a:srgbClr val="0D6EFD"/>
              </a:buClr>
              <a:buSzPts val="1800"/>
              <a:buFont typeface="Calibri"/>
              <a:buNone/>
            </a:pPr>
            <a:r>
              <a:rPr lang="vi-VN" sz="1600" b="1">
                <a:solidFill>
                  <a:srgbClr val="0D6EFD"/>
                </a:solidFill>
                <a:latin typeface="Calibri"/>
                <a:ea typeface="Calibri"/>
                <a:cs typeface="Calibri"/>
                <a:sym typeface="Calibri"/>
              </a:rPr>
              <a:t>[RQ4] Does value-adjusted uplift improve held-out targeting profit?</a:t>
            </a:r>
            <a:endParaRPr sz="1600" b="1">
              <a:solidFill>
                <a:srgbClr val="0D6EF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vi-VN" sz="16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          Link to: held-out policy profit simulation.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Data Understanding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57" name="Google Shape;57;p13"/>
          <p:cNvGraphicFramePr/>
          <p:nvPr/>
        </p:nvGraphicFramePr>
        <p:xfrm>
          <a:off x="457200" y="1081630"/>
          <a:ext cx="7916850" cy="3819530"/>
        </p:xfrm>
        <a:graphic>
          <a:graphicData uri="http://schemas.openxmlformats.org/drawingml/2006/table">
            <a:tbl>
              <a:tblPr>
                <a:noFill/>
                <a:tableStyleId>{9D8E70CB-6C22-48F3-857E-4DB29880E99C}</a:tableStyleId>
              </a:tblPr>
              <a:tblGrid>
                <a:gridCol w="28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375"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to present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2 — Three Datasets, Three Roles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Retail II (UK e-commerce); Dunnhumby Complete Journey (US grocery); X5 RetailHero (randomised SMS campaign).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size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Retail II ≈ 5,852 customers; Dunnhumby ≈ 2,500 households; X5 ≈ 200k customers (held-out 60,010).</a:t>
                      </a:r>
                      <a:endParaRPr sz="12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5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roles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Retail II = baseline CLV; Dunnhumby = external CLV validation; X5 = treatment–control uplift.</a:t>
                      </a:r>
                      <a:endParaRPr sz="12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9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variables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 6-month CLV (ranking); treatment flag + conversion (uplift); RFM, recent sequence, and semantic features.</a:t>
                      </a:r>
                      <a:endParaRPr sz="12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6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Important design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Dunnhumby coupon redemption is NOT used as treatment; X5 is the only uplift dataset, keeping the causal scope clean.</a:t>
                      </a:r>
                      <a:endParaRPr sz="12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27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Audit Log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Dataset-role and split-design prompts logged (P2-01–P2-06).</a:t>
                      </a:r>
                      <a:endParaRPr sz="12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457200" y="18288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Data Understanding - EDA Charts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4"/>
          <p:cNvSpPr txBox="1"/>
          <p:nvPr/>
        </p:nvSpPr>
        <p:spPr>
          <a:xfrm>
            <a:off x="457200" y="2802642"/>
            <a:ext cx="388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Cross-context: e-commerce is sparse &amp; zero-inflated, grocery is denser</a:t>
            </a:r>
            <a:endParaRPr dirty="0"/>
          </a:p>
        </p:txBody>
      </p:sp>
      <p:sp>
        <p:nvSpPr>
          <p:cNvPr id="68" name="Google Shape;68;p14"/>
          <p:cNvSpPr txBox="1"/>
          <p:nvPr/>
        </p:nvSpPr>
        <p:spPr>
          <a:xfrm>
            <a:off x="5677787" y="2978273"/>
            <a:ext cx="388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Grocery CLV is lighter-tailed and more sequence-driven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62739" y="4906200"/>
            <a:ext cx="388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X5: treatment vs control shows a positive raw uplift (+3.3pp)</a:t>
            </a:r>
            <a:endParaRPr dirty="0"/>
          </a:p>
        </p:txBody>
      </p:sp>
      <p:pic>
        <p:nvPicPr>
          <p:cNvPr id="71" name="Picture 70" descr="contex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30" y="994320"/>
            <a:ext cx="4369618" cy="1785282"/>
          </a:xfrm>
          <a:prstGeom prst="rect">
            <a:avLst/>
          </a:prstGeom>
        </p:spPr>
      </p:pic>
      <p:pic>
        <p:nvPicPr>
          <p:cNvPr id="72" name="Picture 71" descr="audit_dunnhumby_zero_sk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077" y="1032074"/>
            <a:ext cx="3679723" cy="1946199"/>
          </a:xfrm>
          <a:prstGeom prst="rect">
            <a:avLst/>
          </a:prstGeom>
        </p:spPr>
      </p:pic>
      <p:pic>
        <p:nvPicPr>
          <p:cNvPr id="2" name="Picture 1" descr="audit_x5_uplift_signal.png">
            <a:extLst>
              <a:ext uri="{FF2B5EF4-FFF2-40B4-BE49-F238E27FC236}">
                <a16:creationId xmlns:a16="http://schemas.microsoft.com/office/drawing/2014/main" id="{B611BFE8-1D89-F89F-7A5B-8B700D9D8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30" y="3050168"/>
            <a:ext cx="5130626" cy="194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SQL Queries — What We Used SQL For</a:t>
            </a:r>
            <a:r>
              <a:rPr lang="vi-VN" sz="11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5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SQL (DuckDB) builds transparent, reproducible analytical tables before Python modeling:</a:t>
            </a:r>
            <a:endParaRPr b="1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RFM and historical value (V) tables per dataset.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Walk-forward observation / prediction windows — past data predicts future value.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X5 treatment / control cohorts for uplift.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Product / category aggregation.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Dashboard-ready output tables.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message: SQL supports reproducible business analysis before Python modeling.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57200" y="61301"/>
            <a:ext cx="8229600" cy="8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SQL — Goals: Representative Queries Linked to RQs</a:t>
            </a:r>
            <a:endParaRPr sz="28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endParaRPr sz="28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457200" y="88887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85" name="Google Shape;85;p16"/>
          <p:cNvGraphicFramePr/>
          <p:nvPr>
            <p:extLst>
              <p:ext uri="{D42A27DB-BD31-4B8C-83A1-F6EECF244321}">
                <p14:modId xmlns:p14="http://schemas.microsoft.com/office/powerpoint/2010/main" val="3554061668"/>
              </p:ext>
            </p:extLst>
          </p:nvPr>
        </p:nvGraphicFramePr>
        <p:xfrm>
          <a:off x="457200" y="1078555"/>
          <a:ext cx="8229600" cy="3657575"/>
        </p:xfrm>
        <a:graphic>
          <a:graphicData uri="http://schemas.openxmlformats.org/drawingml/2006/table">
            <a:tbl>
              <a:tblPr>
                <a:noFill/>
                <a:tableStyleId>{9D8E70CB-6C22-48F3-857E-4DB29880E99C}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→ RQ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Representative SQL (DuckDB)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Insight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1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Q1 · Customer RFM / value proxy → RQ1/RQ4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SELECT CustomerID, MAX(date), COUNT(*), SUM(spend) FROM tx GROUP BY CustomerID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Customer-level historical behavior and the value proxy V.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1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Q2 · Walk-forward CLV windows → RQ1/RQ2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 dirty="0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WITH past AS (… &lt; cutoff), fut AS (… &gt;= cutoff) SELECT … JOIN ON CustomerID</a:t>
                      </a:r>
                      <a:endParaRPr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Use past data to predict future value, with no leakage.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1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Q3 · X5 treatment–control cohorts → RQ3/RQ4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SELECT client, treatment_flag, MAX(converted) FROM x5 GROUP BY client</a:t>
                      </a:r>
                      <a:endParaRPr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dirty="0">
                          <a:solidFill>
                            <a:srgbClr val="1F3A5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/>
                        </a:rPr>
                        <a:t>Compare treated versus control customers for uplift.</a:t>
                      </a:r>
                      <a:endParaRPr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330400" y="234325"/>
            <a:ext cx="86436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6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Python Analysis — From Cleaned Data to Models &amp; Insight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endParaRPr sz="26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7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17"/>
          <p:cNvSpPr/>
          <p:nvPr/>
        </p:nvSpPr>
        <p:spPr>
          <a:xfrm>
            <a:off x="457200" y="1100000"/>
            <a:ext cx="2600000" cy="64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· Clean &amp; Validate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077200" y="1100000"/>
            <a:ext cx="5609600" cy="640000"/>
          </a:xfrm>
          <a:prstGeom prst="rect">
            <a:avLst/>
          </a:prstGeom>
          <a:solidFill>
            <a:srgbClr val="EEF2FF"/>
          </a:solidFill>
          <a:ln w="9525" cap="flat" cmpd="sng">
            <a:solidFill>
              <a:srgbClr val="C5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1200" dirty="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Drop missing IDs, keep Quantity &gt; 0 and Price &gt; 0, remove cancellations and duplicates</a:t>
            </a:r>
            <a:endParaRPr sz="1200" dirty="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57200" y="1800000"/>
            <a:ext cx="2600000" cy="640000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· Build Features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077200" y="1800000"/>
            <a:ext cx="5609600" cy="64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5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12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RFM, behavioral, recent-sequence, and semantic taste features for every dataset</a:t>
            </a:r>
            <a:endParaRPr sz="12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57200" y="2500000"/>
            <a:ext cx="2600000" cy="640000"/>
          </a:xfrm>
          <a:prstGeom prst="rect">
            <a:avLst/>
          </a:prstGeom>
          <a:solidFill>
            <a:srgbClr val="2447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· CLV Walk-forward Windows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077200" y="2500000"/>
            <a:ext cx="5609600" cy="640000"/>
          </a:xfrm>
          <a:prstGeom prst="rect">
            <a:avLst/>
          </a:prstGeom>
          <a:solidFill>
            <a:srgbClr val="EEF2FF"/>
          </a:solidFill>
          <a:ln w="9525" cap="flat" cmpd="sng">
            <a:solidFill>
              <a:srgbClr val="C5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12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Past-only observation windows predict the future 6-month CLV, with no leakage</a:t>
            </a:r>
            <a:endParaRPr sz="12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57200" y="3200000"/>
            <a:ext cx="2600000" cy="640000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· Train CLV &amp; Uplift Models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077200" y="3200000"/>
            <a:ext cx="5609600" cy="640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5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120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Two-stage Hurdle for value; S / T / X-Learner meta-learners for persuadability</a:t>
            </a:r>
            <a:endParaRPr sz="120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57200" y="3900000"/>
            <a:ext cx="2600000" cy="640000"/>
          </a:xfrm>
          <a:prstGeom prst="rect">
            <a:avLst/>
          </a:prstGeom>
          <a:solidFill>
            <a:srgbClr val="1A35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· Evaluate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077200" y="3900000"/>
            <a:ext cx="5609600" cy="640000"/>
          </a:xfrm>
          <a:prstGeom prst="rect">
            <a:avLst/>
          </a:prstGeom>
          <a:solidFill>
            <a:srgbClr val="EEF2FF"/>
          </a:solidFill>
          <a:ln w="9525" cap="flat" cmpd="sng">
            <a:solidFill>
              <a:srgbClr val="C5C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1200" dirty="0">
                <a:solidFill>
                  <a:srgbClr val="2C2C2C"/>
                </a:solidFill>
                <a:latin typeface="Calibri"/>
                <a:ea typeface="Calibri"/>
                <a:cs typeface="Calibri"/>
                <a:sym typeface="Calibri"/>
              </a:rPr>
              <a:t>Ranking (NG, RC@10%), uplift (Qini, AUUC), profit@K, SHAP drivers, and CQR intervals</a:t>
            </a:r>
            <a:endParaRPr sz="1200" dirty="0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57200" y="459486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007A87"/>
                </a:solidFill>
                <a:latin typeface="Calibri"/>
              </a:rPr>
              <a:t>Key message: Python is the full modeling and evaluation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Analysis with Python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8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10" name="Google Shape;110;p18"/>
          <p:cNvGraphicFramePr/>
          <p:nvPr>
            <p:extLst>
              <p:ext uri="{D42A27DB-BD31-4B8C-83A1-F6EECF244321}">
                <p14:modId xmlns:p14="http://schemas.microsoft.com/office/powerpoint/2010/main" val="124062708"/>
              </p:ext>
            </p:extLst>
          </p:nvPr>
        </p:nvGraphicFramePr>
        <p:xfrm>
          <a:off x="390775" y="1167325"/>
          <a:ext cx="8296025" cy="3220328"/>
        </p:xfrm>
        <a:graphic>
          <a:graphicData uri="http://schemas.openxmlformats.org/drawingml/2006/table">
            <a:tbl>
              <a:tblPr>
                <a:noFill/>
                <a:tableStyleId>{9D8E70CB-6C22-48F3-857E-4DB29880E99C}</a:tableStyleId>
              </a:tblPr>
              <a:tblGrid>
                <a:gridCol w="292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184"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to present</a:t>
                      </a:r>
                      <a:endParaRPr sz="14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2 detail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84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 dirty="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CLV analysis</a:t>
                      </a:r>
                      <a:endParaRPr sz="14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Two-stage Hurdle model, RFM baseline, and tree models under walk-forward validation.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184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 dirty="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Uplift analysis</a:t>
                      </a:r>
                      <a:endParaRPr sz="14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S-Learner, T-Learner, and X-Learner versus a response model and a random baseline.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184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 dirty="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Metrics</a:t>
                      </a:r>
                      <a:endParaRPr sz="14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NG, RC@10%, Qini, AUUC, uplift@K, and profit@K.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184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 dirty="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engineering</a:t>
                      </a:r>
                      <a:endParaRPr sz="14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RFM, monetary value proxy, recent sequence, and PPMI + SVD semantic embeddings.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336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Conclusion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 dirty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 business questions require different metrics; ranking is not the same as incremental targeting.</a:t>
                      </a:r>
                      <a:endParaRPr sz="1400" b="0" dirty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862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000"/>
                        <a:buFont typeface="Calibri"/>
                        <a:buNone/>
                      </a:pPr>
                      <a:r>
                        <a:rPr lang="vi-VN" sz="1400" dirty="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Audit Log</a:t>
                      </a:r>
                      <a:endParaRPr sz="14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 dirty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Modeling and evaluation prompts logged (P2-07–P2-16).</a:t>
                      </a:r>
                      <a:endParaRPr sz="1400" b="0" dirty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457200" y="45948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>
                <a:solidFill>
                  <a:srgbClr val="007A87"/>
                </a:solidFill>
                <a:latin typeface="Calibri"/>
              </a:rPr>
              <a:t>Key message: different business questions require different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457200" y="18288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Visualization — Evidence-Based Insights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9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9"/>
          <p:cNvSpPr/>
          <p:nvPr/>
        </p:nvSpPr>
        <p:spPr>
          <a:xfrm>
            <a:off x="457200" y="1051546"/>
            <a:ext cx="8229600" cy="19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 Insight 1 — The response model performs worse than random for incremental targeting (Qini −0.0071).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 Insight 2 — Uplift learners recover persuadable customers (S-Learner Qini 0.0136, uplift@10% ≈ 11%).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 Insight 3 — Top-value and top-uplift customers almost do not overlap (0.007 at the top 10%).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 Insight 4 — Value-adjusted uplift gives the highest point-estimate profit under tight budgets.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message: value and </a:t>
            </a:r>
            <a:r>
              <a:rPr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persuadability</a:t>
            </a:r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different.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22" name="Picture 121" descr="x5_qini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20" y="2762251"/>
            <a:ext cx="2697482" cy="1706770"/>
          </a:xfrm>
          <a:prstGeom prst="rect">
            <a:avLst/>
          </a:prstGeom>
        </p:spPr>
      </p:pic>
      <p:pic>
        <p:nvPicPr>
          <p:cNvPr id="123" name="Picture 122" descr="x5_policy_overl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887" y="2853617"/>
            <a:ext cx="3254593" cy="1913700"/>
          </a:xfrm>
          <a:prstGeom prst="rect">
            <a:avLst/>
          </a:prstGeom>
        </p:spPr>
      </p:pic>
      <p:pic>
        <p:nvPicPr>
          <p:cNvPr id="124" name="Picture 123" descr="x5_policy_prof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758318"/>
            <a:ext cx="2697482" cy="1913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457200" y="256032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Regression Analysis — Overview</a:t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502920" y="1325880"/>
            <a:ext cx="8138100" cy="152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 dirty="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CLV side — the Hurdle model separates purchase incidence from spending amount.</a:t>
            </a:r>
            <a:endParaRPr dirty="0"/>
          </a:p>
          <a:p>
            <a:pPr marL="285750" marR="0" lvl="0" indent="-285750" algn="l" rtl="0">
              <a:spcBef>
                <a:spcPts val="7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Stage 1 estimates the return probability p; </a:t>
            </a:r>
          </a:p>
          <a:p>
            <a:pPr marL="285750" marR="0" lvl="0" indent="-285750" algn="l" rtl="0">
              <a:spcBef>
                <a:spcPts val="7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Stage 2 estimates positive spend m; CLV = p · m.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Uplift side — meta-learners estimate the incremental campaign effect, uplift = E[Y | treated] − E[Y | control].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Why both are needed: CLV tells expected value; uplift tells campaign responsiveness.</a:t>
            </a:r>
            <a:endParaRPr dirty="0"/>
          </a:p>
        </p:txBody>
      </p:sp>
      <p:cxnSp>
        <p:nvCxnSpPr>
          <p:cNvPr id="128" name="Google Shape;128;p20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Regression Analysis (Compare &gt;= 5 Models)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21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35" name="Google Shape;135;p21"/>
          <p:cNvGraphicFramePr/>
          <p:nvPr>
            <p:extLst>
              <p:ext uri="{D42A27DB-BD31-4B8C-83A1-F6EECF244321}">
                <p14:modId xmlns:p14="http://schemas.microsoft.com/office/powerpoint/2010/main" val="1927994144"/>
              </p:ext>
            </p:extLst>
          </p:nvPr>
        </p:nvGraphicFramePr>
        <p:xfrm>
          <a:off x="366750" y="1097280"/>
          <a:ext cx="8320050" cy="3443864"/>
        </p:xfrm>
        <a:graphic>
          <a:graphicData uri="http://schemas.openxmlformats.org/drawingml/2006/table">
            <a:tbl>
              <a:tblPr>
                <a:noFill/>
                <a:tableStyleId>{9D8E70CB-6C22-48F3-857E-4DB29880E99C}</a:tableStyleId>
              </a:tblPr>
              <a:tblGrid>
                <a:gridCol w="283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850"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to present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2 detail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4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CLV models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Monetary, RFM, Ridge, Random Forest, XGBoost, LightGBM, and the two-stage Hurdle.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74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Uplift models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Random, Response model, S-Learner, T-Learner, and X-Learner.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40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Dependent &amp; independent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CLV: target = future 6-month value; features = RFM / sequence / semantic. Uplift: target = conversion under treatment.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234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 charts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Walk-forward NG and RC@10% per context; Qini curves; profit versus targeting depth.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Interpretation &amp; limits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framework is compared against simple and strong baselines; Hurdle is competitive, not dominant (only 3–4 windows, so tests are diagnostics).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1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400"/>
                        <a:buFont typeface="Calibri"/>
                        <a:buNone/>
                      </a:pPr>
                      <a:r>
                        <a:rPr lang="vi-VN" sz="140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Audit Log</a:t>
                      </a:r>
                      <a:endParaRPr sz="14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 dirty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 and significance-testing prompts logged (P2-08–P2-13).</a:t>
                      </a:r>
                      <a:endParaRPr sz="1400" b="0" dirty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457200" y="256032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Regression Results &amp; Interpretation</a:t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457200" y="1187209"/>
            <a:ext cx="3136605" cy="325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 b="1" dirty="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Main findings: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Hurdle remains competitive, not dominant (NG ≈ 0.825 e-commerce, 0.855 grocery; gaps not significant).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E-commerce ranking is incidence-driven; grocery is sequence-driven (drop-sequence ΔNG +0.021, p = 0.001).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Semantic features mainly support interpretation, not significant lift (p ≥ 0.58).</a:t>
            </a:r>
            <a:endParaRPr dirty="0"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Value-adjusted uplift is useful for budget-constrained targeting; SHAP drivers shift by context (figure).</a:t>
            </a:r>
            <a:endParaRPr dirty="0"/>
          </a:p>
        </p:txBody>
      </p:sp>
      <p:cxnSp>
        <p:nvCxnSpPr>
          <p:cNvPr id="143" name="Google Shape;143;p22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4" name="Picture 143" descr="shap_cross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805" y="1187209"/>
            <a:ext cx="5096118" cy="32709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lang="vi-VN" sz="2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Analysis Tool — Dashboard / Report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3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50" name="Google Shape;150;p23"/>
          <p:cNvGraphicFramePr/>
          <p:nvPr/>
        </p:nvGraphicFramePr>
        <p:xfrm>
          <a:off x="457200" y="1097279"/>
          <a:ext cx="8229600" cy="3560650"/>
        </p:xfrm>
        <a:graphic>
          <a:graphicData uri="http://schemas.openxmlformats.org/drawingml/2006/table">
            <a:tbl>
              <a:tblPr>
                <a:noFill/>
                <a:tableStyleId>{9D8E70CB-6C22-48F3-857E-4DB29880E99C}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700"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vi-V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 2 detail</a:t>
                      </a:r>
                      <a:endParaRPr sz="12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3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50"/>
                        <a:buFont typeface="Calibri"/>
                        <a:buNone/>
                      </a:pPr>
                      <a:r>
                        <a:rPr lang="vi-VN" sz="115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Accepted tool</a:t>
                      </a:r>
                      <a:endParaRPr sz="115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targeting-decision report (Python + figures): the output is not only prediction, but decision support.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3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50"/>
                        <a:buFont typeface="Calibri"/>
                        <a:buNone/>
                      </a:pPr>
                      <a:r>
                        <a:rPr lang="vi-VN" sz="115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outputs</a:t>
                      </a:r>
                      <a:endParaRPr sz="115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CLV ranking, uplift ranking, value-adjusted targeting list, and policy comparison.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3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50"/>
                        <a:buFont typeface="Calibri"/>
                        <a:buNone/>
                      </a:pPr>
                      <a:r>
                        <a:rPr lang="vi-VN" sz="115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Interpretation</a:t>
                      </a:r>
                      <a:endParaRPr sz="115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SHAP drivers per context and CQR uncertainty intervals.</a:t>
                      </a:r>
                      <a:endParaRPr sz="140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3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50"/>
                        <a:buFont typeface="Calibri"/>
                        <a:buNone/>
                      </a:pPr>
                      <a:r>
                        <a:rPr lang="vi-VN" sz="115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 / Summary metrics</a:t>
                      </a:r>
                      <a:endParaRPr sz="115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Held-out profit, incremental conversions, Qini AUC, and Revenue Capture@10%.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3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50"/>
                        <a:buFont typeface="Calibri"/>
                        <a:buNone/>
                      </a:pPr>
                      <a:r>
                        <a:rPr lang="vi-VN" sz="115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Filter / Slicer function</a:t>
                      </a:r>
                      <a:endParaRPr sz="115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Targeting depth K (10 / 20 / 30%), margin m, and contact cost c.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325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C"/>
                        </a:buClr>
                        <a:buSzPts val="1150"/>
                        <a:buFont typeface="Calibri"/>
                        <a:buNone/>
                      </a:pPr>
                      <a:r>
                        <a:rPr lang="vi-VN" sz="1150">
                          <a:solidFill>
                            <a:srgbClr val="2C2C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Audit Log</a:t>
                      </a:r>
                      <a:endParaRPr sz="115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400" b="0">
                          <a:solidFill>
                            <a:srgbClr val="1F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and figure-generation prompts logged (P2-14–P2-18).</a:t>
                      </a:r>
                      <a:endParaRPr sz="1400" b="0">
                        <a:solidFill>
                          <a:srgbClr val="1F3A5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A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/>
        </p:nvSpPr>
        <p:spPr>
          <a:xfrm>
            <a:off x="457200" y="256032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Dashboard — Features &amp; Demo</a:t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457200" y="2761488"/>
            <a:ext cx="388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 · Customer ranking (CLV + uplift)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4617720" y="2761488"/>
            <a:ext cx="388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 · Policy comparison</a:t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457200" y="4773168"/>
            <a:ext cx="388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 · Profit simulation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4617720" y="4773168"/>
            <a:ext cx="388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 · Explainability &amp; uncertainty — who, why, and with what risk</a:t>
            </a:r>
            <a:endParaRPr/>
          </a:p>
        </p:txBody>
      </p:sp>
      <p:cxnSp>
        <p:nvCxnSpPr>
          <p:cNvPr id="164" name="Google Shape;164;p24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5" name="Picture 164" descr="online_retail_revenue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886201" cy="1521831"/>
          </a:xfrm>
          <a:prstGeom prst="rect">
            <a:avLst/>
          </a:prstGeom>
        </p:spPr>
      </p:pic>
      <p:pic>
        <p:nvPicPr>
          <p:cNvPr id="166" name="Picture 165" descr="x5_value_adjusted_upl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143" y="1188720"/>
            <a:ext cx="2515354" cy="1554480"/>
          </a:xfrm>
          <a:prstGeom prst="rect">
            <a:avLst/>
          </a:prstGeom>
        </p:spPr>
      </p:pic>
      <p:pic>
        <p:nvPicPr>
          <p:cNvPr id="167" name="Picture 166" descr="x5_policy_prof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230" y="3200400"/>
            <a:ext cx="3158136" cy="1554480"/>
          </a:xfrm>
          <a:prstGeom prst="rect">
            <a:avLst/>
          </a:prstGeom>
        </p:spPr>
      </p:pic>
      <p:pic>
        <p:nvPicPr>
          <p:cNvPr id="168" name="Picture 167" descr="dunnhumby_decile_calib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0944" y="3200400"/>
            <a:ext cx="2619751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/>
        </p:nvSpPr>
        <p:spPr>
          <a:xfrm>
            <a:off x="457200" y="256032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AI Audit Log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502920" y="1325880"/>
            <a:ext cx="8138100" cy="15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20 logged sessions (P2-01 – P2-20), each documenting prompt, AI response, evaluation, and resolution: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Dataset selection and clean causal scoping.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The X5 purchases download issue (670 MB, silent truncation) and its fix.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Metric selection — ranking versus incremental targeting.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Causal-scope correction (Dunnhumby redemption not used as treatment).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Profit-simulation correction and slide / script revision.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message: AI supported the workflow, but every output was verified.</a:t>
            </a:r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457200" y="256032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Human Delta — What the Team Did Beyond AI</a:t>
            </a:r>
            <a:endParaRPr/>
          </a:p>
        </p:txBody>
      </p:sp>
      <p:sp>
        <p:nvSpPr>
          <p:cNvPr id="177" name="Google Shape;177;p26"/>
          <p:cNvSpPr txBox="1"/>
          <p:nvPr/>
        </p:nvSpPr>
        <p:spPr>
          <a:xfrm>
            <a:off x="502920" y="1325880"/>
            <a:ext cx="8138100" cy="18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Decisions the team made independently of AI: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Do not use Dunnhumby coupon redemption as treatment (it would introduce selection bias).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Use X5 only for uplift — the single clean randomised campaign.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Replace the random split with walk-forward validation (temporal validity).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Report non-significant profit differences honestly (point estimate, not “wins”).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Reframe semantic features as interpretability, not a guaranteed performance gain.</a:t>
            </a:r>
            <a:endParaRPr/>
          </a:p>
        </p:txBody>
      </p:sp>
      <p:cxnSp>
        <p:nvCxnSpPr>
          <p:cNvPr id="178" name="Google Shape;178;p26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457200" y="256032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Hallucination Detection</a:t>
            </a: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502950" y="1112200"/>
            <a:ext cx="8138100" cy="4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AI mistakes that were caught and corrected with evidence: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Overclaiming the CLV framework “transfers” → “remains competitive; mechanism shifts.”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Overclaiming value-adjusted uplift “wins” → “highest point estimate, not significant.”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Confusing response prediction with uplift → the response model ranks below random.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Reusing Phase 1 numbers in Phase 2 → recomputed walk-forward, replaced an inflated NG ≈ 0.92.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LaTeX / table formatting errors (the sanitiser rendered ± as “pm”) → the regex was rewritten.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vi-V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message: the project shows evidence-based correction, not blind AI use.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7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457200" y="256032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5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Q&amp;A + AI Reflection  (20 points)</a:t>
            </a:r>
            <a:endParaRPr/>
          </a:p>
        </p:txBody>
      </p:sp>
      <p:sp>
        <p:nvSpPr>
          <p:cNvPr id="191" name="Google Shape;191;p28"/>
          <p:cNvSpPr txBox="1"/>
          <p:nvPr/>
        </p:nvSpPr>
        <p:spPr>
          <a:xfrm>
            <a:off x="502920" y="1325880"/>
            <a:ext cx="8138100" cy="18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 b="1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Three takeaways: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CLV identifies who is valuable.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Uplift identifies who is responsive.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Value-adjusted uplift identifies who is worth targeting.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Final message: marketing should target customers who are both valuable and incrementally persuadable — not only high-value customers.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vi-VN" sz="1400" b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Q&amp;A — thank you.</a:t>
            </a:r>
            <a:endParaRPr/>
          </a:p>
        </p:txBody>
      </p:sp>
      <p:cxnSp>
        <p:nvCxnSpPr>
          <p:cNvPr id="192" name="Google Shape;192;p28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28"/>
          <p:cNvCxnSpPr/>
          <p:nvPr/>
        </p:nvCxnSpPr>
        <p:spPr>
          <a:xfrm>
            <a:off x="457200" y="960120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ake-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5022</Words>
  <Application>Microsoft Office PowerPoint</Application>
  <PresentationFormat>On-screen Show (16:9)</PresentationFormat>
  <Paragraphs>304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Noto Sans Symbols</vt:lpstr>
      <vt:lpstr>fake-beamer</vt:lpstr>
      <vt:lpstr>From CLV Ranking to Uplift-Aware Targeting: A Cross-Context Study Across Three Retail Datasets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Phuc Tu</cp:lastModifiedBy>
  <cp:revision>1</cp:revision>
  <dcterms:modified xsi:type="dcterms:W3CDTF">2026-06-29T09:26:47Z</dcterms:modified>
</cp:coreProperties>
</file>